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年間の作業時間</c:v>
                </c:pt>
              </c:strCache>
            </c:strRef>
          </c:tx>
          <c:spPr>
            <a:solidFill>
              <a:srgbClr val="B5533C"/>
            </a:solidFill>
            <a:effectLst/>
          </c:spPr>
          <c:invertIfNegative val="0"/>
          <c:dLbls>
            <c:numFmt formatCode="#,##0" sourceLinked="0"/>
            <c:txPr>
              <a:bodyPr/>
              <a:lstStyle/>
              <a:p>
                <a:pPr>
                  <a:defRPr b="1" i="0" strike="noStrike" sz="1300" u="none">
                    <a:solidFill>
                      <a:srgbClr val="102A33"/>
                    </a:solidFill>
                    <a:latin typeface="Arial"/>
                  </a:defRPr>
                </a:pPr>
              </a:p>
            </c:txPr>
            <c:showLegendKey val="0"/>
            <c:showVal val="1"/>
            <c:showCatName val="0"/>
            <c:showSerName val="0"/>
            <c:showPercent val="0"/>
            <c:showBubbleSize val="0"/>
            <c:showLeaderLines val="0"/>
          </c:dLbls>
          <c:dPt>
            <c:idx val="0"/>
            <c:invertIfNegative val="0"/>
            <c:bubble3D val="0"/>
            <c:spPr>
              <a:solidFill>
                <a:srgbClr val="B5533C"/>
              </a:solidFill>
              <a:effectLst/>
            </c:spPr>
          </c:dPt>
          <c:dPt>
            <c:idx val="1"/>
            <c:invertIfNegative val="0"/>
            <c:bubble3D val="0"/>
            <c:spPr>
              <a:solidFill>
                <a:srgbClr val="0E7C7B"/>
              </a:solidFill>
              <a:effectLst/>
            </c:spPr>
          </c:dPt>
          <c:cat>
            <c:multiLvlStrRef>
              <c:f>Sheet1!$A$2:$A$3</c:f>
              <c:multiLvlStrCache>
                <c:ptCount val="2"/>
                <c:lvl>
                  <c:pt idx="0">
                    <c:v>手作業</c:v>
                  </c:pt>
                  <c:pt idx="1">
                    <c:v>ツール</c:v>
                  </c:pt>
                </c:lvl>
              </c:multiLvlStrCache>
            </c:multiLvlStrRef>
          </c:cat>
          <c:val>
            <c:numRef>
              <c:f>Sheet1!$B$2:$B$3</c:f>
              <c:numCache>
                <c:formatCode>General</c:formatCode>
                <c:ptCount val="2"/>
                <c:pt idx="0">
                  <c:v>42</c:v>
                </c:pt>
                <c:pt idx="1">
                  <c:v>1</c:v>
                </c:pt>
              </c:numCache>
            </c:numRef>
          </c:val>
        </c:ser>
        <c:dLbls>
          <c:numFmt formatCode="#,##0" sourceLinked="0"/>
          <c:txPr>
            <a:bodyPr/>
            <a:lstStyle/>
            <a:p>
              <a:pPr>
                <a:defRPr b="1" i="0" strike="noStrike" sz="1300" u="none">
                  <a:solidFill>
                    <a:srgbClr val="102A33"/>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7282E"/>
                </a:solidFill>
                <a:latin typeface="Meiryo"/>
              </a:defRPr>
            </a:pPr>
            <a:endParaRPr lang="en-US"/>
          </a:p>
        </c:txPr>
        <c:crossAx val="2094734552"/>
        <c:crosses val="autoZero"/>
        <c:auto val="1"/>
        <c:lblAlgn val="ctr"/>
        <c:noMultiLvlLbl val="1"/>
      </c:catAx>
      <c:valAx>
        <c:axId val="2094734552"/>
        <c:scaling>
          <c:orientation val="minMax"/>
          <c:max val="50"/>
        </c:scaling>
        <c:delete val="0"/>
        <c:axPos val="b"/>
        <c:majorGridlines>
          <c:spPr>
            <a:ln w="12700" cap="flat">
              <a:solidFill>
                <a:srgbClr val="EBF1F1"/>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0757C"/>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棚卸照合という月次の定型業務を、AIと一緒にツール化した事例です。作業時間の削減だけでなく、AIを使ってどう進めたか、使い慣れていない方が何から始めればよいかも共有します。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特に厄介なのは、単純作業に見えて判断が要る点です。名前の読み替え、明細の合算、対象範囲の切り分け。どれも間違えると結果が変わります。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成果物はHTMLファイル1個です。Excelマクロのようにセキュリティ警告で止まることもなく、共有フォルダに置くだけで配布できます。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重要なのは、片方にしか無いものも結果に出すことです。数量が合っているかだけでなく、登録漏れや計上漏れの発見が棚卸の本来の目的だからです。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時間の数字は試算です。前提は右側に明記しています。実際の運用実績が出たら差し替えてください。ツール自体の処理は1秒未満なので、5分のほとんどはファイルを選んで結果を目視確認する時間です。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自動化で怖いのは、間違った結果が黙って出ることです。倉庫名を打ち間違えて対象から外れた明細があれば画面に出る、という作りにしています。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ここが一番のポイントです。AIは「どちらでも実装できます」と言ってきます。決めるのは業務を知っている人間です。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どれも実際に動かさなければ分からない問題でした。AIに作らせて終わりにせず、必ず自分の環境で試すことが大事です。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テストもAIに書かせています。人間が全パターンを手で確認するのは現実的ではないので、ここは特にAIの得意分野です。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プログラミングの知識がゼロでも進められます。むしろ業務を分かっている人がやった方が、判断が速く正確です。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特に3番と4番を強調してください。AIは自信を持って間違えることがあります。実データでの確認と、業務判断は人がやる。この2つを守れば大きな事故は起きません。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横展開の候補を具体的に挙げて終わります。聞いている人が自分の業務に当てはめられるようにするのが狙いです。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A33"/>
        </a:solidFill>
      </p:bgPr>
    </p:bg>
    <p:spTree>
      <p:nvGrpSpPr>
        <p:cNvPr id="1" name=""/>
        <p:cNvGrpSpPr/>
        <p:nvPr/>
      </p:nvGrpSpPr>
      <p:grpSpPr>
        <a:xfrm>
          <a:off x="0" y="0"/>
          <a:ext cx="0" cy="0"/>
          <a:chOff x="0" y="0"/>
          <a:chExt cx="0" cy="0"/>
        </a:xfrm>
      </p:grpSpPr>
      <p:sp>
        <p:nvSpPr>
          <p:cNvPr id="2" name="Shape 0"/>
          <p:cNvSpPr/>
          <p:nvPr/>
        </p:nvSpPr>
        <p:spPr>
          <a:xfrm>
            <a:off x="8595360" y="-1371600"/>
            <a:ext cx="5669280" cy="5669280"/>
          </a:xfrm>
          <a:prstGeom prst="ellipse">
            <a:avLst/>
          </a:prstGeom>
          <a:solidFill>
            <a:srgbClr val="0E7C7B">
              <a:alpha val="18000"/>
            </a:srgbClr>
          </a:solidFill>
          <a:ln/>
        </p:spPr>
      </p:sp>
      <p:sp>
        <p:nvSpPr>
          <p:cNvPr id="3" name="Shape 1"/>
          <p:cNvSpPr/>
          <p:nvPr/>
        </p:nvSpPr>
        <p:spPr>
          <a:xfrm>
            <a:off x="10241280" y="3108960"/>
            <a:ext cx="3291840" cy="3291840"/>
          </a:xfrm>
          <a:prstGeom prst="ellipse">
            <a:avLst/>
          </a:prstGeom>
          <a:solidFill>
            <a:srgbClr val="9FD3D1">
              <a:alpha val="12000"/>
            </a:srgbClr>
          </a:solidFill>
          <a:ln/>
        </p:spPr>
      </p:sp>
      <p:sp>
        <p:nvSpPr>
          <p:cNvPr id="4" name="Text 2"/>
          <p:cNvSpPr/>
          <p:nvPr/>
        </p:nvSpPr>
        <p:spPr>
          <a:xfrm>
            <a:off x="822960" y="1371600"/>
            <a:ext cx="7315200" cy="320040"/>
          </a:xfrm>
          <a:prstGeom prst="rect">
            <a:avLst/>
          </a:prstGeom>
          <a:noFill/>
          <a:ln/>
        </p:spPr>
        <p:txBody>
          <a:bodyPr wrap="square" lIns="0" tIns="0" rIns="0" bIns="0" rtlCol="0" anchor="ctr"/>
          <a:lstStyle/>
          <a:p>
            <a:pPr indent="0" marL="0">
              <a:buNone/>
            </a:pPr>
            <a:r>
              <a:rPr lang="en-US" sz="1300" spc="200" kern="0" dirty="0">
                <a:solidFill>
                  <a:srgbClr val="9FD3D1"/>
                </a:solidFill>
                <a:latin typeface="Meiryo" pitchFamily="34" charset="0"/>
                <a:ea typeface="Meiryo" pitchFamily="34" charset="-122"/>
                <a:cs typeface="Meiryo" pitchFamily="34" charset="-120"/>
              </a:rPr>
              <a:t>業務改善　事例共有</a:t>
            </a:r>
            <a:endParaRPr lang="en-US" sz="1300" dirty="0"/>
          </a:p>
        </p:txBody>
      </p:sp>
      <p:sp>
        <p:nvSpPr>
          <p:cNvPr id="5" name="Text 3"/>
          <p:cNvSpPr/>
          <p:nvPr/>
        </p:nvSpPr>
        <p:spPr>
          <a:xfrm>
            <a:off x="822960" y="1828800"/>
            <a:ext cx="8412480" cy="1691640"/>
          </a:xfrm>
          <a:prstGeom prst="rect">
            <a:avLst/>
          </a:prstGeom>
          <a:noFill/>
          <a:ln/>
        </p:spPr>
        <p:txBody>
          <a:bodyPr wrap="square" lIns="0" tIns="0" rIns="0" bIns="0" rtlCol="0" anchor="ctr"/>
          <a:lstStyle/>
          <a:p>
            <a:pPr indent="0" marL="0">
              <a:lnSpc>
                <a:spcPct val="118000"/>
              </a:lnSpc>
              <a:buNone/>
            </a:pPr>
            <a:r>
              <a:rPr lang="en-US" sz="4000" b="1" dirty="0">
                <a:solidFill>
                  <a:srgbClr val="FFFFFF"/>
                </a:solidFill>
                <a:latin typeface="Meiryo" pitchFamily="34" charset="0"/>
                <a:ea typeface="Meiryo" pitchFamily="34" charset="-122"/>
                <a:cs typeface="Meiryo" pitchFamily="34" charset="-120"/>
              </a:rPr>
              <a:t>AIと作る、</a:t>
            </a:r>
            <a:endParaRPr lang="en-US" sz="4000" dirty="0"/>
          </a:p>
          <a:p>
            <a:pPr indent="0" marL="0">
              <a:lnSpc>
                <a:spcPct val="118000"/>
              </a:lnSpc>
              <a:buNone/>
            </a:pPr>
            <a:r>
              <a:rPr lang="en-US" sz="4000" b="1" dirty="0">
                <a:solidFill>
                  <a:srgbClr val="FFFFFF"/>
                </a:solidFill>
                <a:latin typeface="Meiryo" pitchFamily="34" charset="0"/>
                <a:ea typeface="Meiryo" pitchFamily="34" charset="-122"/>
                <a:cs typeface="Meiryo" pitchFamily="34" charset="-120"/>
              </a:rPr>
              <a:t>現場で動く業務ツール</a:t>
            </a:r>
            <a:endParaRPr lang="en-US" sz="4000" dirty="0"/>
          </a:p>
        </p:txBody>
      </p:sp>
      <p:sp>
        <p:nvSpPr>
          <p:cNvPr id="6" name="Text 4"/>
          <p:cNvSpPr/>
          <p:nvPr/>
        </p:nvSpPr>
        <p:spPr>
          <a:xfrm>
            <a:off x="822960" y="3611880"/>
            <a:ext cx="8412480" cy="365760"/>
          </a:xfrm>
          <a:prstGeom prst="rect">
            <a:avLst/>
          </a:prstGeom>
          <a:noFill/>
          <a:ln/>
        </p:spPr>
        <p:txBody>
          <a:bodyPr wrap="square" lIns="0" tIns="0" rIns="0" bIns="0" rtlCol="0" anchor="ctr"/>
          <a:lstStyle/>
          <a:p>
            <a:pPr indent="0" marL="0">
              <a:buNone/>
            </a:pPr>
            <a:r>
              <a:rPr lang="en-US" sz="1600" dirty="0">
                <a:solidFill>
                  <a:srgbClr val="9FD3D1"/>
                </a:solidFill>
                <a:latin typeface="Meiryo" pitchFamily="34" charset="0"/>
                <a:ea typeface="Meiryo" pitchFamily="34" charset="-122"/>
                <a:cs typeface="Meiryo" pitchFamily="34" charset="-120"/>
              </a:rPr>
              <a:t>棚卸照合の自動化 ― 半日かかっていた作業を 5 分に</a:t>
            </a:r>
            <a:endParaRPr lang="en-US" sz="1600" dirty="0"/>
          </a:p>
        </p:txBody>
      </p:sp>
      <p:sp>
        <p:nvSpPr>
          <p:cNvPr id="7" name="Shape 5"/>
          <p:cNvSpPr/>
          <p:nvPr/>
        </p:nvSpPr>
        <p:spPr>
          <a:xfrm>
            <a:off x="822960" y="4434840"/>
            <a:ext cx="3108960" cy="1051560"/>
          </a:xfrm>
          <a:prstGeom prst="roundRect">
            <a:avLst>
              <a:gd name="adj" fmla="val 5217"/>
            </a:avLst>
          </a:prstGeom>
          <a:solidFill>
            <a:srgbClr val="1B4049"/>
          </a:solidFill>
          <a:ln/>
        </p:spPr>
      </p:sp>
      <p:sp>
        <p:nvSpPr>
          <p:cNvPr id="8" name="Text 6"/>
          <p:cNvSpPr/>
          <p:nvPr/>
        </p:nvSpPr>
        <p:spPr>
          <a:xfrm>
            <a:off x="1078992" y="4572000"/>
            <a:ext cx="2651760" cy="384048"/>
          </a:xfrm>
          <a:prstGeom prst="rect">
            <a:avLst/>
          </a:prstGeom>
          <a:noFill/>
          <a:ln/>
        </p:spPr>
        <p:txBody>
          <a:bodyPr wrap="square" lIns="0" tIns="0" rIns="0" bIns="0" rtlCol="0" anchor="ctr"/>
          <a:lstStyle/>
          <a:p>
            <a:pPr indent="0" marL="0">
              <a:buNone/>
            </a:pPr>
            <a:r>
              <a:rPr lang="en-US" sz="1700" b="1" dirty="0">
                <a:solidFill>
                  <a:srgbClr val="FFFFFF"/>
                </a:solidFill>
                <a:latin typeface="Meiryo" pitchFamily="34" charset="0"/>
                <a:ea typeface="Meiryo" pitchFamily="34" charset="-122"/>
                <a:cs typeface="Meiryo" pitchFamily="34" charset="-120"/>
              </a:rPr>
              <a:t>3.5時間 → 5分</a:t>
            </a:r>
            <a:endParaRPr lang="en-US" sz="1700" dirty="0"/>
          </a:p>
        </p:txBody>
      </p:sp>
      <p:sp>
        <p:nvSpPr>
          <p:cNvPr id="9" name="Text 7"/>
          <p:cNvSpPr/>
          <p:nvPr/>
        </p:nvSpPr>
        <p:spPr>
          <a:xfrm>
            <a:off x="1078992" y="4974336"/>
            <a:ext cx="2651760" cy="274320"/>
          </a:xfrm>
          <a:prstGeom prst="rect">
            <a:avLst/>
          </a:prstGeom>
          <a:noFill/>
          <a:ln/>
        </p:spPr>
        <p:txBody>
          <a:bodyPr wrap="square" lIns="0" tIns="0" rIns="0" bIns="0" rtlCol="0" anchor="ctr"/>
          <a:lstStyle/>
          <a:p>
            <a:pPr indent="0" marL="0">
              <a:buNone/>
            </a:pPr>
            <a:r>
              <a:rPr lang="en-US" sz="1050" dirty="0">
                <a:solidFill>
                  <a:srgbClr val="9FD3D1"/>
                </a:solidFill>
                <a:latin typeface="Meiryo" pitchFamily="34" charset="0"/>
                <a:ea typeface="Meiryo" pitchFamily="34" charset="-122"/>
                <a:cs typeface="Meiryo" pitchFamily="34" charset="-120"/>
              </a:rPr>
              <a:t>1回あたりの照合作業</a:t>
            </a:r>
            <a:endParaRPr lang="en-US" sz="1050" dirty="0"/>
          </a:p>
        </p:txBody>
      </p:sp>
      <p:sp>
        <p:nvSpPr>
          <p:cNvPr id="10" name="Shape 8"/>
          <p:cNvSpPr/>
          <p:nvPr/>
        </p:nvSpPr>
        <p:spPr>
          <a:xfrm>
            <a:off x="4251960" y="4434840"/>
            <a:ext cx="3108960" cy="1051560"/>
          </a:xfrm>
          <a:prstGeom prst="roundRect">
            <a:avLst>
              <a:gd name="adj" fmla="val 5217"/>
            </a:avLst>
          </a:prstGeom>
          <a:solidFill>
            <a:srgbClr val="1B4049"/>
          </a:solidFill>
          <a:ln/>
        </p:spPr>
      </p:sp>
      <p:sp>
        <p:nvSpPr>
          <p:cNvPr id="11" name="Text 9"/>
          <p:cNvSpPr/>
          <p:nvPr/>
        </p:nvSpPr>
        <p:spPr>
          <a:xfrm>
            <a:off x="4507992" y="4572000"/>
            <a:ext cx="2651760" cy="384048"/>
          </a:xfrm>
          <a:prstGeom prst="rect">
            <a:avLst/>
          </a:prstGeom>
          <a:noFill/>
          <a:ln/>
        </p:spPr>
        <p:txBody>
          <a:bodyPr wrap="square" lIns="0" tIns="0" rIns="0" bIns="0" rtlCol="0" anchor="ctr"/>
          <a:lstStyle/>
          <a:p>
            <a:pPr indent="0" marL="0">
              <a:buNone/>
            </a:pPr>
            <a:r>
              <a:rPr lang="en-US" sz="1700" b="1" dirty="0">
                <a:solidFill>
                  <a:srgbClr val="FFFFFF"/>
                </a:solidFill>
                <a:latin typeface="Meiryo" pitchFamily="34" charset="0"/>
                <a:ea typeface="Meiryo" pitchFamily="34" charset="-122"/>
                <a:cs typeface="Meiryo" pitchFamily="34" charset="-120"/>
              </a:rPr>
              <a:t>年 41時間</a:t>
            </a:r>
            <a:endParaRPr lang="en-US" sz="1700" dirty="0"/>
          </a:p>
        </p:txBody>
      </p:sp>
      <p:sp>
        <p:nvSpPr>
          <p:cNvPr id="12" name="Text 10"/>
          <p:cNvSpPr/>
          <p:nvPr/>
        </p:nvSpPr>
        <p:spPr>
          <a:xfrm>
            <a:off x="4507992" y="4974336"/>
            <a:ext cx="2651760" cy="274320"/>
          </a:xfrm>
          <a:prstGeom prst="rect">
            <a:avLst/>
          </a:prstGeom>
          <a:noFill/>
          <a:ln/>
        </p:spPr>
        <p:txBody>
          <a:bodyPr wrap="square" lIns="0" tIns="0" rIns="0" bIns="0" rtlCol="0" anchor="ctr"/>
          <a:lstStyle/>
          <a:p>
            <a:pPr indent="0" marL="0">
              <a:buNone/>
            </a:pPr>
            <a:r>
              <a:rPr lang="en-US" sz="1050" dirty="0">
                <a:solidFill>
                  <a:srgbClr val="9FD3D1"/>
                </a:solidFill>
                <a:latin typeface="Meiryo" pitchFamily="34" charset="0"/>
                <a:ea typeface="Meiryo" pitchFamily="34" charset="-122"/>
                <a:cs typeface="Meiryo" pitchFamily="34" charset="-120"/>
              </a:rPr>
              <a:t>削減（≒ 5営業日）</a:t>
            </a:r>
            <a:endParaRPr lang="en-US" sz="1050" dirty="0"/>
          </a:p>
        </p:txBody>
      </p:sp>
      <p:sp>
        <p:nvSpPr>
          <p:cNvPr id="13" name="Shape 11"/>
          <p:cNvSpPr/>
          <p:nvPr/>
        </p:nvSpPr>
        <p:spPr>
          <a:xfrm>
            <a:off x="7680960" y="4434840"/>
            <a:ext cx="3108960" cy="1051560"/>
          </a:xfrm>
          <a:prstGeom prst="roundRect">
            <a:avLst>
              <a:gd name="adj" fmla="val 5217"/>
            </a:avLst>
          </a:prstGeom>
          <a:solidFill>
            <a:srgbClr val="1B4049"/>
          </a:solidFill>
          <a:ln/>
        </p:spPr>
      </p:sp>
      <p:sp>
        <p:nvSpPr>
          <p:cNvPr id="14" name="Text 12"/>
          <p:cNvSpPr/>
          <p:nvPr/>
        </p:nvSpPr>
        <p:spPr>
          <a:xfrm>
            <a:off x="7936992" y="4572000"/>
            <a:ext cx="2651760" cy="384048"/>
          </a:xfrm>
          <a:prstGeom prst="rect">
            <a:avLst/>
          </a:prstGeom>
          <a:noFill/>
          <a:ln/>
        </p:spPr>
        <p:txBody>
          <a:bodyPr wrap="square" lIns="0" tIns="0" rIns="0" bIns="0" rtlCol="0" anchor="ctr"/>
          <a:lstStyle/>
          <a:p>
            <a:pPr indent="0" marL="0">
              <a:buNone/>
            </a:pPr>
            <a:r>
              <a:rPr lang="en-US" sz="1700" b="1" dirty="0">
                <a:solidFill>
                  <a:srgbClr val="FFFFFF"/>
                </a:solidFill>
                <a:latin typeface="Meiryo" pitchFamily="34" charset="0"/>
                <a:ea typeface="Meiryo" pitchFamily="34" charset="-122"/>
                <a:cs typeface="Meiryo" pitchFamily="34" charset="-120"/>
              </a:rPr>
              <a:t>インストール不要</a:t>
            </a:r>
            <a:endParaRPr lang="en-US" sz="1700" dirty="0"/>
          </a:p>
        </p:txBody>
      </p:sp>
      <p:sp>
        <p:nvSpPr>
          <p:cNvPr id="15" name="Text 13"/>
          <p:cNvSpPr/>
          <p:nvPr/>
        </p:nvSpPr>
        <p:spPr>
          <a:xfrm>
            <a:off x="7936992" y="4974336"/>
            <a:ext cx="2651760" cy="274320"/>
          </a:xfrm>
          <a:prstGeom prst="rect">
            <a:avLst/>
          </a:prstGeom>
          <a:noFill/>
          <a:ln/>
        </p:spPr>
        <p:txBody>
          <a:bodyPr wrap="square" lIns="0" tIns="0" rIns="0" bIns="0" rtlCol="0" anchor="ctr"/>
          <a:lstStyle/>
          <a:p>
            <a:pPr indent="0" marL="0">
              <a:buNone/>
            </a:pPr>
            <a:r>
              <a:rPr lang="en-US" sz="1050" dirty="0">
                <a:solidFill>
                  <a:srgbClr val="9FD3D1"/>
                </a:solidFill>
                <a:latin typeface="Meiryo" pitchFamily="34" charset="0"/>
                <a:ea typeface="Meiryo" pitchFamily="34" charset="-122"/>
                <a:cs typeface="Meiryo" pitchFamily="34" charset="-120"/>
              </a:rPr>
              <a:t>ダブルクリックで起動</a:t>
            </a:r>
            <a:endParaRPr lang="en-US" sz="1050" dirty="0"/>
          </a:p>
        </p:txBody>
      </p:sp>
      <p:sp>
        <p:nvSpPr>
          <p:cNvPr id="16" name="Text 14"/>
          <p:cNvSpPr/>
          <p:nvPr/>
        </p:nvSpPr>
        <p:spPr>
          <a:xfrm>
            <a:off x="822960" y="5943600"/>
            <a:ext cx="5486400" cy="274320"/>
          </a:xfrm>
          <a:prstGeom prst="rect">
            <a:avLst/>
          </a:prstGeom>
          <a:noFill/>
          <a:ln/>
        </p:spPr>
        <p:txBody>
          <a:bodyPr wrap="square" lIns="0" tIns="0" rIns="0" bIns="0" rtlCol="0" anchor="ctr"/>
          <a:lstStyle/>
          <a:p>
            <a:pPr indent="0" marL="0">
              <a:buNone/>
            </a:pPr>
            <a:r>
              <a:rPr lang="en-US" sz="1100" dirty="0">
                <a:solidFill>
                  <a:srgbClr val="6E858C"/>
                </a:solidFill>
                <a:latin typeface="Meiryo" pitchFamily="34" charset="0"/>
                <a:ea typeface="Meiryo" pitchFamily="34" charset="-122"/>
                <a:cs typeface="Meiryo" pitchFamily="34" charset="-120"/>
              </a:rPr>
              <a:t>所属・氏名／発表日</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20624"/>
            <a:ext cx="10881360" cy="566928"/>
          </a:xfrm>
          <a:prstGeom prst="rect">
            <a:avLst/>
          </a:prstGeom>
          <a:noFill/>
          <a:ln/>
        </p:spPr>
        <p:txBody>
          <a:bodyPr wrap="square" lIns="0" tIns="0" rIns="0" bIns="0" rtlCol="0" anchor="ctr"/>
          <a:lstStyle/>
          <a:p>
            <a:pPr indent="0" marL="0">
              <a:buNone/>
            </a:pPr>
            <a:r>
              <a:rPr lang="en-US" sz="3000" b="1" dirty="0">
                <a:solidFill>
                  <a:srgbClr val="102A33"/>
                </a:solidFill>
                <a:latin typeface="Meiryo" pitchFamily="34" charset="0"/>
                <a:ea typeface="Meiryo" pitchFamily="34" charset="-122"/>
                <a:cs typeface="Meiryo" pitchFamily="34" charset="-120"/>
              </a:rPr>
              <a:t>棚卸照合は、なぜ半日仕事だったのか</a:t>
            </a:r>
            <a:endParaRPr lang="en-US" sz="3000" dirty="0"/>
          </a:p>
        </p:txBody>
      </p:sp>
      <p:sp>
        <p:nvSpPr>
          <p:cNvPr id="3" name="Text 1"/>
          <p:cNvSpPr/>
          <p:nvPr/>
        </p:nvSpPr>
        <p:spPr>
          <a:xfrm>
            <a:off x="640080" y="1042416"/>
            <a:ext cx="10881360" cy="384048"/>
          </a:xfrm>
          <a:prstGeom prst="rect">
            <a:avLst/>
          </a:prstGeom>
          <a:noFill/>
          <a:ln/>
        </p:spPr>
        <p:txBody>
          <a:bodyPr wrap="square" lIns="0" tIns="0" rIns="0" bIns="0" rtlCol="0" anchor="ctr"/>
          <a:lstStyle/>
          <a:p>
            <a:pPr indent="0" marL="0">
              <a:buNone/>
            </a:pPr>
            <a:r>
              <a:rPr lang="en-US" sz="1350" dirty="0">
                <a:solidFill>
                  <a:srgbClr val="60757C"/>
                </a:solidFill>
                <a:latin typeface="Meiryo" pitchFamily="34" charset="0"/>
                <a:ea typeface="Meiryo" pitchFamily="34" charset="-122"/>
                <a:cs typeface="Meiryo" pitchFamily="34" charset="-120"/>
              </a:rPr>
              <a:t>3つのExcelを突き合わせる作業には、機械的だが神経を使う工程が積み重なっていた</a:t>
            </a:r>
            <a:endParaRPr lang="en-US" sz="1350" dirty="0"/>
          </a:p>
        </p:txBody>
      </p:sp>
      <p:sp>
        <p:nvSpPr>
          <p:cNvPr id="4" name="Shape 2"/>
          <p:cNvSpPr/>
          <p:nvPr/>
        </p:nvSpPr>
        <p:spPr>
          <a:xfrm>
            <a:off x="640080" y="1691640"/>
            <a:ext cx="5303520" cy="1463040"/>
          </a:xfrm>
          <a:prstGeom prst="roundRect">
            <a:avLst>
              <a:gd name="adj" fmla="val 3750"/>
            </a:avLst>
          </a:prstGeom>
          <a:solidFill>
            <a:srgbClr val="FFFFFF"/>
          </a:solidFill>
          <a:ln w="12700">
            <a:solidFill>
              <a:srgbClr val="D9E4E4"/>
            </a:solidFill>
            <a:prstDash val="solid"/>
          </a:ln>
          <a:effectLst>
            <a:outerShdw sx="100000" sy="100000" kx="0" ky="0" algn="bl" rotWithShape="0" blurRad="177800" dist="38100" dir="5400000">
              <a:srgbClr val="0B2026">
                <a:alpha val="10000"/>
              </a:srgbClr>
            </a:outerShdw>
          </a:effectLst>
        </p:spPr>
      </p:sp>
      <p:sp>
        <p:nvSpPr>
          <p:cNvPr id="5" name="Shape 3"/>
          <p:cNvSpPr/>
          <p:nvPr/>
        </p:nvSpPr>
        <p:spPr>
          <a:xfrm>
            <a:off x="932688" y="1984248"/>
            <a:ext cx="402336" cy="402336"/>
          </a:xfrm>
          <a:prstGeom prst="ellipse">
            <a:avLst/>
          </a:prstGeom>
          <a:solidFill>
            <a:srgbClr val="0E7C7B"/>
          </a:solidFill>
          <a:ln/>
        </p:spPr>
      </p:sp>
      <p:sp>
        <p:nvSpPr>
          <p:cNvPr id="6" name="Text 4"/>
          <p:cNvSpPr/>
          <p:nvPr/>
        </p:nvSpPr>
        <p:spPr>
          <a:xfrm>
            <a:off x="932688" y="19842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508760" y="1947672"/>
            <a:ext cx="4206240" cy="310896"/>
          </a:xfrm>
          <a:prstGeom prst="rect">
            <a:avLst/>
          </a:prstGeom>
          <a:noFill/>
          <a:ln/>
        </p:spPr>
        <p:txBody>
          <a:bodyPr wrap="square" lIns="0" tIns="0" rIns="0" bIns="0" rtlCol="0" anchor="ctr"/>
          <a:lstStyle/>
          <a:p>
            <a:pPr indent="0" marL="0">
              <a:buNone/>
            </a:pPr>
            <a:r>
              <a:rPr lang="en-US" sz="1500" b="1" dirty="0">
                <a:solidFill>
                  <a:srgbClr val="102A33"/>
                </a:solidFill>
                <a:latin typeface="Meiryo" pitchFamily="34" charset="0"/>
                <a:ea typeface="Meiryo" pitchFamily="34" charset="-122"/>
                <a:cs typeface="Meiryo" pitchFamily="34" charset="-120"/>
              </a:rPr>
              <a:t>名前が揃わない</a:t>
            </a:r>
            <a:endParaRPr lang="en-US" sz="1500" dirty="0"/>
          </a:p>
        </p:txBody>
      </p:sp>
      <p:sp>
        <p:nvSpPr>
          <p:cNvPr id="8" name="Text 6"/>
          <p:cNvSpPr/>
          <p:nvPr/>
        </p:nvSpPr>
        <p:spPr>
          <a:xfrm>
            <a:off x="1508760" y="2313432"/>
            <a:ext cx="4251960" cy="685800"/>
          </a:xfrm>
          <a:prstGeom prst="rect">
            <a:avLst/>
          </a:prstGeom>
          <a:noFill/>
          <a:ln/>
        </p:spPr>
        <p:txBody>
          <a:bodyPr wrap="square" lIns="0" tIns="0" rIns="0" bIns="0" rtlCol="0" anchor="ctr"/>
          <a:lstStyle/>
          <a:p>
            <a:pPr indent="0" marL="0">
              <a:lnSpc>
                <a:spcPct val="125000"/>
              </a:lnSpc>
              <a:buNone/>
            </a:pPr>
            <a:r>
              <a:rPr lang="en-US" sz="1100" dirty="0">
                <a:solidFill>
                  <a:srgbClr val="60757C"/>
                </a:solidFill>
                <a:latin typeface="Meiryo" pitchFamily="34" charset="0"/>
                <a:ea typeface="Meiryo" pitchFamily="34" charset="-122"/>
                <a:cs typeface="Meiryo" pitchFamily="34" charset="-120"/>
              </a:rPr>
              <a:t>SAPの「保管場所名」と預り書の「倉庫名」は表記が違う。</a:t>
            </a:r>
            <a:endParaRPr lang="en-US" sz="1100" dirty="0"/>
          </a:p>
          <a:p>
            <a:pPr indent="0" marL="0">
              <a:lnSpc>
                <a:spcPct val="125000"/>
              </a:lnSpc>
              <a:buNone/>
            </a:pPr>
            <a:r>
              <a:rPr lang="en-US" sz="1100" dirty="0">
                <a:solidFill>
                  <a:srgbClr val="60757C"/>
                </a:solidFill>
                <a:latin typeface="Meiryo" pitchFamily="34" charset="0"/>
                <a:ea typeface="Meiryo" pitchFamily="34" charset="-122"/>
                <a:cs typeface="Meiryo" pitchFamily="34" charset="-120"/>
              </a:rPr>
              <a:t>変換表を見ながら1件ずつ読み替える必要があった。</a:t>
            </a:r>
            <a:endParaRPr lang="en-US" sz="1100" dirty="0"/>
          </a:p>
        </p:txBody>
      </p:sp>
      <p:sp>
        <p:nvSpPr>
          <p:cNvPr id="9" name="Shape 7"/>
          <p:cNvSpPr/>
          <p:nvPr/>
        </p:nvSpPr>
        <p:spPr>
          <a:xfrm>
            <a:off x="6217920" y="1691640"/>
            <a:ext cx="5303520" cy="1463040"/>
          </a:xfrm>
          <a:prstGeom prst="roundRect">
            <a:avLst>
              <a:gd name="adj" fmla="val 3750"/>
            </a:avLst>
          </a:prstGeom>
          <a:solidFill>
            <a:srgbClr val="FFFFFF"/>
          </a:solidFill>
          <a:ln w="12700">
            <a:solidFill>
              <a:srgbClr val="D9E4E4"/>
            </a:solidFill>
            <a:prstDash val="solid"/>
          </a:ln>
          <a:effectLst>
            <a:outerShdw sx="100000" sy="100000" kx="0" ky="0" algn="bl" rotWithShape="0" blurRad="177800" dist="38100" dir="5400000">
              <a:srgbClr val="0B2026">
                <a:alpha val="10000"/>
              </a:srgbClr>
            </a:outerShdw>
          </a:effectLst>
        </p:spPr>
      </p:sp>
      <p:sp>
        <p:nvSpPr>
          <p:cNvPr id="10" name="Shape 8"/>
          <p:cNvSpPr/>
          <p:nvPr/>
        </p:nvSpPr>
        <p:spPr>
          <a:xfrm>
            <a:off x="6510528" y="1984248"/>
            <a:ext cx="402336" cy="402336"/>
          </a:xfrm>
          <a:prstGeom prst="ellipse">
            <a:avLst/>
          </a:prstGeom>
          <a:solidFill>
            <a:srgbClr val="0E7C7B"/>
          </a:solidFill>
          <a:ln/>
        </p:spPr>
      </p:sp>
      <p:sp>
        <p:nvSpPr>
          <p:cNvPr id="11" name="Text 9"/>
          <p:cNvSpPr/>
          <p:nvPr/>
        </p:nvSpPr>
        <p:spPr>
          <a:xfrm>
            <a:off x="6510528" y="19842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2" name="Text 10"/>
          <p:cNvSpPr/>
          <p:nvPr/>
        </p:nvSpPr>
        <p:spPr>
          <a:xfrm>
            <a:off x="7086600" y="1947672"/>
            <a:ext cx="4206240" cy="310896"/>
          </a:xfrm>
          <a:prstGeom prst="rect">
            <a:avLst/>
          </a:prstGeom>
          <a:noFill/>
          <a:ln/>
        </p:spPr>
        <p:txBody>
          <a:bodyPr wrap="square" lIns="0" tIns="0" rIns="0" bIns="0" rtlCol="0" anchor="ctr"/>
          <a:lstStyle/>
          <a:p>
            <a:pPr indent="0" marL="0">
              <a:buNone/>
            </a:pPr>
            <a:r>
              <a:rPr lang="en-US" sz="1500" b="1" dirty="0">
                <a:solidFill>
                  <a:srgbClr val="102A33"/>
                </a:solidFill>
                <a:latin typeface="Meiryo" pitchFamily="34" charset="0"/>
                <a:ea typeface="Meiryo" pitchFamily="34" charset="-122"/>
                <a:cs typeface="Meiryo" pitchFamily="34" charset="-120"/>
              </a:rPr>
              <a:t>明細がバラバラ</a:t>
            </a:r>
            <a:endParaRPr lang="en-US" sz="1500" dirty="0"/>
          </a:p>
        </p:txBody>
      </p:sp>
      <p:sp>
        <p:nvSpPr>
          <p:cNvPr id="13" name="Text 11"/>
          <p:cNvSpPr/>
          <p:nvPr/>
        </p:nvSpPr>
        <p:spPr>
          <a:xfrm>
            <a:off x="7086600" y="2313432"/>
            <a:ext cx="4251960" cy="685800"/>
          </a:xfrm>
          <a:prstGeom prst="rect">
            <a:avLst/>
          </a:prstGeom>
          <a:noFill/>
          <a:ln/>
        </p:spPr>
        <p:txBody>
          <a:bodyPr wrap="square" lIns="0" tIns="0" rIns="0" bIns="0" rtlCol="0" anchor="ctr"/>
          <a:lstStyle/>
          <a:p>
            <a:pPr indent="0" marL="0">
              <a:lnSpc>
                <a:spcPct val="125000"/>
              </a:lnSpc>
              <a:buNone/>
            </a:pPr>
            <a:r>
              <a:rPr lang="en-US" sz="1100" dirty="0">
                <a:solidFill>
                  <a:srgbClr val="60757C"/>
                </a:solidFill>
                <a:latin typeface="Meiryo" pitchFamily="34" charset="0"/>
                <a:ea typeface="Meiryo" pitchFamily="34" charset="-122"/>
                <a:cs typeface="Meiryo" pitchFamily="34" charset="-120"/>
              </a:rPr>
              <a:t>同じ倉庫・同じ型式が複数行に分かれている。</a:t>
            </a:r>
            <a:endParaRPr lang="en-US" sz="1100" dirty="0"/>
          </a:p>
          <a:p>
            <a:pPr indent="0" marL="0">
              <a:lnSpc>
                <a:spcPct val="125000"/>
              </a:lnSpc>
              <a:buNone/>
            </a:pPr>
            <a:r>
              <a:rPr lang="en-US" sz="1100" dirty="0">
                <a:solidFill>
                  <a:srgbClr val="60757C"/>
                </a:solidFill>
                <a:latin typeface="Meiryo" pitchFamily="34" charset="0"/>
                <a:ea typeface="Meiryo" pitchFamily="34" charset="-122"/>
                <a:cs typeface="Meiryo" pitchFamily="34" charset="-120"/>
              </a:rPr>
              <a:t>合計してからでないと数量を比較できない。</a:t>
            </a:r>
            <a:endParaRPr lang="en-US" sz="1100" dirty="0"/>
          </a:p>
        </p:txBody>
      </p:sp>
      <p:sp>
        <p:nvSpPr>
          <p:cNvPr id="14" name="Shape 12"/>
          <p:cNvSpPr/>
          <p:nvPr/>
        </p:nvSpPr>
        <p:spPr>
          <a:xfrm>
            <a:off x="640080" y="3319272"/>
            <a:ext cx="5303520" cy="1463040"/>
          </a:xfrm>
          <a:prstGeom prst="roundRect">
            <a:avLst>
              <a:gd name="adj" fmla="val 3750"/>
            </a:avLst>
          </a:prstGeom>
          <a:solidFill>
            <a:srgbClr val="FFFFFF"/>
          </a:solidFill>
          <a:ln w="12700">
            <a:solidFill>
              <a:srgbClr val="D9E4E4"/>
            </a:solidFill>
            <a:prstDash val="solid"/>
          </a:ln>
          <a:effectLst>
            <a:outerShdw sx="100000" sy="100000" kx="0" ky="0" algn="bl" rotWithShape="0" blurRad="177800" dist="38100" dir="5400000">
              <a:srgbClr val="0B2026">
                <a:alpha val="10000"/>
              </a:srgbClr>
            </a:outerShdw>
          </a:effectLst>
        </p:spPr>
      </p:sp>
      <p:sp>
        <p:nvSpPr>
          <p:cNvPr id="15" name="Shape 13"/>
          <p:cNvSpPr/>
          <p:nvPr/>
        </p:nvSpPr>
        <p:spPr>
          <a:xfrm>
            <a:off x="932688" y="3611880"/>
            <a:ext cx="402336" cy="402336"/>
          </a:xfrm>
          <a:prstGeom prst="ellipse">
            <a:avLst/>
          </a:prstGeom>
          <a:solidFill>
            <a:srgbClr val="0E7C7B"/>
          </a:solidFill>
          <a:ln/>
        </p:spPr>
      </p:sp>
      <p:sp>
        <p:nvSpPr>
          <p:cNvPr id="16" name="Text 14"/>
          <p:cNvSpPr/>
          <p:nvPr/>
        </p:nvSpPr>
        <p:spPr>
          <a:xfrm>
            <a:off x="932688" y="36118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7" name="Text 15"/>
          <p:cNvSpPr/>
          <p:nvPr/>
        </p:nvSpPr>
        <p:spPr>
          <a:xfrm>
            <a:off x="1508760" y="3575304"/>
            <a:ext cx="4206240" cy="310896"/>
          </a:xfrm>
          <a:prstGeom prst="rect">
            <a:avLst/>
          </a:prstGeom>
          <a:noFill/>
          <a:ln/>
        </p:spPr>
        <p:txBody>
          <a:bodyPr wrap="square" lIns="0" tIns="0" rIns="0" bIns="0" rtlCol="0" anchor="ctr"/>
          <a:lstStyle/>
          <a:p>
            <a:pPr indent="0" marL="0">
              <a:buNone/>
            </a:pPr>
            <a:r>
              <a:rPr lang="en-US" sz="1500" b="1" dirty="0">
                <a:solidFill>
                  <a:srgbClr val="102A33"/>
                </a:solidFill>
                <a:latin typeface="Meiryo" pitchFamily="34" charset="0"/>
                <a:ea typeface="Meiryo" pitchFamily="34" charset="-122"/>
                <a:cs typeface="Meiryo" pitchFamily="34" charset="-120"/>
              </a:rPr>
              <a:t>対象外が混ざる</a:t>
            </a:r>
            <a:endParaRPr lang="en-US" sz="1500" dirty="0"/>
          </a:p>
        </p:txBody>
      </p:sp>
      <p:sp>
        <p:nvSpPr>
          <p:cNvPr id="18" name="Text 16"/>
          <p:cNvSpPr/>
          <p:nvPr/>
        </p:nvSpPr>
        <p:spPr>
          <a:xfrm>
            <a:off x="1508760" y="3941064"/>
            <a:ext cx="4251960" cy="685800"/>
          </a:xfrm>
          <a:prstGeom prst="rect">
            <a:avLst/>
          </a:prstGeom>
          <a:noFill/>
          <a:ln/>
        </p:spPr>
        <p:txBody>
          <a:bodyPr wrap="square" lIns="0" tIns="0" rIns="0" bIns="0" rtlCol="0" anchor="ctr"/>
          <a:lstStyle/>
          <a:p>
            <a:pPr indent="0" marL="0">
              <a:lnSpc>
                <a:spcPct val="125000"/>
              </a:lnSpc>
              <a:buNone/>
            </a:pPr>
            <a:r>
              <a:rPr lang="en-US" sz="1100" dirty="0">
                <a:solidFill>
                  <a:srgbClr val="60757C"/>
                </a:solidFill>
                <a:latin typeface="Meiryo" pitchFamily="34" charset="0"/>
                <a:ea typeface="Meiryo" pitchFamily="34" charset="-122"/>
                <a:cs typeface="Meiryo" pitchFamily="34" charset="-120"/>
              </a:rPr>
              <a:t>SAP側には取引先名など棚卸対象外の保管場所も含まれる。</a:t>
            </a:r>
            <a:endParaRPr lang="en-US" sz="1100" dirty="0"/>
          </a:p>
          <a:p>
            <a:pPr indent="0" marL="0">
              <a:lnSpc>
                <a:spcPct val="125000"/>
              </a:lnSpc>
              <a:buNone/>
            </a:pPr>
            <a:r>
              <a:rPr lang="en-US" sz="1100" dirty="0">
                <a:solidFill>
                  <a:srgbClr val="60757C"/>
                </a:solidFill>
                <a:latin typeface="Meiryo" pitchFamily="34" charset="0"/>
                <a:ea typeface="Meiryo" pitchFamily="34" charset="-122"/>
                <a:cs typeface="Meiryo" pitchFamily="34" charset="-120"/>
              </a:rPr>
              <a:t>どれを見るべきかの判断が都度必要だった。</a:t>
            </a:r>
            <a:endParaRPr lang="en-US" sz="1100" dirty="0"/>
          </a:p>
        </p:txBody>
      </p:sp>
      <p:sp>
        <p:nvSpPr>
          <p:cNvPr id="19" name="Shape 17"/>
          <p:cNvSpPr/>
          <p:nvPr/>
        </p:nvSpPr>
        <p:spPr>
          <a:xfrm>
            <a:off x="6217920" y="3319272"/>
            <a:ext cx="5303520" cy="1463040"/>
          </a:xfrm>
          <a:prstGeom prst="roundRect">
            <a:avLst>
              <a:gd name="adj" fmla="val 3750"/>
            </a:avLst>
          </a:prstGeom>
          <a:solidFill>
            <a:srgbClr val="FFFFFF"/>
          </a:solidFill>
          <a:ln w="12700">
            <a:solidFill>
              <a:srgbClr val="D9E4E4"/>
            </a:solidFill>
            <a:prstDash val="solid"/>
          </a:ln>
          <a:effectLst>
            <a:outerShdw sx="100000" sy="100000" kx="0" ky="0" algn="bl" rotWithShape="0" blurRad="177800" dist="38100" dir="5400000">
              <a:srgbClr val="0B2026">
                <a:alpha val="10000"/>
              </a:srgbClr>
            </a:outerShdw>
          </a:effectLst>
        </p:spPr>
      </p:sp>
      <p:sp>
        <p:nvSpPr>
          <p:cNvPr id="20" name="Shape 18"/>
          <p:cNvSpPr/>
          <p:nvPr/>
        </p:nvSpPr>
        <p:spPr>
          <a:xfrm>
            <a:off x="6510528" y="3611880"/>
            <a:ext cx="402336" cy="402336"/>
          </a:xfrm>
          <a:prstGeom prst="ellipse">
            <a:avLst/>
          </a:prstGeom>
          <a:solidFill>
            <a:srgbClr val="0E7C7B"/>
          </a:solidFill>
          <a:ln/>
        </p:spPr>
      </p:sp>
      <p:sp>
        <p:nvSpPr>
          <p:cNvPr id="21" name="Text 19"/>
          <p:cNvSpPr/>
          <p:nvPr/>
        </p:nvSpPr>
        <p:spPr>
          <a:xfrm>
            <a:off x="6510528" y="36118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2" name="Text 20"/>
          <p:cNvSpPr/>
          <p:nvPr/>
        </p:nvSpPr>
        <p:spPr>
          <a:xfrm>
            <a:off x="7086600" y="3575304"/>
            <a:ext cx="4206240" cy="310896"/>
          </a:xfrm>
          <a:prstGeom prst="rect">
            <a:avLst/>
          </a:prstGeom>
          <a:noFill/>
          <a:ln/>
        </p:spPr>
        <p:txBody>
          <a:bodyPr wrap="square" lIns="0" tIns="0" rIns="0" bIns="0" rtlCol="0" anchor="ctr"/>
          <a:lstStyle/>
          <a:p>
            <a:pPr indent="0" marL="0">
              <a:buNone/>
            </a:pPr>
            <a:r>
              <a:rPr lang="en-US" sz="1500" b="1" dirty="0">
                <a:solidFill>
                  <a:srgbClr val="102A33"/>
                </a:solidFill>
                <a:latin typeface="Meiryo" pitchFamily="34" charset="0"/>
                <a:ea typeface="Meiryo" pitchFamily="34" charset="-122"/>
                <a:cs typeface="Meiryo" pitchFamily="34" charset="-120"/>
              </a:rPr>
              <a:t>目視では追えない</a:t>
            </a:r>
            <a:endParaRPr lang="en-US" sz="1500" dirty="0"/>
          </a:p>
        </p:txBody>
      </p:sp>
      <p:sp>
        <p:nvSpPr>
          <p:cNvPr id="23" name="Text 21"/>
          <p:cNvSpPr/>
          <p:nvPr/>
        </p:nvSpPr>
        <p:spPr>
          <a:xfrm>
            <a:off x="7086600" y="3941064"/>
            <a:ext cx="4251960" cy="685800"/>
          </a:xfrm>
          <a:prstGeom prst="rect">
            <a:avLst/>
          </a:prstGeom>
          <a:noFill/>
          <a:ln/>
        </p:spPr>
        <p:txBody>
          <a:bodyPr wrap="square" lIns="0" tIns="0" rIns="0" bIns="0" rtlCol="0" anchor="ctr"/>
          <a:lstStyle/>
          <a:p>
            <a:pPr indent="0" marL="0">
              <a:lnSpc>
                <a:spcPct val="125000"/>
              </a:lnSpc>
              <a:buNone/>
            </a:pPr>
            <a:r>
              <a:rPr lang="en-US" sz="1100" dirty="0">
                <a:solidFill>
                  <a:srgbClr val="60757C"/>
                </a:solidFill>
                <a:latin typeface="Meiryo" pitchFamily="34" charset="0"/>
                <a:ea typeface="Meiryo" pitchFamily="34" charset="-122"/>
                <a:cs typeface="Meiryo" pitchFamily="34" charset="-120"/>
              </a:rPr>
              <a:t>数百〜数千明細。VLOOKUPと目視の併用では</a:t>
            </a:r>
            <a:endParaRPr lang="en-US" sz="1100" dirty="0"/>
          </a:p>
          <a:p>
            <a:pPr indent="0" marL="0">
              <a:lnSpc>
                <a:spcPct val="125000"/>
              </a:lnSpc>
              <a:buNone/>
            </a:pPr>
            <a:r>
              <a:rPr lang="en-US" sz="1100" dirty="0">
                <a:solidFill>
                  <a:srgbClr val="60757C"/>
                </a:solidFill>
                <a:latin typeface="Meiryo" pitchFamily="34" charset="0"/>
                <a:ea typeface="Meiryo" pitchFamily="34" charset="-122"/>
                <a:cs typeface="Meiryo" pitchFamily="34" charset="-120"/>
              </a:rPr>
              <a:t>見落としや転記ミスのリスクが残る。</a:t>
            </a:r>
            <a:endParaRPr lang="en-US" sz="1100" dirty="0"/>
          </a:p>
        </p:txBody>
      </p:sp>
      <p:sp>
        <p:nvSpPr>
          <p:cNvPr id="24" name="Shape 22"/>
          <p:cNvSpPr/>
          <p:nvPr/>
        </p:nvSpPr>
        <p:spPr>
          <a:xfrm>
            <a:off x="640080" y="5074920"/>
            <a:ext cx="10881360" cy="914400"/>
          </a:xfrm>
          <a:prstGeom prst="roundRect">
            <a:avLst>
              <a:gd name="adj" fmla="val 6000"/>
            </a:avLst>
          </a:prstGeom>
          <a:solidFill>
            <a:srgbClr val="FBEDE9"/>
          </a:solidFill>
          <a:ln/>
        </p:spPr>
      </p:sp>
      <p:sp>
        <p:nvSpPr>
          <p:cNvPr id="25" name="Text 23"/>
          <p:cNvSpPr/>
          <p:nvPr/>
        </p:nvSpPr>
        <p:spPr>
          <a:xfrm>
            <a:off x="1005840" y="5303520"/>
            <a:ext cx="10149840" cy="457200"/>
          </a:xfrm>
          <a:prstGeom prst="rect">
            <a:avLst/>
          </a:prstGeom>
          <a:noFill/>
          <a:ln/>
        </p:spPr>
        <p:txBody>
          <a:bodyPr wrap="square" lIns="0" tIns="0" rIns="0" bIns="0" rtlCol="0" anchor="ctr"/>
          <a:lstStyle/>
          <a:p>
            <a:pPr indent="0" marL="0">
              <a:buNone/>
            </a:pPr>
            <a:r>
              <a:rPr lang="en-US" sz="1700" b="1" dirty="0">
                <a:solidFill>
                  <a:srgbClr val="B5533C"/>
                </a:solidFill>
                <a:latin typeface="Meiryo" pitchFamily="34" charset="0"/>
                <a:ea typeface="Meiryo" pitchFamily="34" charset="-122"/>
                <a:cs typeface="Meiryo" pitchFamily="34" charset="-120"/>
              </a:rPr>
              <a:t>1回あたり 約3.5時間</a:t>
            </a:r>
            <a:pPr indent="0" marL="0">
              <a:buNone/>
            </a:pPr>
            <a:r>
              <a:rPr lang="en-US" sz="1400" dirty="0">
                <a:solidFill>
                  <a:srgbClr val="17282E"/>
                </a:solidFill>
                <a:latin typeface="Meiryo" pitchFamily="34" charset="0"/>
                <a:ea typeface="Meiryo" pitchFamily="34" charset="-122"/>
                <a:cs typeface="Meiryo" pitchFamily="34" charset="-120"/>
              </a:rPr>
              <a:t>　×　月1回　＝　</a:t>
            </a:r>
            <a:pPr indent="0" marL="0">
              <a:buNone/>
            </a:pPr>
            <a:r>
              <a:rPr lang="en-US" sz="1700" b="1" dirty="0">
                <a:solidFill>
                  <a:srgbClr val="B5533C"/>
                </a:solidFill>
                <a:latin typeface="Meiryo" pitchFamily="34" charset="0"/>
                <a:ea typeface="Meiryo" pitchFamily="34" charset="-122"/>
                <a:cs typeface="Meiryo" pitchFamily="34" charset="-120"/>
              </a:rPr>
              <a:t>年間 約42時間</a:t>
            </a:r>
            <a:pPr indent="0" marL="0">
              <a:buNone/>
            </a:pPr>
            <a:r>
              <a:rPr lang="en-US" sz="1400" dirty="0">
                <a:solidFill>
                  <a:srgbClr val="17282E"/>
                </a:solidFill>
                <a:latin typeface="Meiryo" pitchFamily="34" charset="0"/>
                <a:ea typeface="Meiryo" pitchFamily="34" charset="-122"/>
                <a:cs typeface="Meiryo" pitchFamily="34" charset="-120"/>
              </a:rPr>
              <a:t>　を、この照合だけに費やしていた</a:t>
            </a:r>
            <a:endParaRPr lang="en-US" sz="1700" dirty="0"/>
          </a:p>
        </p:txBody>
      </p:sp>
      <p:sp>
        <p:nvSpPr>
          <p:cNvPr id="26" name="Text 24"/>
          <p:cNvSpPr/>
          <p:nvPr/>
        </p:nvSpPr>
        <p:spPr>
          <a:xfrm>
            <a:off x="11430000" y="6355080"/>
            <a:ext cx="457200" cy="274320"/>
          </a:xfrm>
          <a:prstGeom prst="rect">
            <a:avLst/>
          </a:prstGeom>
          <a:noFill/>
          <a:ln/>
        </p:spPr>
        <p:txBody>
          <a:bodyPr wrap="square" lIns="0" tIns="0" rIns="0" bIns="0" rtlCol="0" anchor="ctr"/>
          <a:lstStyle/>
          <a:p>
            <a:pPr algn="r" indent="0" marL="0">
              <a:buNone/>
            </a:pPr>
            <a:r>
              <a:rPr lang="en-US" sz="1000" dirty="0">
                <a:solidFill>
                  <a:srgbClr val="60757C"/>
                </a:solidFill>
                <a:latin typeface="Arial" pitchFamily="34" charset="0"/>
                <a:ea typeface="Arial" pitchFamily="34" charset="-122"/>
                <a:cs typeface="Arial"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20624"/>
            <a:ext cx="10881360" cy="566928"/>
          </a:xfrm>
          <a:prstGeom prst="rect">
            <a:avLst/>
          </a:prstGeom>
          <a:noFill/>
          <a:ln/>
        </p:spPr>
        <p:txBody>
          <a:bodyPr wrap="square" lIns="0" tIns="0" rIns="0" bIns="0" rtlCol="0" anchor="ctr"/>
          <a:lstStyle/>
          <a:p>
            <a:pPr indent="0" marL="0">
              <a:buNone/>
            </a:pPr>
            <a:r>
              <a:rPr lang="en-US" sz="3000" b="1" dirty="0">
                <a:solidFill>
                  <a:srgbClr val="102A33"/>
                </a:solidFill>
                <a:latin typeface="Meiryo" pitchFamily="34" charset="0"/>
                <a:ea typeface="Meiryo" pitchFamily="34" charset="-122"/>
                <a:cs typeface="Meiryo" pitchFamily="34" charset="-120"/>
              </a:rPr>
              <a:t>できたもの：ダブルクリックで開く 1枚のHTML</a:t>
            </a:r>
            <a:endParaRPr lang="en-US" sz="3000" dirty="0"/>
          </a:p>
        </p:txBody>
      </p:sp>
      <p:sp>
        <p:nvSpPr>
          <p:cNvPr id="3" name="Text 1"/>
          <p:cNvSpPr/>
          <p:nvPr/>
        </p:nvSpPr>
        <p:spPr>
          <a:xfrm>
            <a:off x="640080" y="1042416"/>
            <a:ext cx="10881360" cy="384048"/>
          </a:xfrm>
          <a:prstGeom prst="rect">
            <a:avLst/>
          </a:prstGeom>
          <a:noFill/>
          <a:ln/>
        </p:spPr>
        <p:txBody>
          <a:bodyPr wrap="square" lIns="0" tIns="0" rIns="0" bIns="0" rtlCol="0" anchor="ctr"/>
          <a:lstStyle/>
          <a:p>
            <a:pPr indent="0" marL="0">
              <a:buNone/>
            </a:pPr>
            <a:r>
              <a:rPr lang="en-US" sz="1350" dirty="0">
                <a:solidFill>
                  <a:srgbClr val="60757C"/>
                </a:solidFill>
                <a:latin typeface="Meiryo" pitchFamily="34" charset="0"/>
                <a:ea typeface="Meiryo" pitchFamily="34" charset="-122"/>
                <a:cs typeface="Meiryo" pitchFamily="34" charset="-120"/>
              </a:rPr>
              <a:t>3つのExcelを画面に放り込んで「実行」を押すだけ。結果はCSVで出力できる</a:t>
            </a:r>
            <a:endParaRPr lang="en-US" sz="1350" dirty="0"/>
          </a:p>
        </p:txBody>
      </p:sp>
      <p:sp>
        <p:nvSpPr>
          <p:cNvPr id="4" name="Shape 2"/>
          <p:cNvSpPr/>
          <p:nvPr/>
        </p:nvSpPr>
        <p:spPr>
          <a:xfrm>
            <a:off x="640080" y="1691640"/>
            <a:ext cx="6949440" cy="3246120"/>
          </a:xfrm>
          <a:prstGeom prst="roundRect">
            <a:avLst>
              <a:gd name="adj" fmla="val 1690"/>
            </a:avLst>
          </a:prstGeom>
          <a:solidFill>
            <a:srgbClr val="FFFFFF"/>
          </a:solidFill>
          <a:ln w="12700">
            <a:solidFill>
              <a:srgbClr val="D9E4E4"/>
            </a:solidFill>
            <a:prstDash val="solid"/>
          </a:ln>
          <a:effectLst>
            <a:outerShdw sx="100000" sy="100000" kx="0" ky="0" algn="bl" rotWithShape="0" blurRad="177800" dist="38100" dir="5400000">
              <a:srgbClr val="0B2026">
                <a:alpha val="10000"/>
              </a:srgbClr>
            </a:outerShdw>
          </a:effectLst>
        </p:spPr>
      </p:sp>
      <p:pic>
        <p:nvPicPr>
          <p:cNvPr id="5" name="Image 0" descr="/tmp/claude-0/-home-user-ruri-automation/89813f7a-5296-5d09-bfb4-0bd655cf769e/scratchpad/deck/shot_upload.png">    </p:cNvPr>
          <p:cNvPicPr>
            <a:picLocks noChangeAspect="1"/>
          </p:cNvPicPr>
          <p:nvPr/>
        </p:nvPicPr>
        <p:blipFill>
          <a:blip r:embed="rId1"/>
          <a:stretch>
            <a:fillRect/>
          </a:stretch>
        </p:blipFill>
        <p:spPr>
          <a:xfrm>
            <a:off x="795528" y="1847088"/>
            <a:ext cx="6638544" cy="2834640"/>
          </a:xfrm>
          <a:prstGeom prst="rect">
            <a:avLst/>
          </a:prstGeom>
        </p:spPr>
      </p:pic>
      <p:sp>
        <p:nvSpPr>
          <p:cNvPr id="6" name="Text 3"/>
          <p:cNvSpPr/>
          <p:nvPr/>
        </p:nvSpPr>
        <p:spPr>
          <a:xfrm>
            <a:off x="795528" y="4700016"/>
            <a:ext cx="6638544" cy="219456"/>
          </a:xfrm>
          <a:prstGeom prst="rect">
            <a:avLst/>
          </a:prstGeom>
          <a:noFill/>
          <a:ln/>
        </p:spPr>
        <p:txBody>
          <a:bodyPr wrap="square" lIns="0" tIns="0" rIns="0" bIns="0" rtlCol="0" anchor="ctr"/>
          <a:lstStyle/>
          <a:p>
            <a:pPr indent="0" marL="0">
              <a:buNone/>
            </a:pPr>
            <a:r>
              <a:rPr lang="en-US" sz="950" dirty="0">
                <a:solidFill>
                  <a:srgbClr val="60757C"/>
                </a:solidFill>
                <a:latin typeface="Meiryo" pitchFamily="34" charset="0"/>
                <a:ea typeface="Meiryo" pitchFamily="34" charset="-122"/>
                <a:cs typeface="Meiryo" pitchFamily="34" charset="-120"/>
              </a:rPr>
              <a:t>実際の画面：3つのファイルを入れると、読み取った値のプレビューが出る</a:t>
            </a:r>
            <a:endParaRPr lang="en-US" sz="950" dirty="0"/>
          </a:p>
        </p:txBody>
      </p:sp>
      <p:sp>
        <p:nvSpPr>
          <p:cNvPr id="7" name="Shape 4"/>
          <p:cNvSpPr/>
          <p:nvPr/>
        </p:nvSpPr>
        <p:spPr>
          <a:xfrm>
            <a:off x="7909560" y="1691640"/>
            <a:ext cx="3611880" cy="969264"/>
          </a:xfrm>
          <a:prstGeom prst="roundRect">
            <a:avLst>
              <a:gd name="adj" fmla="val 5660"/>
            </a:avLst>
          </a:prstGeom>
          <a:solidFill>
            <a:srgbClr val="FFFFFF"/>
          </a:solidFill>
          <a:ln w="12700">
            <a:solidFill>
              <a:srgbClr val="D9E4E4"/>
            </a:solidFill>
            <a:prstDash val="solid"/>
          </a:ln>
          <a:effectLst>
            <a:outerShdw sx="100000" sy="100000" kx="0" ky="0" algn="bl" rotWithShape="0" blurRad="177800" dist="38100" dir="5400000">
              <a:srgbClr val="0B2026">
                <a:alpha val="10000"/>
              </a:srgbClr>
            </a:outerShdw>
          </a:effectLst>
        </p:spPr>
      </p:sp>
      <p:sp>
        <p:nvSpPr>
          <p:cNvPr id="8" name="Shape 5"/>
          <p:cNvSpPr/>
          <p:nvPr/>
        </p:nvSpPr>
        <p:spPr>
          <a:xfrm>
            <a:off x="8156448" y="2002536"/>
            <a:ext cx="310896" cy="310896"/>
          </a:xfrm>
          <a:prstGeom prst="ellipse">
            <a:avLst/>
          </a:prstGeom>
          <a:solidFill>
            <a:srgbClr val="E3F0EF"/>
          </a:solidFill>
          <a:ln/>
        </p:spPr>
      </p:sp>
      <p:sp>
        <p:nvSpPr>
          <p:cNvPr id="9" name="Text 6"/>
          <p:cNvSpPr/>
          <p:nvPr/>
        </p:nvSpPr>
        <p:spPr>
          <a:xfrm>
            <a:off x="8156448" y="2002536"/>
            <a:ext cx="310896" cy="310896"/>
          </a:xfrm>
          <a:prstGeom prst="rect">
            <a:avLst/>
          </a:prstGeom>
          <a:noFill/>
          <a:ln/>
        </p:spPr>
        <p:txBody>
          <a:bodyPr wrap="square" lIns="0" tIns="0" rIns="0" bIns="0" rtlCol="0" anchor="ctr"/>
          <a:lstStyle/>
          <a:p>
            <a:pPr algn="ctr" indent="0" marL="0">
              <a:buNone/>
            </a:pPr>
            <a:r>
              <a:rPr lang="en-US" sz="1200" b="1" dirty="0">
                <a:solidFill>
                  <a:srgbClr val="0A5F5E"/>
                </a:solidFill>
                <a:latin typeface="Meiryo" pitchFamily="34" charset="0"/>
                <a:ea typeface="Meiryo" pitchFamily="34" charset="-122"/>
                <a:cs typeface="Meiryo" pitchFamily="34" charset="-120"/>
              </a:rPr>
              <a:t>✓</a:t>
            </a:r>
            <a:endParaRPr lang="en-US" sz="1200" dirty="0"/>
          </a:p>
        </p:txBody>
      </p:sp>
      <p:sp>
        <p:nvSpPr>
          <p:cNvPr id="10" name="Text 7"/>
          <p:cNvSpPr/>
          <p:nvPr/>
        </p:nvSpPr>
        <p:spPr>
          <a:xfrm>
            <a:off x="8595360" y="1856232"/>
            <a:ext cx="2788920" cy="274320"/>
          </a:xfrm>
          <a:prstGeom prst="rect">
            <a:avLst/>
          </a:prstGeom>
          <a:noFill/>
          <a:ln/>
        </p:spPr>
        <p:txBody>
          <a:bodyPr wrap="square" lIns="0" tIns="0" rIns="0" bIns="0" rtlCol="0" anchor="ctr"/>
          <a:lstStyle/>
          <a:p>
            <a:pPr indent="0" marL="0">
              <a:buNone/>
            </a:pPr>
            <a:r>
              <a:rPr lang="en-US" sz="1350" b="1" dirty="0">
                <a:solidFill>
                  <a:srgbClr val="102A33"/>
                </a:solidFill>
                <a:latin typeface="Meiryo" pitchFamily="34" charset="0"/>
                <a:ea typeface="Meiryo" pitchFamily="34" charset="-122"/>
                <a:cs typeface="Meiryo" pitchFamily="34" charset="-120"/>
              </a:rPr>
              <a:t>インストール不要</a:t>
            </a:r>
            <a:endParaRPr lang="en-US" sz="1350" dirty="0"/>
          </a:p>
        </p:txBody>
      </p:sp>
      <p:sp>
        <p:nvSpPr>
          <p:cNvPr id="11" name="Text 8"/>
          <p:cNvSpPr/>
          <p:nvPr/>
        </p:nvSpPr>
        <p:spPr>
          <a:xfrm>
            <a:off x="8595360" y="2148840"/>
            <a:ext cx="2788920" cy="457200"/>
          </a:xfrm>
          <a:prstGeom prst="rect">
            <a:avLst/>
          </a:prstGeom>
          <a:noFill/>
          <a:ln/>
        </p:spPr>
        <p:txBody>
          <a:bodyPr wrap="square" lIns="0" tIns="0" rIns="0" bIns="0" rtlCol="0" anchor="ctr"/>
          <a:lstStyle/>
          <a:p>
            <a:pPr indent="0" marL="0">
              <a:lnSpc>
                <a:spcPct val="120000"/>
              </a:lnSpc>
              <a:buNone/>
            </a:pPr>
            <a:r>
              <a:rPr lang="en-US" sz="950" dirty="0">
                <a:solidFill>
                  <a:srgbClr val="60757C"/>
                </a:solidFill>
                <a:latin typeface="Meiryo" pitchFamily="34" charset="0"/>
                <a:ea typeface="Meiryo" pitchFamily="34" charset="-122"/>
                <a:cs typeface="Meiryo" pitchFamily="34" charset="-120"/>
              </a:rPr>
              <a:t>Windows標準のEdgeで開くだけ。</a:t>
            </a:r>
            <a:endParaRPr lang="en-US" sz="950" dirty="0"/>
          </a:p>
          <a:p>
            <a:pPr indent="0" marL="0">
              <a:lnSpc>
                <a:spcPct val="120000"/>
              </a:lnSpc>
              <a:buNone/>
            </a:pPr>
            <a:r>
              <a:rPr lang="en-US" sz="950" dirty="0">
                <a:solidFill>
                  <a:srgbClr val="60757C"/>
                </a:solidFill>
                <a:latin typeface="Meiryo" pitchFamily="34" charset="0"/>
                <a:ea typeface="Meiryo" pitchFamily="34" charset="-122"/>
                <a:cs typeface="Meiryo" pitchFamily="34" charset="-120"/>
              </a:rPr>
              <a:t>管理者権限もセットアップも要らない。</a:t>
            </a:r>
            <a:endParaRPr lang="en-US" sz="950" dirty="0"/>
          </a:p>
        </p:txBody>
      </p:sp>
      <p:sp>
        <p:nvSpPr>
          <p:cNvPr id="12" name="Shape 9"/>
          <p:cNvSpPr/>
          <p:nvPr/>
        </p:nvSpPr>
        <p:spPr>
          <a:xfrm>
            <a:off x="7909560" y="2825496"/>
            <a:ext cx="3611880" cy="969264"/>
          </a:xfrm>
          <a:prstGeom prst="roundRect">
            <a:avLst>
              <a:gd name="adj" fmla="val 5660"/>
            </a:avLst>
          </a:prstGeom>
          <a:solidFill>
            <a:srgbClr val="FFFFFF"/>
          </a:solidFill>
          <a:ln w="12700">
            <a:solidFill>
              <a:srgbClr val="D9E4E4"/>
            </a:solidFill>
            <a:prstDash val="solid"/>
          </a:ln>
          <a:effectLst>
            <a:outerShdw sx="100000" sy="100000" kx="0" ky="0" algn="bl" rotWithShape="0" blurRad="177800" dist="38100" dir="5400000">
              <a:srgbClr val="0B2026">
                <a:alpha val="10000"/>
              </a:srgbClr>
            </a:outerShdw>
          </a:effectLst>
        </p:spPr>
      </p:sp>
      <p:sp>
        <p:nvSpPr>
          <p:cNvPr id="13" name="Shape 10"/>
          <p:cNvSpPr/>
          <p:nvPr/>
        </p:nvSpPr>
        <p:spPr>
          <a:xfrm>
            <a:off x="8156448" y="3136392"/>
            <a:ext cx="310896" cy="310896"/>
          </a:xfrm>
          <a:prstGeom prst="ellipse">
            <a:avLst/>
          </a:prstGeom>
          <a:solidFill>
            <a:srgbClr val="E3F0EF"/>
          </a:solidFill>
          <a:ln/>
        </p:spPr>
      </p:sp>
      <p:sp>
        <p:nvSpPr>
          <p:cNvPr id="14" name="Text 11"/>
          <p:cNvSpPr/>
          <p:nvPr/>
        </p:nvSpPr>
        <p:spPr>
          <a:xfrm>
            <a:off x="8156448" y="3136392"/>
            <a:ext cx="310896" cy="310896"/>
          </a:xfrm>
          <a:prstGeom prst="rect">
            <a:avLst/>
          </a:prstGeom>
          <a:noFill/>
          <a:ln/>
        </p:spPr>
        <p:txBody>
          <a:bodyPr wrap="square" lIns="0" tIns="0" rIns="0" bIns="0" rtlCol="0" anchor="ctr"/>
          <a:lstStyle/>
          <a:p>
            <a:pPr algn="ctr" indent="0" marL="0">
              <a:buNone/>
            </a:pPr>
            <a:r>
              <a:rPr lang="en-US" sz="1200" b="1" dirty="0">
                <a:solidFill>
                  <a:srgbClr val="0A5F5E"/>
                </a:solidFill>
                <a:latin typeface="Meiryo" pitchFamily="34" charset="0"/>
                <a:ea typeface="Meiryo" pitchFamily="34" charset="-122"/>
                <a:cs typeface="Meiryo" pitchFamily="34" charset="-120"/>
              </a:rPr>
              <a:t>✓</a:t>
            </a:r>
            <a:endParaRPr lang="en-US" sz="1200" dirty="0"/>
          </a:p>
        </p:txBody>
      </p:sp>
      <p:sp>
        <p:nvSpPr>
          <p:cNvPr id="15" name="Text 12"/>
          <p:cNvSpPr/>
          <p:nvPr/>
        </p:nvSpPr>
        <p:spPr>
          <a:xfrm>
            <a:off x="8595360" y="2990088"/>
            <a:ext cx="2788920" cy="274320"/>
          </a:xfrm>
          <a:prstGeom prst="rect">
            <a:avLst/>
          </a:prstGeom>
          <a:noFill/>
          <a:ln/>
        </p:spPr>
        <p:txBody>
          <a:bodyPr wrap="square" lIns="0" tIns="0" rIns="0" bIns="0" rtlCol="0" anchor="ctr"/>
          <a:lstStyle/>
          <a:p>
            <a:pPr indent="0" marL="0">
              <a:buNone/>
            </a:pPr>
            <a:r>
              <a:rPr lang="en-US" sz="1350" b="1" dirty="0">
                <a:solidFill>
                  <a:srgbClr val="102A33"/>
                </a:solidFill>
                <a:latin typeface="Meiryo" pitchFamily="34" charset="0"/>
                <a:ea typeface="Meiryo" pitchFamily="34" charset="-122"/>
                <a:cs typeface="Meiryo" pitchFamily="34" charset="-120"/>
              </a:rPr>
              <a:t>完全オフライン</a:t>
            </a:r>
            <a:endParaRPr lang="en-US" sz="1350" dirty="0"/>
          </a:p>
        </p:txBody>
      </p:sp>
      <p:sp>
        <p:nvSpPr>
          <p:cNvPr id="16" name="Text 13"/>
          <p:cNvSpPr/>
          <p:nvPr/>
        </p:nvSpPr>
        <p:spPr>
          <a:xfrm>
            <a:off x="8595360" y="3282696"/>
            <a:ext cx="2788920" cy="457200"/>
          </a:xfrm>
          <a:prstGeom prst="rect">
            <a:avLst/>
          </a:prstGeom>
          <a:noFill/>
          <a:ln/>
        </p:spPr>
        <p:txBody>
          <a:bodyPr wrap="square" lIns="0" tIns="0" rIns="0" bIns="0" rtlCol="0" anchor="ctr"/>
          <a:lstStyle/>
          <a:p>
            <a:pPr indent="0" marL="0">
              <a:lnSpc>
                <a:spcPct val="120000"/>
              </a:lnSpc>
              <a:buNone/>
            </a:pPr>
            <a:r>
              <a:rPr lang="en-US" sz="950" dirty="0">
                <a:solidFill>
                  <a:srgbClr val="60757C"/>
                </a:solidFill>
                <a:latin typeface="Meiryo" pitchFamily="34" charset="0"/>
                <a:ea typeface="Meiryo" pitchFamily="34" charset="-122"/>
                <a:cs typeface="Meiryo" pitchFamily="34" charset="-120"/>
              </a:rPr>
              <a:t>データはPCのブラウザ内だけで処理。</a:t>
            </a:r>
            <a:endParaRPr lang="en-US" sz="950" dirty="0"/>
          </a:p>
          <a:p>
            <a:pPr indent="0" marL="0">
              <a:lnSpc>
                <a:spcPct val="120000"/>
              </a:lnSpc>
              <a:buNone/>
            </a:pPr>
            <a:r>
              <a:rPr lang="en-US" sz="950" dirty="0">
                <a:solidFill>
                  <a:srgbClr val="60757C"/>
                </a:solidFill>
                <a:latin typeface="Meiryo" pitchFamily="34" charset="0"/>
                <a:ea typeface="Meiryo" pitchFamily="34" charset="-122"/>
                <a:cs typeface="Meiryo" pitchFamily="34" charset="-120"/>
              </a:rPr>
              <a:t>在庫情報が外部に出ることはない。</a:t>
            </a:r>
            <a:endParaRPr lang="en-US" sz="950" dirty="0"/>
          </a:p>
        </p:txBody>
      </p:sp>
      <p:sp>
        <p:nvSpPr>
          <p:cNvPr id="17" name="Shape 14"/>
          <p:cNvSpPr/>
          <p:nvPr/>
        </p:nvSpPr>
        <p:spPr>
          <a:xfrm>
            <a:off x="7909560" y="3959352"/>
            <a:ext cx="3611880" cy="969264"/>
          </a:xfrm>
          <a:prstGeom prst="roundRect">
            <a:avLst>
              <a:gd name="adj" fmla="val 5660"/>
            </a:avLst>
          </a:prstGeom>
          <a:solidFill>
            <a:srgbClr val="FFFFFF"/>
          </a:solidFill>
          <a:ln w="12700">
            <a:solidFill>
              <a:srgbClr val="D9E4E4"/>
            </a:solidFill>
            <a:prstDash val="solid"/>
          </a:ln>
          <a:effectLst>
            <a:outerShdw sx="100000" sy="100000" kx="0" ky="0" algn="bl" rotWithShape="0" blurRad="177800" dist="38100" dir="5400000">
              <a:srgbClr val="0B2026">
                <a:alpha val="10000"/>
              </a:srgbClr>
            </a:outerShdw>
          </a:effectLst>
        </p:spPr>
      </p:sp>
      <p:sp>
        <p:nvSpPr>
          <p:cNvPr id="18" name="Shape 15"/>
          <p:cNvSpPr/>
          <p:nvPr/>
        </p:nvSpPr>
        <p:spPr>
          <a:xfrm>
            <a:off x="8156448" y="4270248"/>
            <a:ext cx="310896" cy="310896"/>
          </a:xfrm>
          <a:prstGeom prst="ellipse">
            <a:avLst/>
          </a:prstGeom>
          <a:solidFill>
            <a:srgbClr val="E3F0EF"/>
          </a:solidFill>
          <a:ln/>
        </p:spPr>
      </p:sp>
      <p:sp>
        <p:nvSpPr>
          <p:cNvPr id="19" name="Text 16"/>
          <p:cNvSpPr/>
          <p:nvPr/>
        </p:nvSpPr>
        <p:spPr>
          <a:xfrm>
            <a:off x="8156448" y="4270248"/>
            <a:ext cx="310896" cy="310896"/>
          </a:xfrm>
          <a:prstGeom prst="rect">
            <a:avLst/>
          </a:prstGeom>
          <a:noFill/>
          <a:ln/>
        </p:spPr>
        <p:txBody>
          <a:bodyPr wrap="square" lIns="0" tIns="0" rIns="0" bIns="0" rtlCol="0" anchor="ctr"/>
          <a:lstStyle/>
          <a:p>
            <a:pPr algn="ctr" indent="0" marL="0">
              <a:buNone/>
            </a:pPr>
            <a:r>
              <a:rPr lang="en-US" sz="1200" b="1" dirty="0">
                <a:solidFill>
                  <a:srgbClr val="0A5F5E"/>
                </a:solidFill>
                <a:latin typeface="Meiryo" pitchFamily="34" charset="0"/>
                <a:ea typeface="Meiryo" pitchFamily="34" charset="-122"/>
                <a:cs typeface="Meiryo" pitchFamily="34" charset="-120"/>
              </a:rPr>
              <a:t>✓</a:t>
            </a:r>
            <a:endParaRPr lang="en-US" sz="1200" dirty="0"/>
          </a:p>
        </p:txBody>
      </p:sp>
      <p:sp>
        <p:nvSpPr>
          <p:cNvPr id="20" name="Text 17"/>
          <p:cNvSpPr/>
          <p:nvPr/>
        </p:nvSpPr>
        <p:spPr>
          <a:xfrm>
            <a:off x="8595360" y="4123944"/>
            <a:ext cx="2788920" cy="274320"/>
          </a:xfrm>
          <a:prstGeom prst="rect">
            <a:avLst/>
          </a:prstGeom>
          <a:noFill/>
          <a:ln/>
        </p:spPr>
        <p:txBody>
          <a:bodyPr wrap="square" lIns="0" tIns="0" rIns="0" bIns="0" rtlCol="0" anchor="ctr"/>
          <a:lstStyle/>
          <a:p>
            <a:pPr indent="0" marL="0">
              <a:buNone/>
            </a:pPr>
            <a:r>
              <a:rPr lang="en-US" sz="1350" b="1" dirty="0">
                <a:solidFill>
                  <a:srgbClr val="102A33"/>
                </a:solidFill>
                <a:latin typeface="Meiryo" pitchFamily="34" charset="0"/>
                <a:ea typeface="Meiryo" pitchFamily="34" charset="-122"/>
                <a:cs typeface="Meiryo" pitchFamily="34" charset="-120"/>
              </a:rPr>
              <a:t>配布はファイル1つ</a:t>
            </a:r>
            <a:endParaRPr lang="en-US" sz="1350" dirty="0"/>
          </a:p>
        </p:txBody>
      </p:sp>
      <p:sp>
        <p:nvSpPr>
          <p:cNvPr id="21" name="Text 18"/>
          <p:cNvSpPr/>
          <p:nvPr/>
        </p:nvSpPr>
        <p:spPr>
          <a:xfrm>
            <a:off x="8595360" y="4416552"/>
            <a:ext cx="2788920" cy="457200"/>
          </a:xfrm>
          <a:prstGeom prst="rect">
            <a:avLst/>
          </a:prstGeom>
          <a:noFill/>
          <a:ln/>
        </p:spPr>
        <p:txBody>
          <a:bodyPr wrap="square" lIns="0" tIns="0" rIns="0" bIns="0" rtlCol="0" anchor="ctr"/>
          <a:lstStyle/>
          <a:p>
            <a:pPr indent="0" marL="0">
              <a:lnSpc>
                <a:spcPct val="120000"/>
              </a:lnSpc>
              <a:buNone/>
            </a:pPr>
            <a:r>
              <a:rPr lang="en-US" sz="950" dirty="0">
                <a:solidFill>
                  <a:srgbClr val="60757C"/>
                </a:solidFill>
                <a:latin typeface="Meiryo" pitchFamily="34" charset="0"/>
                <a:ea typeface="Meiryo" pitchFamily="34" charset="-122"/>
                <a:cs typeface="Meiryo" pitchFamily="34" charset="-120"/>
              </a:rPr>
              <a:t>HTMLを1個渡せば誰でも使える。</a:t>
            </a:r>
            <a:endParaRPr lang="en-US" sz="950" dirty="0"/>
          </a:p>
          <a:p>
            <a:pPr indent="0" marL="0">
              <a:lnSpc>
                <a:spcPct val="120000"/>
              </a:lnSpc>
              <a:buNone/>
            </a:pPr>
            <a:r>
              <a:rPr lang="en-US" sz="950" dirty="0">
                <a:solidFill>
                  <a:srgbClr val="60757C"/>
                </a:solidFill>
                <a:latin typeface="Meiryo" pitchFamily="34" charset="0"/>
                <a:ea typeface="Meiryo" pitchFamily="34" charset="-122"/>
                <a:cs typeface="Meiryo" pitchFamily="34" charset="-120"/>
              </a:rPr>
              <a:t>環境の違いで動かない、が起きにくい。</a:t>
            </a:r>
            <a:endParaRPr lang="en-US" sz="950" dirty="0"/>
          </a:p>
        </p:txBody>
      </p:sp>
      <p:sp>
        <p:nvSpPr>
          <p:cNvPr id="22" name="Shape 19"/>
          <p:cNvSpPr/>
          <p:nvPr/>
        </p:nvSpPr>
        <p:spPr>
          <a:xfrm>
            <a:off x="640080" y="5166360"/>
            <a:ext cx="10881360" cy="868680"/>
          </a:xfrm>
          <a:prstGeom prst="roundRect">
            <a:avLst>
              <a:gd name="adj" fmla="val 6316"/>
            </a:avLst>
          </a:prstGeom>
          <a:solidFill>
            <a:srgbClr val="E3F0EF"/>
          </a:solidFill>
          <a:ln/>
        </p:spPr>
      </p:sp>
      <p:sp>
        <p:nvSpPr>
          <p:cNvPr id="23" name="Text 20"/>
          <p:cNvSpPr/>
          <p:nvPr/>
        </p:nvSpPr>
        <p:spPr>
          <a:xfrm>
            <a:off x="1005840" y="5376672"/>
            <a:ext cx="10149840" cy="457200"/>
          </a:xfrm>
          <a:prstGeom prst="rect">
            <a:avLst/>
          </a:prstGeom>
          <a:noFill/>
          <a:ln/>
        </p:spPr>
        <p:txBody>
          <a:bodyPr wrap="square" lIns="0" tIns="0" rIns="0" bIns="0" rtlCol="0" anchor="ctr"/>
          <a:lstStyle/>
          <a:p>
            <a:pPr indent="0" marL="0">
              <a:buNone/>
            </a:pPr>
            <a:r>
              <a:rPr lang="en-US" sz="1300" b="1" dirty="0">
                <a:solidFill>
                  <a:srgbClr val="0A5F5E"/>
                </a:solidFill>
                <a:latin typeface="Meiryo" pitchFamily="34" charset="0"/>
                <a:ea typeface="Meiryo" pitchFamily="34" charset="-122"/>
                <a:cs typeface="Meiryo" pitchFamily="34" charset="-120"/>
              </a:rPr>
              <a:t>ポイント：</a:t>
            </a:r>
            <a:pPr indent="0" marL="0">
              <a:buNone/>
            </a:pPr>
            <a:r>
              <a:rPr lang="en-US" sz="1300" dirty="0">
                <a:solidFill>
                  <a:srgbClr val="17282E"/>
                </a:solidFill>
                <a:latin typeface="Meiryo" pitchFamily="34" charset="0"/>
                <a:ea typeface="Meiryo" pitchFamily="34" charset="-122"/>
                <a:cs typeface="Meiryo" pitchFamily="34" charset="-120"/>
              </a:rPr>
              <a:t>「何もインストールできない現場のPCで確実に動く」ことを最優先に設計した。高機能さより、配って使ってもらえる形を選んだ。</a:t>
            </a:r>
            <a:endParaRPr lang="en-US" sz="1300" dirty="0"/>
          </a:p>
        </p:txBody>
      </p:sp>
      <p:sp>
        <p:nvSpPr>
          <p:cNvPr id="24" name="Text 21"/>
          <p:cNvSpPr/>
          <p:nvPr/>
        </p:nvSpPr>
        <p:spPr>
          <a:xfrm>
            <a:off x="11430000" y="6355080"/>
            <a:ext cx="457200" cy="274320"/>
          </a:xfrm>
          <a:prstGeom prst="rect">
            <a:avLst/>
          </a:prstGeom>
          <a:noFill/>
          <a:ln/>
        </p:spPr>
        <p:txBody>
          <a:bodyPr wrap="square" lIns="0" tIns="0" rIns="0" bIns="0" rtlCol="0" anchor="ctr"/>
          <a:lstStyle/>
          <a:p>
            <a:pPr algn="r" indent="0" marL="0">
              <a:buNone/>
            </a:pPr>
            <a:r>
              <a:rPr lang="en-US" sz="1000" dirty="0">
                <a:solidFill>
                  <a:srgbClr val="60757C"/>
                </a:solidFill>
                <a:latin typeface="Arial" pitchFamily="34" charset="0"/>
                <a:ea typeface="Arial" pitchFamily="34" charset="-122"/>
                <a:cs typeface="Arial"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20624"/>
            <a:ext cx="10881360" cy="566928"/>
          </a:xfrm>
          <a:prstGeom prst="rect">
            <a:avLst/>
          </a:prstGeom>
          <a:noFill/>
          <a:ln/>
        </p:spPr>
        <p:txBody>
          <a:bodyPr wrap="square" lIns="0" tIns="0" rIns="0" bIns="0" rtlCol="0" anchor="ctr"/>
          <a:lstStyle/>
          <a:p>
            <a:pPr indent="0" marL="0">
              <a:buNone/>
            </a:pPr>
            <a:r>
              <a:rPr lang="en-US" sz="3000" b="1" dirty="0">
                <a:solidFill>
                  <a:srgbClr val="102A33"/>
                </a:solidFill>
                <a:latin typeface="Meiryo" pitchFamily="34" charset="0"/>
                <a:ea typeface="Meiryo" pitchFamily="34" charset="-122"/>
                <a:cs typeface="Meiryo" pitchFamily="34" charset="-120"/>
              </a:rPr>
              <a:t>照合のしくみ：4つのステップ</a:t>
            </a:r>
            <a:endParaRPr lang="en-US" sz="3000" dirty="0"/>
          </a:p>
        </p:txBody>
      </p:sp>
      <p:sp>
        <p:nvSpPr>
          <p:cNvPr id="3" name="Text 1"/>
          <p:cNvSpPr/>
          <p:nvPr/>
        </p:nvSpPr>
        <p:spPr>
          <a:xfrm>
            <a:off x="640080" y="1042416"/>
            <a:ext cx="10881360" cy="384048"/>
          </a:xfrm>
          <a:prstGeom prst="rect">
            <a:avLst/>
          </a:prstGeom>
          <a:noFill/>
          <a:ln/>
        </p:spPr>
        <p:txBody>
          <a:bodyPr wrap="square" lIns="0" tIns="0" rIns="0" bIns="0" rtlCol="0" anchor="ctr"/>
          <a:lstStyle/>
          <a:p>
            <a:pPr indent="0" marL="0">
              <a:buNone/>
            </a:pPr>
            <a:r>
              <a:rPr lang="en-US" sz="1350" dirty="0">
                <a:solidFill>
                  <a:srgbClr val="60757C"/>
                </a:solidFill>
                <a:latin typeface="Meiryo" pitchFamily="34" charset="0"/>
                <a:ea typeface="Meiryo" pitchFamily="34" charset="-122"/>
                <a:cs typeface="Meiryo" pitchFamily="34" charset="-120"/>
              </a:rPr>
              <a:t>人が頭の中でやっていた手順を、そのまま順番に自動化している</a:t>
            </a:r>
            <a:endParaRPr lang="en-US" sz="1350" dirty="0"/>
          </a:p>
        </p:txBody>
      </p:sp>
      <p:sp>
        <p:nvSpPr>
          <p:cNvPr id="4" name="Shape 2"/>
          <p:cNvSpPr/>
          <p:nvPr/>
        </p:nvSpPr>
        <p:spPr>
          <a:xfrm>
            <a:off x="640080" y="1737360"/>
            <a:ext cx="2560320" cy="2331720"/>
          </a:xfrm>
          <a:prstGeom prst="roundRect">
            <a:avLst>
              <a:gd name="adj" fmla="val 2353"/>
            </a:avLst>
          </a:prstGeom>
          <a:solidFill>
            <a:srgbClr val="FFFFFF"/>
          </a:solidFill>
          <a:ln w="12700">
            <a:solidFill>
              <a:srgbClr val="D9E4E4"/>
            </a:solidFill>
            <a:prstDash val="solid"/>
          </a:ln>
          <a:effectLst>
            <a:outerShdw sx="100000" sy="100000" kx="0" ky="0" algn="bl" rotWithShape="0" blurRad="177800" dist="38100" dir="5400000">
              <a:srgbClr val="0B2026">
                <a:alpha val="10000"/>
              </a:srgbClr>
            </a:outerShdw>
          </a:effectLst>
        </p:spPr>
      </p:sp>
      <p:sp>
        <p:nvSpPr>
          <p:cNvPr id="5" name="Shape 3"/>
          <p:cNvSpPr/>
          <p:nvPr/>
        </p:nvSpPr>
        <p:spPr>
          <a:xfrm>
            <a:off x="896112" y="1993392"/>
            <a:ext cx="420624" cy="420624"/>
          </a:xfrm>
          <a:prstGeom prst="ellipse">
            <a:avLst/>
          </a:prstGeom>
          <a:solidFill>
            <a:srgbClr val="0E7C7B"/>
          </a:solidFill>
          <a:ln/>
        </p:spPr>
      </p:sp>
      <p:sp>
        <p:nvSpPr>
          <p:cNvPr id="6" name="Text 4"/>
          <p:cNvSpPr/>
          <p:nvPr/>
        </p:nvSpPr>
        <p:spPr>
          <a:xfrm>
            <a:off x="896112" y="199339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p:nvPr/>
        </p:nvSpPr>
        <p:spPr>
          <a:xfrm>
            <a:off x="896112" y="2542032"/>
            <a:ext cx="2057400" cy="292608"/>
          </a:xfrm>
          <a:prstGeom prst="rect">
            <a:avLst/>
          </a:prstGeom>
          <a:noFill/>
          <a:ln/>
        </p:spPr>
        <p:txBody>
          <a:bodyPr wrap="square" lIns="0" tIns="0" rIns="0" bIns="0" rtlCol="0" anchor="ctr"/>
          <a:lstStyle/>
          <a:p>
            <a:pPr indent="0" marL="0">
              <a:buNone/>
            </a:pPr>
            <a:r>
              <a:rPr lang="en-US" sz="1450" b="1" dirty="0">
                <a:solidFill>
                  <a:srgbClr val="102A33"/>
                </a:solidFill>
                <a:latin typeface="Meiryo" pitchFamily="34" charset="0"/>
                <a:ea typeface="Meiryo" pitchFamily="34" charset="-122"/>
                <a:cs typeface="Meiryo" pitchFamily="34" charset="-120"/>
              </a:rPr>
              <a:t>読み替える</a:t>
            </a:r>
            <a:endParaRPr lang="en-US" sz="1450" dirty="0"/>
          </a:p>
        </p:txBody>
      </p:sp>
      <p:sp>
        <p:nvSpPr>
          <p:cNvPr id="8" name="Text 6"/>
          <p:cNvSpPr/>
          <p:nvPr/>
        </p:nvSpPr>
        <p:spPr>
          <a:xfrm>
            <a:off x="896112" y="2889504"/>
            <a:ext cx="2084832" cy="1005840"/>
          </a:xfrm>
          <a:prstGeom prst="rect">
            <a:avLst/>
          </a:prstGeom>
          <a:noFill/>
          <a:ln/>
        </p:spPr>
        <p:txBody>
          <a:bodyPr wrap="square" lIns="0" tIns="0" rIns="0" bIns="0" rtlCol="0" anchor="ctr"/>
          <a:lstStyle/>
          <a:p>
            <a:pPr indent="0" marL="0">
              <a:lnSpc>
                <a:spcPct val="130000"/>
              </a:lnSpc>
              <a:buNone/>
            </a:pPr>
            <a:r>
              <a:rPr lang="en-US" sz="1050" dirty="0">
                <a:solidFill>
                  <a:srgbClr val="60757C"/>
                </a:solidFill>
                <a:latin typeface="Meiryo" pitchFamily="34" charset="0"/>
                <a:ea typeface="Meiryo" pitchFamily="34" charset="-122"/>
                <a:cs typeface="Meiryo" pitchFamily="34" charset="-120"/>
              </a:rPr>
              <a:t>マッピング表でSAPの保管場所名を倉庫名に変換。表に無い名前は元のまま使う。</a:t>
            </a:r>
            <a:endParaRPr lang="en-US" sz="1050" dirty="0"/>
          </a:p>
        </p:txBody>
      </p:sp>
      <p:sp>
        <p:nvSpPr>
          <p:cNvPr id="9" name="Shape 7"/>
          <p:cNvSpPr/>
          <p:nvPr/>
        </p:nvSpPr>
        <p:spPr>
          <a:xfrm>
            <a:off x="3474720" y="1737360"/>
            <a:ext cx="2560320" cy="2331720"/>
          </a:xfrm>
          <a:prstGeom prst="roundRect">
            <a:avLst>
              <a:gd name="adj" fmla="val 2353"/>
            </a:avLst>
          </a:prstGeom>
          <a:solidFill>
            <a:srgbClr val="FFFFFF"/>
          </a:solidFill>
          <a:ln w="12700">
            <a:solidFill>
              <a:srgbClr val="D9E4E4"/>
            </a:solidFill>
            <a:prstDash val="solid"/>
          </a:ln>
          <a:effectLst>
            <a:outerShdw sx="100000" sy="100000" kx="0" ky="0" algn="bl" rotWithShape="0" blurRad="177800" dist="38100" dir="5400000">
              <a:srgbClr val="0B2026">
                <a:alpha val="10000"/>
              </a:srgbClr>
            </a:outerShdw>
          </a:effectLst>
        </p:spPr>
      </p:sp>
      <p:sp>
        <p:nvSpPr>
          <p:cNvPr id="10" name="Shape 8"/>
          <p:cNvSpPr/>
          <p:nvPr/>
        </p:nvSpPr>
        <p:spPr>
          <a:xfrm>
            <a:off x="3730752" y="1993392"/>
            <a:ext cx="420624" cy="420624"/>
          </a:xfrm>
          <a:prstGeom prst="ellipse">
            <a:avLst/>
          </a:prstGeom>
          <a:solidFill>
            <a:srgbClr val="0E7C7B"/>
          </a:solidFill>
          <a:ln/>
        </p:spPr>
      </p:sp>
      <p:sp>
        <p:nvSpPr>
          <p:cNvPr id="11" name="Text 9"/>
          <p:cNvSpPr/>
          <p:nvPr/>
        </p:nvSpPr>
        <p:spPr>
          <a:xfrm>
            <a:off x="3730752" y="199339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2" name="Text 10"/>
          <p:cNvSpPr/>
          <p:nvPr/>
        </p:nvSpPr>
        <p:spPr>
          <a:xfrm>
            <a:off x="3730752" y="2542032"/>
            <a:ext cx="2057400" cy="292608"/>
          </a:xfrm>
          <a:prstGeom prst="rect">
            <a:avLst/>
          </a:prstGeom>
          <a:noFill/>
          <a:ln/>
        </p:spPr>
        <p:txBody>
          <a:bodyPr wrap="square" lIns="0" tIns="0" rIns="0" bIns="0" rtlCol="0" anchor="ctr"/>
          <a:lstStyle/>
          <a:p>
            <a:pPr indent="0" marL="0">
              <a:buNone/>
            </a:pPr>
            <a:r>
              <a:rPr lang="en-US" sz="1450" b="1" dirty="0">
                <a:solidFill>
                  <a:srgbClr val="102A33"/>
                </a:solidFill>
                <a:latin typeface="Meiryo" pitchFamily="34" charset="0"/>
                <a:ea typeface="Meiryo" pitchFamily="34" charset="-122"/>
                <a:cs typeface="Meiryo" pitchFamily="34" charset="-120"/>
              </a:rPr>
              <a:t>サマる</a:t>
            </a:r>
            <a:endParaRPr lang="en-US" sz="1450" dirty="0"/>
          </a:p>
        </p:txBody>
      </p:sp>
      <p:sp>
        <p:nvSpPr>
          <p:cNvPr id="13" name="Text 11"/>
          <p:cNvSpPr/>
          <p:nvPr/>
        </p:nvSpPr>
        <p:spPr>
          <a:xfrm>
            <a:off x="3730752" y="2889504"/>
            <a:ext cx="2084832" cy="1005840"/>
          </a:xfrm>
          <a:prstGeom prst="rect">
            <a:avLst/>
          </a:prstGeom>
          <a:noFill/>
          <a:ln/>
        </p:spPr>
        <p:txBody>
          <a:bodyPr wrap="square" lIns="0" tIns="0" rIns="0" bIns="0" rtlCol="0" anchor="ctr"/>
          <a:lstStyle/>
          <a:p>
            <a:pPr indent="0" marL="0">
              <a:lnSpc>
                <a:spcPct val="130000"/>
              </a:lnSpc>
              <a:buNone/>
            </a:pPr>
            <a:r>
              <a:rPr lang="en-US" sz="1050" dirty="0">
                <a:solidFill>
                  <a:srgbClr val="60757C"/>
                </a:solidFill>
                <a:latin typeface="Meiryo" pitchFamily="34" charset="0"/>
                <a:ea typeface="Meiryo" pitchFamily="34" charset="-122"/>
                <a:cs typeface="Meiryo" pitchFamily="34" charset="-120"/>
              </a:rPr>
              <a:t>同じ倉庫・同じ型式の明細を合計する。何行分を合計したかも記録する。</a:t>
            </a:r>
            <a:endParaRPr lang="en-US" sz="1050" dirty="0"/>
          </a:p>
        </p:txBody>
      </p:sp>
      <p:sp>
        <p:nvSpPr>
          <p:cNvPr id="14" name="Shape 12"/>
          <p:cNvSpPr/>
          <p:nvPr/>
        </p:nvSpPr>
        <p:spPr>
          <a:xfrm>
            <a:off x="6309360" y="1737360"/>
            <a:ext cx="2560320" cy="2331720"/>
          </a:xfrm>
          <a:prstGeom prst="roundRect">
            <a:avLst>
              <a:gd name="adj" fmla="val 2353"/>
            </a:avLst>
          </a:prstGeom>
          <a:solidFill>
            <a:srgbClr val="FFFFFF"/>
          </a:solidFill>
          <a:ln w="12700">
            <a:solidFill>
              <a:srgbClr val="D9E4E4"/>
            </a:solidFill>
            <a:prstDash val="solid"/>
          </a:ln>
          <a:effectLst>
            <a:outerShdw sx="100000" sy="100000" kx="0" ky="0" algn="bl" rotWithShape="0" blurRad="177800" dist="38100" dir="5400000">
              <a:srgbClr val="0B2026">
                <a:alpha val="10000"/>
              </a:srgbClr>
            </a:outerShdw>
          </a:effectLst>
        </p:spPr>
      </p:sp>
      <p:sp>
        <p:nvSpPr>
          <p:cNvPr id="15" name="Shape 13"/>
          <p:cNvSpPr/>
          <p:nvPr/>
        </p:nvSpPr>
        <p:spPr>
          <a:xfrm>
            <a:off x="6565392" y="1993392"/>
            <a:ext cx="420624" cy="420624"/>
          </a:xfrm>
          <a:prstGeom prst="ellipse">
            <a:avLst/>
          </a:prstGeom>
          <a:solidFill>
            <a:srgbClr val="0E7C7B"/>
          </a:solidFill>
          <a:ln/>
        </p:spPr>
      </p:sp>
      <p:sp>
        <p:nvSpPr>
          <p:cNvPr id="16" name="Text 14"/>
          <p:cNvSpPr/>
          <p:nvPr/>
        </p:nvSpPr>
        <p:spPr>
          <a:xfrm>
            <a:off x="6565392" y="199339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7" name="Text 15"/>
          <p:cNvSpPr/>
          <p:nvPr/>
        </p:nvSpPr>
        <p:spPr>
          <a:xfrm>
            <a:off x="6565392" y="2542032"/>
            <a:ext cx="2057400" cy="292608"/>
          </a:xfrm>
          <a:prstGeom prst="rect">
            <a:avLst/>
          </a:prstGeom>
          <a:noFill/>
          <a:ln/>
        </p:spPr>
        <p:txBody>
          <a:bodyPr wrap="square" lIns="0" tIns="0" rIns="0" bIns="0" rtlCol="0" anchor="ctr"/>
          <a:lstStyle/>
          <a:p>
            <a:pPr indent="0" marL="0">
              <a:buNone/>
            </a:pPr>
            <a:r>
              <a:rPr lang="en-US" sz="1450" b="1" dirty="0">
                <a:solidFill>
                  <a:srgbClr val="102A33"/>
                </a:solidFill>
                <a:latin typeface="Meiryo" pitchFamily="34" charset="0"/>
                <a:ea typeface="Meiryo" pitchFamily="34" charset="-122"/>
                <a:cs typeface="Meiryo" pitchFamily="34" charset="-120"/>
              </a:rPr>
              <a:t>対象を絞る</a:t>
            </a:r>
            <a:endParaRPr lang="en-US" sz="1450" dirty="0"/>
          </a:p>
        </p:txBody>
      </p:sp>
      <p:sp>
        <p:nvSpPr>
          <p:cNvPr id="18" name="Text 16"/>
          <p:cNvSpPr/>
          <p:nvPr/>
        </p:nvSpPr>
        <p:spPr>
          <a:xfrm>
            <a:off x="6565392" y="2889504"/>
            <a:ext cx="2084832" cy="1005840"/>
          </a:xfrm>
          <a:prstGeom prst="rect">
            <a:avLst/>
          </a:prstGeom>
          <a:noFill/>
          <a:ln/>
        </p:spPr>
        <p:txBody>
          <a:bodyPr wrap="square" lIns="0" tIns="0" rIns="0" bIns="0" rtlCol="0" anchor="ctr"/>
          <a:lstStyle/>
          <a:p>
            <a:pPr indent="0" marL="0">
              <a:lnSpc>
                <a:spcPct val="130000"/>
              </a:lnSpc>
              <a:buNone/>
            </a:pPr>
            <a:r>
              <a:rPr lang="en-US" sz="1050" dirty="0">
                <a:solidFill>
                  <a:srgbClr val="60757C"/>
                </a:solidFill>
                <a:latin typeface="Meiryo" pitchFamily="34" charset="0"/>
                <a:ea typeface="Meiryo" pitchFamily="34" charset="-122"/>
                <a:cs typeface="Meiryo" pitchFamily="34" charset="-120"/>
              </a:rPr>
              <a:t>預り書にある倉庫だけに限定。対象外にしたものは件数付きで別表示する。</a:t>
            </a:r>
            <a:endParaRPr lang="en-US" sz="1050" dirty="0"/>
          </a:p>
        </p:txBody>
      </p:sp>
      <p:sp>
        <p:nvSpPr>
          <p:cNvPr id="19" name="Shape 17"/>
          <p:cNvSpPr/>
          <p:nvPr/>
        </p:nvSpPr>
        <p:spPr>
          <a:xfrm>
            <a:off x="9144000" y="1737360"/>
            <a:ext cx="2560320" cy="2331720"/>
          </a:xfrm>
          <a:prstGeom prst="roundRect">
            <a:avLst>
              <a:gd name="adj" fmla="val 2353"/>
            </a:avLst>
          </a:prstGeom>
          <a:solidFill>
            <a:srgbClr val="FFFFFF"/>
          </a:solidFill>
          <a:ln w="12700">
            <a:solidFill>
              <a:srgbClr val="D9E4E4"/>
            </a:solidFill>
            <a:prstDash val="solid"/>
          </a:ln>
          <a:effectLst>
            <a:outerShdw sx="100000" sy="100000" kx="0" ky="0" algn="bl" rotWithShape="0" blurRad="177800" dist="38100" dir="5400000">
              <a:srgbClr val="0B2026">
                <a:alpha val="10000"/>
              </a:srgbClr>
            </a:outerShdw>
          </a:effectLst>
        </p:spPr>
      </p:sp>
      <p:sp>
        <p:nvSpPr>
          <p:cNvPr id="20" name="Shape 18"/>
          <p:cNvSpPr/>
          <p:nvPr/>
        </p:nvSpPr>
        <p:spPr>
          <a:xfrm>
            <a:off x="9400032" y="1993392"/>
            <a:ext cx="420624" cy="420624"/>
          </a:xfrm>
          <a:prstGeom prst="ellipse">
            <a:avLst/>
          </a:prstGeom>
          <a:solidFill>
            <a:srgbClr val="0E7C7B"/>
          </a:solidFill>
          <a:ln/>
        </p:spPr>
      </p:sp>
      <p:sp>
        <p:nvSpPr>
          <p:cNvPr id="21" name="Text 19"/>
          <p:cNvSpPr/>
          <p:nvPr/>
        </p:nvSpPr>
        <p:spPr>
          <a:xfrm>
            <a:off x="9400032" y="199339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22" name="Text 20"/>
          <p:cNvSpPr/>
          <p:nvPr/>
        </p:nvSpPr>
        <p:spPr>
          <a:xfrm>
            <a:off x="9400032" y="2542032"/>
            <a:ext cx="2057400" cy="292608"/>
          </a:xfrm>
          <a:prstGeom prst="rect">
            <a:avLst/>
          </a:prstGeom>
          <a:noFill/>
          <a:ln/>
        </p:spPr>
        <p:txBody>
          <a:bodyPr wrap="square" lIns="0" tIns="0" rIns="0" bIns="0" rtlCol="0" anchor="ctr"/>
          <a:lstStyle/>
          <a:p>
            <a:pPr indent="0" marL="0">
              <a:buNone/>
            </a:pPr>
            <a:r>
              <a:rPr lang="en-US" sz="1450" b="1" dirty="0">
                <a:solidFill>
                  <a:srgbClr val="102A33"/>
                </a:solidFill>
                <a:latin typeface="Meiryo" pitchFamily="34" charset="0"/>
                <a:ea typeface="Meiryo" pitchFamily="34" charset="-122"/>
                <a:cs typeface="Meiryo" pitchFamily="34" charset="-120"/>
              </a:rPr>
              <a:t>突き合わせる</a:t>
            </a:r>
            <a:endParaRPr lang="en-US" sz="1450" dirty="0"/>
          </a:p>
        </p:txBody>
      </p:sp>
      <p:sp>
        <p:nvSpPr>
          <p:cNvPr id="23" name="Text 21"/>
          <p:cNvSpPr/>
          <p:nvPr/>
        </p:nvSpPr>
        <p:spPr>
          <a:xfrm>
            <a:off x="9400032" y="2889504"/>
            <a:ext cx="2084832" cy="1005840"/>
          </a:xfrm>
          <a:prstGeom prst="rect">
            <a:avLst/>
          </a:prstGeom>
          <a:noFill/>
          <a:ln/>
        </p:spPr>
        <p:txBody>
          <a:bodyPr wrap="square" lIns="0" tIns="0" rIns="0" bIns="0" rtlCol="0" anchor="ctr"/>
          <a:lstStyle/>
          <a:p>
            <a:pPr indent="0" marL="0">
              <a:lnSpc>
                <a:spcPct val="130000"/>
              </a:lnSpc>
              <a:buNone/>
            </a:pPr>
            <a:r>
              <a:rPr lang="en-US" sz="1050" dirty="0">
                <a:solidFill>
                  <a:srgbClr val="60757C"/>
                </a:solidFill>
                <a:latin typeface="Meiryo" pitchFamily="34" charset="0"/>
                <a:ea typeface="Meiryo" pitchFamily="34" charset="-122"/>
                <a:cs typeface="Meiryo" pitchFamily="34" charset="-120"/>
              </a:rPr>
              <a:t>倉庫×型式で照合し、4つの判定を付ける。差異が上に来るよう並べる。</a:t>
            </a:r>
            <a:endParaRPr lang="en-US" sz="1050" dirty="0"/>
          </a:p>
        </p:txBody>
      </p:sp>
      <p:sp>
        <p:nvSpPr>
          <p:cNvPr id="24" name="Text 22"/>
          <p:cNvSpPr/>
          <p:nvPr/>
        </p:nvSpPr>
        <p:spPr>
          <a:xfrm>
            <a:off x="640080" y="4315968"/>
            <a:ext cx="10881360" cy="292608"/>
          </a:xfrm>
          <a:prstGeom prst="rect">
            <a:avLst/>
          </a:prstGeom>
          <a:noFill/>
          <a:ln/>
        </p:spPr>
        <p:txBody>
          <a:bodyPr wrap="square" lIns="0" tIns="0" rIns="0" bIns="0" rtlCol="0" anchor="ctr"/>
          <a:lstStyle/>
          <a:p>
            <a:pPr indent="0" marL="0">
              <a:buNone/>
            </a:pPr>
            <a:r>
              <a:rPr lang="en-US" sz="1300" b="1" dirty="0">
                <a:solidFill>
                  <a:srgbClr val="102A33"/>
                </a:solidFill>
                <a:latin typeface="Meiryo" pitchFamily="34" charset="0"/>
                <a:ea typeface="Meiryo" pitchFamily="34" charset="-122"/>
                <a:cs typeface="Meiryo" pitchFamily="34" charset="-120"/>
              </a:rPr>
              <a:t>突き合わせた結果は、4つに分類される</a:t>
            </a:r>
            <a:endParaRPr lang="en-US" sz="1300" dirty="0"/>
          </a:p>
        </p:txBody>
      </p:sp>
      <p:sp>
        <p:nvSpPr>
          <p:cNvPr id="25" name="Shape 23"/>
          <p:cNvSpPr/>
          <p:nvPr/>
        </p:nvSpPr>
        <p:spPr>
          <a:xfrm>
            <a:off x="640080" y="4754880"/>
            <a:ext cx="2560320" cy="1051560"/>
          </a:xfrm>
          <a:prstGeom prst="roundRect">
            <a:avLst>
              <a:gd name="adj" fmla="val 5217"/>
            </a:avLst>
          </a:prstGeom>
          <a:solidFill>
            <a:srgbClr val="FBEDE9"/>
          </a:solidFill>
          <a:ln/>
        </p:spPr>
      </p:sp>
      <p:sp>
        <p:nvSpPr>
          <p:cNvPr id="26" name="Text 24"/>
          <p:cNvSpPr/>
          <p:nvPr/>
        </p:nvSpPr>
        <p:spPr>
          <a:xfrm>
            <a:off x="896112" y="4937760"/>
            <a:ext cx="2103120" cy="292608"/>
          </a:xfrm>
          <a:prstGeom prst="rect">
            <a:avLst/>
          </a:prstGeom>
          <a:noFill/>
          <a:ln/>
        </p:spPr>
        <p:txBody>
          <a:bodyPr wrap="square" lIns="0" tIns="0" rIns="0" bIns="0" rtlCol="0" anchor="ctr"/>
          <a:lstStyle/>
          <a:p>
            <a:pPr indent="0" marL="0">
              <a:buNone/>
            </a:pPr>
            <a:r>
              <a:rPr lang="en-US" sz="1400" b="1" dirty="0">
                <a:solidFill>
                  <a:srgbClr val="B5533C"/>
                </a:solidFill>
                <a:latin typeface="Meiryo" pitchFamily="34" charset="0"/>
                <a:ea typeface="Meiryo" pitchFamily="34" charset="-122"/>
                <a:cs typeface="Meiryo" pitchFamily="34" charset="-120"/>
              </a:rPr>
              <a:t>預り書のみ</a:t>
            </a:r>
            <a:endParaRPr lang="en-US" sz="1400" dirty="0"/>
          </a:p>
        </p:txBody>
      </p:sp>
      <p:sp>
        <p:nvSpPr>
          <p:cNvPr id="27" name="Text 25"/>
          <p:cNvSpPr/>
          <p:nvPr/>
        </p:nvSpPr>
        <p:spPr>
          <a:xfrm>
            <a:off x="896112" y="5266944"/>
            <a:ext cx="2148840" cy="274320"/>
          </a:xfrm>
          <a:prstGeom prst="rect">
            <a:avLst/>
          </a:prstGeom>
          <a:noFill/>
          <a:ln/>
        </p:spPr>
        <p:txBody>
          <a:bodyPr wrap="square" lIns="0" tIns="0" rIns="0" bIns="0" rtlCol="0" anchor="ctr"/>
          <a:lstStyle/>
          <a:p>
            <a:pPr indent="0" marL="0">
              <a:buNone/>
            </a:pPr>
            <a:r>
              <a:rPr lang="en-US" sz="1000" dirty="0">
                <a:solidFill>
                  <a:srgbClr val="17282E"/>
                </a:solidFill>
                <a:latin typeface="Meiryo" pitchFamily="34" charset="0"/>
                <a:ea typeface="Meiryo" pitchFamily="34" charset="-122"/>
                <a:cs typeface="Meiryo" pitchFamily="34" charset="-120"/>
              </a:rPr>
              <a:t>現物はあるがSAPに無い</a:t>
            </a:r>
            <a:endParaRPr lang="en-US" sz="1000" dirty="0"/>
          </a:p>
        </p:txBody>
      </p:sp>
      <p:sp>
        <p:nvSpPr>
          <p:cNvPr id="28" name="Shape 26"/>
          <p:cNvSpPr/>
          <p:nvPr/>
        </p:nvSpPr>
        <p:spPr>
          <a:xfrm>
            <a:off x="3474720" y="4754880"/>
            <a:ext cx="2560320" cy="1051560"/>
          </a:xfrm>
          <a:prstGeom prst="roundRect">
            <a:avLst>
              <a:gd name="adj" fmla="val 5217"/>
            </a:avLst>
          </a:prstGeom>
          <a:solidFill>
            <a:srgbClr val="F0EBF8"/>
          </a:solidFill>
          <a:ln/>
        </p:spPr>
      </p:sp>
      <p:sp>
        <p:nvSpPr>
          <p:cNvPr id="29" name="Text 27"/>
          <p:cNvSpPr/>
          <p:nvPr/>
        </p:nvSpPr>
        <p:spPr>
          <a:xfrm>
            <a:off x="3730752" y="4937760"/>
            <a:ext cx="2103120" cy="292608"/>
          </a:xfrm>
          <a:prstGeom prst="rect">
            <a:avLst/>
          </a:prstGeom>
          <a:noFill/>
          <a:ln/>
        </p:spPr>
        <p:txBody>
          <a:bodyPr wrap="square" lIns="0" tIns="0" rIns="0" bIns="0" rtlCol="0" anchor="ctr"/>
          <a:lstStyle/>
          <a:p>
            <a:pPr indent="0" marL="0">
              <a:buNone/>
            </a:pPr>
            <a:r>
              <a:rPr lang="en-US" sz="1400" b="1" dirty="0">
                <a:solidFill>
                  <a:srgbClr val="6D4C9F"/>
                </a:solidFill>
                <a:latin typeface="Meiryo" pitchFamily="34" charset="0"/>
                <a:ea typeface="Meiryo" pitchFamily="34" charset="-122"/>
                <a:cs typeface="Meiryo" pitchFamily="34" charset="-120"/>
              </a:rPr>
              <a:t>SAPのみ</a:t>
            </a:r>
            <a:endParaRPr lang="en-US" sz="1400" dirty="0"/>
          </a:p>
        </p:txBody>
      </p:sp>
      <p:sp>
        <p:nvSpPr>
          <p:cNvPr id="30" name="Text 28"/>
          <p:cNvSpPr/>
          <p:nvPr/>
        </p:nvSpPr>
        <p:spPr>
          <a:xfrm>
            <a:off x="3730752" y="5266944"/>
            <a:ext cx="2148840" cy="274320"/>
          </a:xfrm>
          <a:prstGeom prst="rect">
            <a:avLst/>
          </a:prstGeom>
          <a:noFill/>
          <a:ln/>
        </p:spPr>
        <p:txBody>
          <a:bodyPr wrap="square" lIns="0" tIns="0" rIns="0" bIns="0" rtlCol="0" anchor="ctr"/>
          <a:lstStyle/>
          <a:p>
            <a:pPr indent="0" marL="0">
              <a:buNone/>
            </a:pPr>
            <a:r>
              <a:rPr lang="en-US" sz="1000" dirty="0">
                <a:solidFill>
                  <a:srgbClr val="17282E"/>
                </a:solidFill>
                <a:latin typeface="Meiryo" pitchFamily="34" charset="0"/>
                <a:ea typeface="Meiryo" pitchFamily="34" charset="-122"/>
                <a:cs typeface="Meiryo" pitchFamily="34" charset="-120"/>
              </a:rPr>
              <a:t>SAPにあるが現物が無い</a:t>
            </a:r>
            <a:endParaRPr lang="en-US" sz="1000" dirty="0"/>
          </a:p>
        </p:txBody>
      </p:sp>
      <p:sp>
        <p:nvSpPr>
          <p:cNvPr id="31" name="Shape 29"/>
          <p:cNvSpPr/>
          <p:nvPr/>
        </p:nvSpPr>
        <p:spPr>
          <a:xfrm>
            <a:off x="6309360" y="4754880"/>
            <a:ext cx="2560320" cy="1051560"/>
          </a:xfrm>
          <a:prstGeom prst="roundRect">
            <a:avLst>
              <a:gd name="adj" fmla="val 5217"/>
            </a:avLst>
          </a:prstGeom>
          <a:solidFill>
            <a:srgbClr val="FBF1E3"/>
          </a:solidFill>
          <a:ln/>
        </p:spPr>
      </p:sp>
      <p:sp>
        <p:nvSpPr>
          <p:cNvPr id="32" name="Text 30"/>
          <p:cNvSpPr/>
          <p:nvPr/>
        </p:nvSpPr>
        <p:spPr>
          <a:xfrm>
            <a:off x="6565392" y="4937760"/>
            <a:ext cx="2103120" cy="292608"/>
          </a:xfrm>
          <a:prstGeom prst="rect">
            <a:avLst/>
          </a:prstGeom>
          <a:noFill/>
          <a:ln/>
        </p:spPr>
        <p:txBody>
          <a:bodyPr wrap="square" lIns="0" tIns="0" rIns="0" bIns="0" rtlCol="0" anchor="ctr"/>
          <a:lstStyle/>
          <a:p>
            <a:pPr indent="0" marL="0">
              <a:buNone/>
            </a:pPr>
            <a:r>
              <a:rPr lang="en-US" sz="1400" b="1" dirty="0">
                <a:solidFill>
                  <a:srgbClr val="C77D22"/>
                </a:solidFill>
                <a:latin typeface="Meiryo" pitchFamily="34" charset="0"/>
                <a:ea typeface="Meiryo" pitchFamily="34" charset="-122"/>
                <a:cs typeface="Meiryo" pitchFamily="34" charset="-120"/>
              </a:rPr>
              <a:t>差異</a:t>
            </a:r>
            <a:endParaRPr lang="en-US" sz="1400" dirty="0"/>
          </a:p>
        </p:txBody>
      </p:sp>
      <p:sp>
        <p:nvSpPr>
          <p:cNvPr id="33" name="Text 31"/>
          <p:cNvSpPr/>
          <p:nvPr/>
        </p:nvSpPr>
        <p:spPr>
          <a:xfrm>
            <a:off x="6565392" y="5266944"/>
            <a:ext cx="2148840" cy="274320"/>
          </a:xfrm>
          <a:prstGeom prst="rect">
            <a:avLst/>
          </a:prstGeom>
          <a:noFill/>
          <a:ln/>
        </p:spPr>
        <p:txBody>
          <a:bodyPr wrap="square" lIns="0" tIns="0" rIns="0" bIns="0" rtlCol="0" anchor="ctr"/>
          <a:lstStyle/>
          <a:p>
            <a:pPr indent="0" marL="0">
              <a:buNone/>
            </a:pPr>
            <a:r>
              <a:rPr lang="en-US" sz="1000" dirty="0">
                <a:solidFill>
                  <a:srgbClr val="17282E"/>
                </a:solidFill>
                <a:latin typeface="Meiryo" pitchFamily="34" charset="0"/>
                <a:ea typeface="Meiryo" pitchFamily="34" charset="-122"/>
                <a:cs typeface="Meiryo" pitchFamily="34" charset="-120"/>
              </a:rPr>
              <a:t>両方にあるが数量が違う</a:t>
            </a:r>
            <a:endParaRPr lang="en-US" sz="1000" dirty="0"/>
          </a:p>
        </p:txBody>
      </p:sp>
      <p:sp>
        <p:nvSpPr>
          <p:cNvPr id="34" name="Shape 32"/>
          <p:cNvSpPr/>
          <p:nvPr/>
        </p:nvSpPr>
        <p:spPr>
          <a:xfrm>
            <a:off x="9144000" y="4754880"/>
            <a:ext cx="2560320" cy="1051560"/>
          </a:xfrm>
          <a:prstGeom prst="roundRect">
            <a:avLst>
              <a:gd name="adj" fmla="val 5217"/>
            </a:avLst>
          </a:prstGeom>
          <a:solidFill>
            <a:srgbClr val="E3F0EF"/>
          </a:solidFill>
          <a:ln/>
        </p:spPr>
      </p:sp>
      <p:sp>
        <p:nvSpPr>
          <p:cNvPr id="35" name="Text 33"/>
          <p:cNvSpPr/>
          <p:nvPr/>
        </p:nvSpPr>
        <p:spPr>
          <a:xfrm>
            <a:off x="9400032" y="4937760"/>
            <a:ext cx="2103120" cy="292608"/>
          </a:xfrm>
          <a:prstGeom prst="rect">
            <a:avLst/>
          </a:prstGeom>
          <a:noFill/>
          <a:ln/>
        </p:spPr>
        <p:txBody>
          <a:bodyPr wrap="square" lIns="0" tIns="0" rIns="0" bIns="0" rtlCol="0" anchor="ctr"/>
          <a:lstStyle/>
          <a:p>
            <a:pPr indent="0" marL="0">
              <a:buNone/>
            </a:pPr>
            <a:r>
              <a:rPr lang="en-US" sz="1400" b="1" dirty="0">
                <a:solidFill>
                  <a:srgbClr val="0A5F5E"/>
                </a:solidFill>
                <a:latin typeface="Meiryo" pitchFamily="34" charset="0"/>
                <a:ea typeface="Meiryo" pitchFamily="34" charset="-122"/>
                <a:cs typeface="Meiryo" pitchFamily="34" charset="-120"/>
              </a:rPr>
              <a:t>一致</a:t>
            </a:r>
            <a:endParaRPr lang="en-US" sz="1400" dirty="0"/>
          </a:p>
        </p:txBody>
      </p:sp>
      <p:sp>
        <p:nvSpPr>
          <p:cNvPr id="36" name="Text 34"/>
          <p:cNvSpPr/>
          <p:nvPr/>
        </p:nvSpPr>
        <p:spPr>
          <a:xfrm>
            <a:off x="9400032" y="5266944"/>
            <a:ext cx="2148840" cy="274320"/>
          </a:xfrm>
          <a:prstGeom prst="rect">
            <a:avLst/>
          </a:prstGeom>
          <a:noFill/>
          <a:ln/>
        </p:spPr>
        <p:txBody>
          <a:bodyPr wrap="square" lIns="0" tIns="0" rIns="0" bIns="0" rtlCol="0" anchor="ctr"/>
          <a:lstStyle/>
          <a:p>
            <a:pPr indent="0" marL="0">
              <a:buNone/>
            </a:pPr>
            <a:r>
              <a:rPr lang="en-US" sz="1000" dirty="0">
                <a:solidFill>
                  <a:srgbClr val="17282E"/>
                </a:solidFill>
                <a:latin typeface="Meiryo" pitchFamily="34" charset="0"/>
                <a:ea typeface="Meiryo" pitchFamily="34" charset="-122"/>
                <a:cs typeface="Meiryo" pitchFamily="34" charset="-120"/>
              </a:rPr>
              <a:t>数量まで一致している</a:t>
            </a:r>
            <a:endParaRPr lang="en-US" sz="1000" dirty="0"/>
          </a:p>
        </p:txBody>
      </p:sp>
      <p:sp>
        <p:nvSpPr>
          <p:cNvPr id="37" name="Text 35"/>
          <p:cNvSpPr/>
          <p:nvPr/>
        </p:nvSpPr>
        <p:spPr>
          <a:xfrm>
            <a:off x="11430000" y="6355080"/>
            <a:ext cx="457200" cy="274320"/>
          </a:xfrm>
          <a:prstGeom prst="rect">
            <a:avLst/>
          </a:prstGeom>
          <a:noFill/>
          <a:ln/>
        </p:spPr>
        <p:txBody>
          <a:bodyPr wrap="square" lIns="0" tIns="0" rIns="0" bIns="0" rtlCol="0" anchor="ctr"/>
          <a:lstStyle/>
          <a:p>
            <a:pPr algn="r" indent="0" marL="0">
              <a:buNone/>
            </a:pPr>
            <a:r>
              <a:rPr lang="en-US" sz="1000" dirty="0">
                <a:solidFill>
                  <a:srgbClr val="60757C"/>
                </a:solidFill>
                <a:latin typeface="Arial" pitchFamily="34" charset="0"/>
                <a:ea typeface="Arial" pitchFamily="34" charset="-122"/>
                <a:cs typeface="Arial"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20624"/>
            <a:ext cx="10881360" cy="566928"/>
          </a:xfrm>
          <a:prstGeom prst="rect">
            <a:avLst/>
          </a:prstGeom>
          <a:noFill/>
          <a:ln/>
        </p:spPr>
        <p:txBody>
          <a:bodyPr wrap="square" lIns="0" tIns="0" rIns="0" bIns="0" rtlCol="0" anchor="ctr"/>
          <a:lstStyle/>
          <a:p>
            <a:pPr indent="0" marL="0">
              <a:buNone/>
            </a:pPr>
            <a:r>
              <a:rPr lang="en-US" sz="3000" b="1" dirty="0">
                <a:solidFill>
                  <a:srgbClr val="102A33"/>
                </a:solidFill>
                <a:latin typeface="Meiryo" pitchFamily="34" charset="0"/>
                <a:ea typeface="Meiryo" pitchFamily="34" charset="-122"/>
                <a:cs typeface="Meiryo" pitchFamily="34" charset="-120"/>
              </a:rPr>
              <a:t>効果①：作業時間 ― 半日が5分に</a:t>
            </a:r>
            <a:endParaRPr lang="en-US" sz="3000" dirty="0"/>
          </a:p>
        </p:txBody>
      </p:sp>
      <p:sp>
        <p:nvSpPr>
          <p:cNvPr id="3" name="Text 1"/>
          <p:cNvSpPr/>
          <p:nvPr/>
        </p:nvSpPr>
        <p:spPr>
          <a:xfrm>
            <a:off x="640080" y="1042416"/>
            <a:ext cx="10881360" cy="384048"/>
          </a:xfrm>
          <a:prstGeom prst="rect">
            <a:avLst/>
          </a:prstGeom>
          <a:noFill/>
          <a:ln/>
        </p:spPr>
        <p:txBody>
          <a:bodyPr wrap="square" lIns="0" tIns="0" rIns="0" bIns="0" rtlCol="0" anchor="ctr"/>
          <a:lstStyle/>
          <a:p>
            <a:pPr indent="0" marL="0">
              <a:buNone/>
            </a:pPr>
            <a:r>
              <a:rPr lang="en-US" sz="1350" dirty="0">
                <a:solidFill>
                  <a:srgbClr val="60757C"/>
                </a:solidFill>
                <a:latin typeface="Meiryo" pitchFamily="34" charset="0"/>
                <a:ea typeface="Meiryo" pitchFamily="34" charset="-122"/>
                <a:cs typeface="Meiryo" pitchFamily="34" charset="-120"/>
              </a:rPr>
              <a:t>照合作業そのもの（読み替え・集計・突合・差異抽出）にかかる時間の比較</a:t>
            </a:r>
            <a:endParaRPr lang="en-US" sz="1350" dirty="0"/>
          </a:p>
        </p:txBody>
      </p:sp>
      <p:sp>
        <p:nvSpPr>
          <p:cNvPr id="4" name="Shape 2"/>
          <p:cNvSpPr/>
          <p:nvPr/>
        </p:nvSpPr>
        <p:spPr>
          <a:xfrm>
            <a:off x="640080" y="1691640"/>
            <a:ext cx="2560320" cy="1481328"/>
          </a:xfrm>
          <a:prstGeom prst="roundRect">
            <a:avLst>
              <a:gd name="adj" fmla="val 3704"/>
            </a:avLst>
          </a:prstGeom>
          <a:solidFill>
            <a:srgbClr val="FFFFFF"/>
          </a:solidFill>
          <a:ln w="12700">
            <a:solidFill>
              <a:srgbClr val="D9E4E4"/>
            </a:solidFill>
            <a:prstDash val="solid"/>
          </a:ln>
          <a:effectLst>
            <a:outerShdw sx="100000" sy="100000" kx="0" ky="0" algn="bl" rotWithShape="0" blurRad="177800" dist="38100" dir="5400000">
              <a:srgbClr val="0B2026">
                <a:alpha val="10000"/>
              </a:srgbClr>
            </a:outerShdw>
          </a:effectLst>
        </p:spPr>
      </p:sp>
      <p:sp>
        <p:nvSpPr>
          <p:cNvPr id="5" name="Text 3"/>
          <p:cNvSpPr/>
          <p:nvPr/>
        </p:nvSpPr>
        <p:spPr>
          <a:xfrm>
            <a:off x="896112" y="1847088"/>
            <a:ext cx="2103120" cy="548640"/>
          </a:xfrm>
          <a:prstGeom prst="rect">
            <a:avLst/>
          </a:prstGeom>
          <a:noFill/>
          <a:ln/>
        </p:spPr>
        <p:txBody>
          <a:bodyPr wrap="square" lIns="0" tIns="0" rIns="0" bIns="0" rtlCol="0" anchor="ctr"/>
          <a:lstStyle/>
          <a:p>
            <a:pPr indent="0" marL="0">
              <a:buNone/>
            </a:pPr>
            <a:r>
              <a:rPr lang="en-US" sz="3000" b="1" dirty="0">
                <a:solidFill>
                  <a:srgbClr val="102A33"/>
                </a:solidFill>
                <a:latin typeface="Arial" pitchFamily="34" charset="0"/>
                <a:ea typeface="Arial" pitchFamily="34" charset="-122"/>
                <a:cs typeface="Arial" pitchFamily="34" charset="-120"/>
              </a:rPr>
              <a:t>3.5時間</a:t>
            </a:r>
            <a:endParaRPr lang="en-US" sz="3000" dirty="0"/>
          </a:p>
        </p:txBody>
      </p:sp>
      <p:sp>
        <p:nvSpPr>
          <p:cNvPr id="6" name="Text 4"/>
          <p:cNvSpPr/>
          <p:nvPr/>
        </p:nvSpPr>
        <p:spPr>
          <a:xfrm>
            <a:off x="896112" y="2395728"/>
            <a:ext cx="2103120" cy="292608"/>
          </a:xfrm>
          <a:prstGeom prst="rect">
            <a:avLst/>
          </a:prstGeom>
          <a:noFill/>
          <a:ln/>
        </p:spPr>
        <p:txBody>
          <a:bodyPr wrap="square" lIns="0" tIns="0" rIns="0" bIns="0" rtlCol="0" anchor="ctr"/>
          <a:lstStyle/>
          <a:p>
            <a:pPr indent="0" marL="0">
              <a:buNone/>
            </a:pPr>
            <a:r>
              <a:rPr lang="en-US" sz="1400" b="1" dirty="0">
                <a:solidFill>
                  <a:srgbClr val="B5533C"/>
                </a:solidFill>
                <a:latin typeface="Meiryo" pitchFamily="34" charset="0"/>
                <a:ea typeface="Meiryo" pitchFamily="34" charset="-122"/>
                <a:cs typeface="Meiryo" pitchFamily="34" charset="-120"/>
              </a:rPr>
              <a:t>→ 5分</a:t>
            </a:r>
            <a:endParaRPr lang="en-US" sz="1400" dirty="0"/>
          </a:p>
        </p:txBody>
      </p:sp>
      <p:sp>
        <p:nvSpPr>
          <p:cNvPr id="7" name="Text 5"/>
          <p:cNvSpPr/>
          <p:nvPr/>
        </p:nvSpPr>
        <p:spPr>
          <a:xfrm>
            <a:off x="896112" y="2724912"/>
            <a:ext cx="2103120" cy="274320"/>
          </a:xfrm>
          <a:prstGeom prst="rect">
            <a:avLst/>
          </a:prstGeom>
          <a:noFill/>
          <a:ln/>
        </p:spPr>
        <p:txBody>
          <a:bodyPr wrap="square" lIns="0" tIns="0" rIns="0" bIns="0" rtlCol="0" anchor="ctr"/>
          <a:lstStyle/>
          <a:p>
            <a:pPr indent="0" marL="0">
              <a:buNone/>
            </a:pPr>
            <a:r>
              <a:rPr lang="en-US" sz="1000" dirty="0">
                <a:solidFill>
                  <a:srgbClr val="60757C"/>
                </a:solidFill>
                <a:latin typeface="Meiryo" pitchFamily="34" charset="0"/>
                <a:ea typeface="Meiryo" pitchFamily="34" charset="-122"/>
                <a:cs typeface="Meiryo" pitchFamily="34" charset="-120"/>
              </a:rPr>
              <a:t>1回あたり</a:t>
            </a:r>
            <a:endParaRPr lang="en-US" sz="1000" dirty="0"/>
          </a:p>
        </p:txBody>
      </p:sp>
      <p:sp>
        <p:nvSpPr>
          <p:cNvPr id="8" name="Shape 6"/>
          <p:cNvSpPr/>
          <p:nvPr/>
        </p:nvSpPr>
        <p:spPr>
          <a:xfrm>
            <a:off x="3474720" y="1691640"/>
            <a:ext cx="2560320" cy="1481328"/>
          </a:xfrm>
          <a:prstGeom prst="roundRect">
            <a:avLst>
              <a:gd name="adj" fmla="val 3704"/>
            </a:avLst>
          </a:prstGeom>
          <a:solidFill>
            <a:srgbClr val="FFFFFF"/>
          </a:solidFill>
          <a:ln w="12700">
            <a:solidFill>
              <a:srgbClr val="D9E4E4"/>
            </a:solidFill>
            <a:prstDash val="solid"/>
          </a:ln>
          <a:effectLst>
            <a:outerShdw sx="100000" sy="100000" kx="0" ky="0" algn="bl" rotWithShape="0" blurRad="177800" dist="38100" dir="5400000">
              <a:srgbClr val="0B2026">
                <a:alpha val="10000"/>
              </a:srgbClr>
            </a:outerShdw>
          </a:effectLst>
        </p:spPr>
      </p:sp>
      <p:sp>
        <p:nvSpPr>
          <p:cNvPr id="9" name="Text 7"/>
          <p:cNvSpPr/>
          <p:nvPr/>
        </p:nvSpPr>
        <p:spPr>
          <a:xfrm>
            <a:off x="3730752" y="1847088"/>
            <a:ext cx="2103120" cy="548640"/>
          </a:xfrm>
          <a:prstGeom prst="rect">
            <a:avLst/>
          </a:prstGeom>
          <a:noFill/>
          <a:ln/>
        </p:spPr>
        <p:txBody>
          <a:bodyPr wrap="square" lIns="0" tIns="0" rIns="0" bIns="0" rtlCol="0" anchor="ctr"/>
          <a:lstStyle/>
          <a:p>
            <a:pPr indent="0" marL="0">
              <a:buNone/>
            </a:pPr>
            <a:r>
              <a:rPr lang="en-US" sz="3000" b="1" dirty="0">
                <a:solidFill>
                  <a:srgbClr val="102A33"/>
                </a:solidFill>
                <a:latin typeface="Arial" pitchFamily="34" charset="0"/>
                <a:ea typeface="Arial" pitchFamily="34" charset="-122"/>
                <a:cs typeface="Arial" pitchFamily="34" charset="-120"/>
              </a:rPr>
              <a:t>42時間</a:t>
            </a:r>
            <a:endParaRPr lang="en-US" sz="3000" dirty="0"/>
          </a:p>
        </p:txBody>
      </p:sp>
      <p:sp>
        <p:nvSpPr>
          <p:cNvPr id="10" name="Text 8"/>
          <p:cNvSpPr/>
          <p:nvPr/>
        </p:nvSpPr>
        <p:spPr>
          <a:xfrm>
            <a:off x="3730752" y="2395728"/>
            <a:ext cx="2103120" cy="292608"/>
          </a:xfrm>
          <a:prstGeom prst="rect">
            <a:avLst/>
          </a:prstGeom>
          <a:noFill/>
          <a:ln/>
        </p:spPr>
        <p:txBody>
          <a:bodyPr wrap="square" lIns="0" tIns="0" rIns="0" bIns="0" rtlCol="0" anchor="ctr"/>
          <a:lstStyle/>
          <a:p>
            <a:pPr indent="0" marL="0">
              <a:buNone/>
            </a:pPr>
            <a:r>
              <a:rPr lang="en-US" sz="1400" b="1" dirty="0">
                <a:solidFill>
                  <a:srgbClr val="B5533C"/>
                </a:solidFill>
                <a:latin typeface="Meiryo" pitchFamily="34" charset="0"/>
                <a:ea typeface="Meiryo" pitchFamily="34" charset="-122"/>
                <a:cs typeface="Meiryo" pitchFamily="34" charset="-120"/>
              </a:rPr>
              <a:t>→ 1時間</a:t>
            </a:r>
            <a:endParaRPr lang="en-US" sz="1400" dirty="0"/>
          </a:p>
        </p:txBody>
      </p:sp>
      <p:sp>
        <p:nvSpPr>
          <p:cNvPr id="11" name="Text 9"/>
          <p:cNvSpPr/>
          <p:nvPr/>
        </p:nvSpPr>
        <p:spPr>
          <a:xfrm>
            <a:off x="3730752" y="2724912"/>
            <a:ext cx="2103120" cy="274320"/>
          </a:xfrm>
          <a:prstGeom prst="rect">
            <a:avLst/>
          </a:prstGeom>
          <a:noFill/>
          <a:ln/>
        </p:spPr>
        <p:txBody>
          <a:bodyPr wrap="square" lIns="0" tIns="0" rIns="0" bIns="0" rtlCol="0" anchor="ctr"/>
          <a:lstStyle/>
          <a:p>
            <a:pPr indent="0" marL="0">
              <a:buNone/>
            </a:pPr>
            <a:r>
              <a:rPr lang="en-US" sz="1000" dirty="0">
                <a:solidFill>
                  <a:srgbClr val="60757C"/>
                </a:solidFill>
                <a:latin typeface="Meiryo" pitchFamily="34" charset="0"/>
                <a:ea typeface="Meiryo" pitchFamily="34" charset="-122"/>
                <a:cs typeface="Meiryo" pitchFamily="34" charset="-120"/>
              </a:rPr>
              <a:t>年間（月1回）</a:t>
            </a:r>
            <a:endParaRPr lang="en-US" sz="1000" dirty="0"/>
          </a:p>
        </p:txBody>
      </p:sp>
      <p:sp>
        <p:nvSpPr>
          <p:cNvPr id="12" name="Shape 10"/>
          <p:cNvSpPr/>
          <p:nvPr/>
        </p:nvSpPr>
        <p:spPr>
          <a:xfrm>
            <a:off x="6309360" y="1691640"/>
            <a:ext cx="2560320" cy="1481328"/>
          </a:xfrm>
          <a:prstGeom prst="roundRect">
            <a:avLst>
              <a:gd name="adj" fmla="val 3704"/>
            </a:avLst>
          </a:prstGeom>
          <a:solidFill>
            <a:srgbClr val="E3F0EF"/>
          </a:solidFill>
          <a:ln/>
          <a:effectLst>
            <a:outerShdw sx="100000" sy="100000" kx="0" ky="0" algn="bl" rotWithShape="0" blurRad="177800" dist="38100" dir="5400000">
              <a:srgbClr val="0B2026">
                <a:alpha val="10000"/>
              </a:srgbClr>
            </a:outerShdw>
          </a:effectLst>
        </p:spPr>
      </p:sp>
      <p:sp>
        <p:nvSpPr>
          <p:cNvPr id="13" name="Text 11"/>
          <p:cNvSpPr/>
          <p:nvPr/>
        </p:nvSpPr>
        <p:spPr>
          <a:xfrm>
            <a:off x="6565392" y="1847088"/>
            <a:ext cx="2103120" cy="548640"/>
          </a:xfrm>
          <a:prstGeom prst="rect">
            <a:avLst/>
          </a:prstGeom>
          <a:noFill/>
          <a:ln/>
        </p:spPr>
        <p:txBody>
          <a:bodyPr wrap="square" lIns="0" tIns="0" rIns="0" bIns="0" rtlCol="0" anchor="ctr"/>
          <a:lstStyle/>
          <a:p>
            <a:pPr indent="0" marL="0">
              <a:buNone/>
            </a:pPr>
            <a:r>
              <a:rPr lang="en-US" sz="3000" b="1" dirty="0">
                <a:solidFill>
                  <a:srgbClr val="0A5F5E"/>
                </a:solidFill>
                <a:latin typeface="Arial" pitchFamily="34" charset="0"/>
                <a:ea typeface="Arial" pitchFamily="34" charset="-122"/>
                <a:cs typeface="Arial" pitchFamily="34" charset="-120"/>
              </a:rPr>
              <a:t>41時間</a:t>
            </a:r>
            <a:endParaRPr lang="en-US" sz="3000" dirty="0"/>
          </a:p>
        </p:txBody>
      </p:sp>
      <p:sp>
        <p:nvSpPr>
          <p:cNvPr id="14" name="Text 12"/>
          <p:cNvSpPr/>
          <p:nvPr/>
        </p:nvSpPr>
        <p:spPr>
          <a:xfrm>
            <a:off x="6565392" y="2395728"/>
            <a:ext cx="2103120" cy="292608"/>
          </a:xfrm>
          <a:prstGeom prst="rect">
            <a:avLst/>
          </a:prstGeom>
          <a:noFill/>
          <a:ln/>
        </p:spPr>
        <p:txBody>
          <a:bodyPr wrap="square" lIns="0" tIns="0" rIns="0" bIns="0" rtlCol="0" anchor="ctr"/>
          <a:lstStyle/>
          <a:p>
            <a:pPr indent="0" marL="0">
              <a:buNone/>
            </a:pPr>
            <a:r>
              <a:rPr lang="en-US" sz="1400" b="1" dirty="0">
                <a:solidFill>
                  <a:srgbClr val="0A5F5E"/>
                </a:solidFill>
                <a:latin typeface="Meiryo" pitchFamily="34" charset="0"/>
                <a:ea typeface="Meiryo" pitchFamily="34" charset="-122"/>
                <a:cs typeface="Meiryo" pitchFamily="34" charset="-120"/>
              </a:rPr>
              <a:t>削減</a:t>
            </a:r>
            <a:endParaRPr lang="en-US" sz="1400" dirty="0"/>
          </a:p>
        </p:txBody>
      </p:sp>
      <p:sp>
        <p:nvSpPr>
          <p:cNvPr id="15" name="Text 13"/>
          <p:cNvSpPr/>
          <p:nvPr/>
        </p:nvSpPr>
        <p:spPr>
          <a:xfrm>
            <a:off x="6565392" y="2724912"/>
            <a:ext cx="2103120" cy="274320"/>
          </a:xfrm>
          <a:prstGeom prst="rect">
            <a:avLst/>
          </a:prstGeom>
          <a:noFill/>
          <a:ln/>
        </p:spPr>
        <p:txBody>
          <a:bodyPr wrap="square" lIns="0" tIns="0" rIns="0" bIns="0" rtlCol="0" anchor="ctr"/>
          <a:lstStyle/>
          <a:p>
            <a:pPr indent="0" marL="0">
              <a:buNone/>
            </a:pPr>
            <a:r>
              <a:rPr lang="en-US" sz="1000" dirty="0">
                <a:solidFill>
                  <a:srgbClr val="60757C"/>
                </a:solidFill>
                <a:latin typeface="Meiryo" pitchFamily="34" charset="0"/>
                <a:ea typeface="Meiryo" pitchFamily="34" charset="-122"/>
                <a:cs typeface="Meiryo" pitchFamily="34" charset="-120"/>
              </a:rPr>
              <a:t>≒ 5営業日</a:t>
            </a:r>
            <a:endParaRPr lang="en-US" sz="1000" dirty="0"/>
          </a:p>
        </p:txBody>
      </p:sp>
      <p:sp>
        <p:nvSpPr>
          <p:cNvPr id="16" name="Shape 14"/>
          <p:cNvSpPr/>
          <p:nvPr/>
        </p:nvSpPr>
        <p:spPr>
          <a:xfrm>
            <a:off x="9144000" y="1691640"/>
            <a:ext cx="2560320" cy="1481328"/>
          </a:xfrm>
          <a:prstGeom prst="roundRect">
            <a:avLst>
              <a:gd name="adj" fmla="val 3704"/>
            </a:avLst>
          </a:prstGeom>
          <a:solidFill>
            <a:srgbClr val="E3F0EF"/>
          </a:solidFill>
          <a:ln/>
          <a:effectLst>
            <a:outerShdw sx="100000" sy="100000" kx="0" ky="0" algn="bl" rotWithShape="0" blurRad="177800" dist="38100" dir="5400000">
              <a:srgbClr val="0B2026">
                <a:alpha val="10000"/>
              </a:srgbClr>
            </a:outerShdw>
          </a:effectLst>
        </p:spPr>
      </p:sp>
      <p:sp>
        <p:nvSpPr>
          <p:cNvPr id="17" name="Text 15"/>
          <p:cNvSpPr/>
          <p:nvPr/>
        </p:nvSpPr>
        <p:spPr>
          <a:xfrm>
            <a:off x="9400032" y="1847088"/>
            <a:ext cx="2103120" cy="548640"/>
          </a:xfrm>
          <a:prstGeom prst="rect">
            <a:avLst/>
          </a:prstGeom>
          <a:noFill/>
          <a:ln/>
        </p:spPr>
        <p:txBody>
          <a:bodyPr wrap="square" lIns="0" tIns="0" rIns="0" bIns="0" rtlCol="0" anchor="ctr"/>
          <a:lstStyle/>
          <a:p>
            <a:pPr indent="0" marL="0">
              <a:buNone/>
            </a:pPr>
            <a:r>
              <a:rPr lang="en-US" sz="3000" b="1" dirty="0">
                <a:solidFill>
                  <a:srgbClr val="0A5F5E"/>
                </a:solidFill>
                <a:latin typeface="Arial" pitchFamily="34" charset="0"/>
                <a:ea typeface="Arial" pitchFamily="34" charset="-122"/>
                <a:cs typeface="Arial" pitchFamily="34" charset="-120"/>
              </a:rPr>
              <a:t>98%</a:t>
            </a:r>
            <a:endParaRPr lang="en-US" sz="3000" dirty="0"/>
          </a:p>
        </p:txBody>
      </p:sp>
      <p:sp>
        <p:nvSpPr>
          <p:cNvPr id="18" name="Text 16"/>
          <p:cNvSpPr/>
          <p:nvPr/>
        </p:nvSpPr>
        <p:spPr>
          <a:xfrm>
            <a:off x="9400032" y="2395728"/>
            <a:ext cx="2103120" cy="292608"/>
          </a:xfrm>
          <a:prstGeom prst="rect">
            <a:avLst/>
          </a:prstGeom>
          <a:noFill/>
          <a:ln/>
        </p:spPr>
        <p:txBody>
          <a:bodyPr wrap="square" lIns="0" tIns="0" rIns="0" bIns="0" rtlCol="0" anchor="ctr"/>
          <a:lstStyle/>
          <a:p>
            <a:pPr indent="0" marL="0">
              <a:buNone/>
            </a:pPr>
            <a:r>
              <a:rPr lang="en-US" sz="1400" b="1" dirty="0">
                <a:solidFill>
                  <a:srgbClr val="0A5F5E"/>
                </a:solidFill>
                <a:latin typeface="Meiryo" pitchFamily="34" charset="0"/>
                <a:ea typeface="Meiryo" pitchFamily="34" charset="-122"/>
                <a:cs typeface="Meiryo" pitchFamily="34" charset="-120"/>
              </a:rPr>
              <a:t>削減</a:t>
            </a:r>
            <a:endParaRPr lang="en-US" sz="1400" dirty="0"/>
          </a:p>
        </p:txBody>
      </p:sp>
      <p:sp>
        <p:nvSpPr>
          <p:cNvPr id="19" name="Text 17"/>
          <p:cNvSpPr/>
          <p:nvPr/>
        </p:nvSpPr>
        <p:spPr>
          <a:xfrm>
            <a:off x="9400032" y="2724912"/>
            <a:ext cx="2103120" cy="274320"/>
          </a:xfrm>
          <a:prstGeom prst="rect">
            <a:avLst/>
          </a:prstGeom>
          <a:noFill/>
          <a:ln/>
        </p:spPr>
        <p:txBody>
          <a:bodyPr wrap="square" lIns="0" tIns="0" rIns="0" bIns="0" rtlCol="0" anchor="ctr"/>
          <a:lstStyle/>
          <a:p>
            <a:pPr indent="0" marL="0">
              <a:buNone/>
            </a:pPr>
            <a:r>
              <a:rPr lang="en-US" sz="1000" dirty="0">
                <a:solidFill>
                  <a:srgbClr val="60757C"/>
                </a:solidFill>
                <a:latin typeface="Meiryo" pitchFamily="34" charset="0"/>
                <a:ea typeface="Meiryo" pitchFamily="34" charset="-122"/>
                <a:cs typeface="Meiryo" pitchFamily="34" charset="-120"/>
              </a:rPr>
              <a:t>作業時間の圧縮率</a:t>
            </a:r>
            <a:endParaRPr lang="en-US" sz="1000" dirty="0"/>
          </a:p>
        </p:txBody>
      </p:sp>
      <p:sp>
        <p:nvSpPr>
          <p:cNvPr id="20" name="Shape 18"/>
          <p:cNvSpPr/>
          <p:nvPr/>
        </p:nvSpPr>
        <p:spPr>
          <a:xfrm>
            <a:off x="640080" y="3383280"/>
            <a:ext cx="6949440" cy="2697480"/>
          </a:xfrm>
          <a:prstGeom prst="roundRect">
            <a:avLst>
              <a:gd name="adj" fmla="val 2034"/>
            </a:avLst>
          </a:prstGeom>
          <a:solidFill>
            <a:srgbClr val="FFFFFF"/>
          </a:solidFill>
          <a:ln w="12700">
            <a:solidFill>
              <a:srgbClr val="D9E4E4"/>
            </a:solidFill>
            <a:prstDash val="solid"/>
          </a:ln>
          <a:effectLst>
            <a:outerShdw sx="100000" sy="100000" kx="0" ky="0" algn="bl" rotWithShape="0" blurRad="177800" dist="38100" dir="5400000">
              <a:srgbClr val="0B2026">
                <a:alpha val="10000"/>
              </a:srgbClr>
            </a:outerShdw>
          </a:effectLst>
        </p:spPr>
      </p:sp>
      <p:sp>
        <p:nvSpPr>
          <p:cNvPr id="21" name="Text 19"/>
          <p:cNvSpPr/>
          <p:nvPr/>
        </p:nvSpPr>
        <p:spPr>
          <a:xfrm>
            <a:off x="914400" y="3547872"/>
            <a:ext cx="4572000" cy="274320"/>
          </a:xfrm>
          <a:prstGeom prst="rect">
            <a:avLst/>
          </a:prstGeom>
          <a:noFill/>
          <a:ln/>
        </p:spPr>
        <p:txBody>
          <a:bodyPr wrap="square" lIns="0" tIns="0" rIns="0" bIns="0" rtlCol="0" anchor="ctr"/>
          <a:lstStyle/>
          <a:p>
            <a:pPr indent="0" marL="0">
              <a:buNone/>
            </a:pPr>
            <a:r>
              <a:rPr lang="en-US" sz="1200" b="1" dirty="0">
                <a:solidFill>
                  <a:srgbClr val="102A33"/>
                </a:solidFill>
                <a:latin typeface="Meiryo" pitchFamily="34" charset="0"/>
                <a:ea typeface="Meiryo" pitchFamily="34" charset="-122"/>
                <a:cs typeface="Meiryo" pitchFamily="34" charset="-120"/>
              </a:rPr>
              <a:t>年間の作業時間（時間）</a:t>
            </a:r>
            <a:endParaRPr lang="en-US" sz="1200" dirty="0"/>
          </a:p>
        </p:txBody>
      </p:sp>
      <p:graphicFrame>
        <p:nvGraphicFramePr>
          <p:cNvPr id="22" name="Chart 0" descr=""/>
          <p:cNvGraphicFramePr/>
          <p:nvPr/>
        </p:nvGraphicFramePr>
        <p:xfrm>
          <a:off x="868680" y="3840480"/>
          <a:ext cx="6492240" cy="2057400"/>
        </p:xfrm>
        <a:graphic xmlns:a="http://schemas.openxmlformats.org/drawingml/2006/main">
          <a:graphicData uri="http://schemas.openxmlformats.org/drawingml/2006/chart">
            <c:chart xmlns:c="http://schemas.openxmlformats.org/drawingml/2006/chart" r:id="rId1"/>
          </a:graphicData>
        </a:graphic>
      </p:graphicFrame>
      <p:sp>
        <p:nvSpPr>
          <p:cNvPr id="23" name="Shape 20"/>
          <p:cNvSpPr/>
          <p:nvPr/>
        </p:nvSpPr>
        <p:spPr>
          <a:xfrm>
            <a:off x="7909560" y="3383280"/>
            <a:ext cx="3611880" cy="2697480"/>
          </a:xfrm>
          <a:prstGeom prst="roundRect">
            <a:avLst>
              <a:gd name="adj" fmla="val 2034"/>
            </a:avLst>
          </a:prstGeom>
          <a:solidFill>
            <a:srgbClr val="F3F7F7"/>
          </a:solidFill>
          <a:ln/>
          <a:effectLst>
            <a:outerShdw sx="100000" sy="100000" kx="0" ky="0" algn="bl" rotWithShape="0" blurRad="177800" dist="38100" dir="5400000">
              <a:srgbClr val="0B2026">
                <a:alpha val="10000"/>
              </a:srgbClr>
            </a:outerShdw>
          </a:effectLst>
        </p:spPr>
      </p:sp>
      <p:sp>
        <p:nvSpPr>
          <p:cNvPr id="24" name="Text 21"/>
          <p:cNvSpPr/>
          <p:nvPr/>
        </p:nvSpPr>
        <p:spPr>
          <a:xfrm>
            <a:off x="8183880" y="3566160"/>
            <a:ext cx="3108960" cy="274320"/>
          </a:xfrm>
          <a:prstGeom prst="rect">
            <a:avLst/>
          </a:prstGeom>
          <a:noFill/>
          <a:ln/>
        </p:spPr>
        <p:txBody>
          <a:bodyPr wrap="square" lIns="0" tIns="0" rIns="0" bIns="0" rtlCol="0" anchor="ctr"/>
          <a:lstStyle/>
          <a:p>
            <a:pPr indent="0" marL="0">
              <a:buNone/>
            </a:pPr>
            <a:r>
              <a:rPr lang="en-US" sz="1200" b="1" dirty="0">
                <a:solidFill>
                  <a:srgbClr val="102A33"/>
                </a:solidFill>
                <a:latin typeface="Meiryo" pitchFamily="34" charset="0"/>
                <a:ea typeface="Meiryo" pitchFamily="34" charset="-122"/>
                <a:cs typeface="Meiryo" pitchFamily="34" charset="-120"/>
              </a:rPr>
              <a:t>試算の前提</a:t>
            </a:r>
            <a:endParaRPr lang="en-US" sz="1200" dirty="0"/>
          </a:p>
        </p:txBody>
      </p:sp>
      <p:sp>
        <p:nvSpPr>
          <p:cNvPr id="25" name="Text 22"/>
          <p:cNvSpPr/>
          <p:nvPr/>
        </p:nvSpPr>
        <p:spPr>
          <a:xfrm>
            <a:off x="8183880" y="3913632"/>
            <a:ext cx="3154680" cy="2011680"/>
          </a:xfrm>
          <a:prstGeom prst="rect">
            <a:avLst/>
          </a:prstGeom>
          <a:noFill/>
          <a:ln/>
        </p:spPr>
        <p:txBody>
          <a:bodyPr wrap="square" lIns="0" tIns="0" rIns="0" bIns="0" rtlCol="0" anchor="ctr"/>
          <a:lstStyle/>
          <a:p>
            <a:pPr marL="342900" indent="-342900">
              <a:lnSpc>
                <a:spcPct val="120000"/>
              </a:lnSpc>
              <a:spcAft>
                <a:spcPts val="800"/>
              </a:spcAft>
              <a:buSzPct val="100000"/>
              <a:buChar char="•"/>
            </a:pPr>
            <a:r>
              <a:rPr lang="en-US" sz="1000" dirty="0">
                <a:solidFill>
                  <a:srgbClr val="17282E"/>
                </a:solidFill>
                <a:latin typeface="Meiryo" pitchFamily="34" charset="0"/>
                <a:ea typeface="Meiryo" pitchFamily="34" charset="-122"/>
                <a:cs typeface="Meiryo" pitchFamily="34" charset="-120"/>
              </a:rPr>
              <a:t>手作業：1回 約3.5時間（半日）</a:t>
            </a:r>
            <a:endParaRPr lang="en-US" sz="1000" dirty="0"/>
          </a:p>
          <a:p>
            <a:pPr marL="342900" indent="-342900">
              <a:lnSpc>
                <a:spcPct val="120000"/>
              </a:lnSpc>
              <a:spcAft>
                <a:spcPts val="800"/>
              </a:spcAft>
              <a:buSzPct val="100000"/>
              <a:buChar char="•"/>
            </a:pPr>
            <a:r>
              <a:rPr lang="en-US" sz="1000" dirty="0">
                <a:solidFill>
                  <a:srgbClr val="17282E"/>
                </a:solidFill>
                <a:latin typeface="Meiryo" pitchFamily="34" charset="0"/>
                <a:ea typeface="Meiryo" pitchFamily="34" charset="-122"/>
                <a:cs typeface="Meiryo" pitchFamily="34" charset="-120"/>
              </a:rPr>
              <a:t>実施頻度：月1回（年12回）</a:t>
            </a:r>
            <a:endParaRPr lang="en-US" sz="1000" dirty="0"/>
          </a:p>
          <a:p>
            <a:pPr marL="342900" indent="-342900">
              <a:lnSpc>
                <a:spcPct val="120000"/>
              </a:lnSpc>
              <a:spcAft>
                <a:spcPts val="800"/>
              </a:spcAft>
              <a:buSzPct val="100000"/>
              <a:buChar char="•"/>
            </a:pPr>
            <a:r>
              <a:rPr lang="en-US" sz="1000" dirty="0">
                <a:solidFill>
                  <a:srgbClr val="17282E"/>
                </a:solidFill>
                <a:latin typeface="Meiryo" pitchFamily="34" charset="0"/>
                <a:ea typeface="Meiryo" pitchFamily="34" charset="-122"/>
                <a:cs typeface="Meiryo" pitchFamily="34" charset="-120"/>
              </a:rPr>
              <a:t>ツール利用：1回 約5分</a:t>
            </a:r>
            <a:endParaRPr lang="en-US" sz="1000" dirty="0"/>
          </a:p>
          <a:p>
            <a:pPr marL="342900" indent="-342900">
              <a:lnSpc>
                <a:spcPct val="120000"/>
              </a:lnSpc>
              <a:spcAft>
                <a:spcPts val="800"/>
              </a:spcAft>
              <a:buSzPct val="100000"/>
              <a:buChar char="•"/>
            </a:pPr>
            <a:r>
              <a:rPr lang="en-US" sz="1000" dirty="0">
                <a:solidFill>
                  <a:srgbClr val="17282E"/>
                </a:solidFill>
                <a:latin typeface="Meiryo" pitchFamily="34" charset="0"/>
                <a:ea typeface="Meiryo" pitchFamily="34" charset="-122"/>
                <a:cs typeface="Meiryo" pitchFamily="34" charset="-120"/>
              </a:rPr>
              <a:t>（ファイル投入〜結果確認まで）</a:t>
            </a:r>
            <a:endParaRPr lang="en-US" sz="1000" dirty="0"/>
          </a:p>
          <a:p>
            <a:pPr marL="342900" indent="-342900">
              <a:lnSpc>
                <a:spcPct val="120000"/>
              </a:lnSpc>
              <a:spcAft>
                <a:spcPts val="800"/>
              </a:spcAft>
              <a:buSzPct val="100000"/>
              <a:buChar char="•"/>
            </a:pPr>
            <a:r>
              <a:rPr lang="en-US" sz="1000" dirty="0">
                <a:solidFill>
                  <a:srgbClr val="17282E"/>
                </a:solidFill>
                <a:latin typeface="Meiryo" pitchFamily="34" charset="0"/>
                <a:ea typeface="Meiryo" pitchFamily="34" charset="-122"/>
                <a:cs typeface="Meiryo" pitchFamily="34" charset="-120"/>
              </a:rPr>
              <a:t>SAP出力・預り書の準備時間は</a:t>
            </a:r>
            <a:endParaRPr lang="en-US" sz="1000" dirty="0"/>
          </a:p>
          <a:p>
            <a:pPr marL="342900" indent="-342900">
              <a:lnSpc>
                <a:spcPct val="120000"/>
              </a:lnSpc>
              <a:spcAft>
                <a:spcPts val="800"/>
              </a:spcAft>
              <a:buSzPct val="100000"/>
              <a:buChar char="•"/>
            </a:pPr>
            <a:r>
              <a:rPr lang="en-US" sz="1000" dirty="0">
                <a:solidFill>
                  <a:srgbClr val="17282E"/>
                </a:solidFill>
                <a:latin typeface="Meiryo" pitchFamily="34" charset="0"/>
                <a:ea typeface="Meiryo" pitchFamily="34" charset="-122"/>
                <a:cs typeface="Meiryo" pitchFamily="34" charset="-120"/>
              </a:rPr>
              <a:t>自動化前後で変わらないため除外</a:t>
            </a:r>
            <a:endParaRPr lang="en-US" sz="1000" dirty="0"/>
          </a:p>
        </p:txBody>
      </p:sp>
      <p:sp>
        <p:nvSpPr>
          <p:cNvPr id="26" name="Text 23"/>
          <p:cNvSpPr/>
          <p:nvPr/>
        </p:nvSpPr>
        <p:spPr>
          <a:xfrm>
            <a:off x="11430000" y="6355080"/>
            <a:ext cx="457200" cy="274320"/>
          </a:xfrm>
          <a:prstGeom prst="rect">
            <a:avLst/>
          </a:prstGeom>
          <a:noFill/>
          <a:ln/>
        </p:spPr>
        <p:txBody>
          <a:bodyPr wrap="square" lIns="0" tIns="0" rIns="0" bIns="0" rtlCol="0" anchor="ctr"/>
          <a:lstStyle/>
          <a:p>
            <a:pPr algn="r" indent="0" marL="0">
              <a:buNone/>
            </a:pPr>
            <a:r>
              <a:rPr lang="en-US" sz="1000" dirty="0">
                <a:solidFill>
                  <a:srgbClr val="60757C"/>
                </a:solidFill>
                <a:latin typeface="Arial" pitchFamily="34" charset="0"/>
                <a:ea typeface="Arial" pitchFamily="34" charset="-122"/>
                <a:cs typeface="Arial"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20624"/>
            <a:ext cx="10881360" cy="566928"/>
          </a:xfrm>
          <a:prstGeom prst="rect">
            <a:avLst/>
          </a:prstGeom>
          <a:noFill/>
          <a:ln/>
        </p:spPr>
        <p:txBody>
          <a:bodyPr wrap="square" lIns="0" tIns="0" rIns="0" bIns="0" rtlCol="0" anchor="ctr"/>
          <a:lstStyle/>
          <a:p>
            <a:pPr indent="0" marL="0">
              <a:buNone/>
            </a:pPr>
            <a:r>
              <a:rPr lang="en-US" sz="3000" b="1" dirty="0">
                <a:solidFill>
                  <a:srgbClr val="102A33"/>
                </a:solidFill>
                <a:latin typeface="Meiryo" pitchFamily="34" charset="0"/>
                <a:ea typeface="Meiryo" pitchFamily="34" charset="-122"/>
                <a:cs typeface="Meiryo" pitchFamily="34" charset="-120"/>
              </a:rPr>
              <a:t>効果②：品質 ― 時間より大きいかもしれない部分</a:t>
            </a:r>
            <a:endParaRPr lang="en-US" sz="3000" dirty="0"/>
          </a:p>
        </p:txBody>
      </p:sp>
      <p:sp>
        <p:nvSpPr>
          <p:cNvPr id="3" name="Text 1"/>
          <p:cNvSpPr/>
          <p:nvPr/>
        </p:nvSpPr>
        <p:spPr>
          <a:xfrm>
            <a:off x="640080" y="1042416"/>
            <a:ext cx="10881360" cy="384048"/>
          </a:xfrm>
          <a:prstGeom prst="rect">
            <a:avLst/>
          </a:prstGeom>
          <a:noFill/>
          <a:ln/>
        </p:spPr>
        <p:txBody>
          <a:bodyPr wrap="square" lIns="0" tIns="0" rIns="0" bIns="0" rtlCol="0" anchor="ctr"/>
          <a:lstStyle/>
          <a:p>
            <a:pPr indent="0" marL="0">
              <a:buNone/>
            </a:pPr>
            <a:r>
              <a:rPr lang="en-US" sz="1350" dirty="0">
                <a:solidFill>
                  <a:srgbClr val="60757C"/>
                </a:solidFill>
                <a:latin typeface="Meiryo" pitchFamily="34" charset="0"/>
                <a:ea typeface="Meiryo" pitchFamily="34" charset="-122"/>
                <a:cs typeface="Meiryo" pitchFamily="34" charset="-120"/>
              </a:rPr>
              <a:t>同じ結果が、誰がやっても、何度やっても出るようになった</a:t>
            </a:r>
            <a:endParaRPr lang="en-US" sz="1350" dirty="0"/>
          </a:p>
        </p:txBody>
      </p:sp>
      <p:sp>
        <p:nvSpPr>
          <p:cNvPr id="4" name="Shape 2"/>
          <p:cNvSpPr/>
          <p:nvPr/>
        </p:nvSpPr>
        <p:spPr>
          <a:xfrm>
            <a:off x="640080" y="1737360"/>
            <a:ext cx="3474720" cy="2011680"/>
          </a:xfrm>
          <a:prstGeom prst="roundRect">
            <a:avLst>
              <a:gd name="adj" fmla="val 2727"/>
            </a:avLst>
          </a:prstGeom>
          <a:solidFill>
            <a:srgbClr val="FFFFFF"/>
          </a:solidFill>
          <a:ln w="12700">
            <a:solidFill>
              <a:srgbClr val="D9E4E4"/>
            </a:solidFill>
            <a:prstDash val="solid"/>
          </a:ln>
          <a:effectLst>
            <a:outerShdw sx="100000" sy="100000" kx="0" ky="0" algn="bl" rotWithShape="0" blurRad="177800" dist="38100" dir="5400000">
              <a:srgbClr val="0B2026">
                <a:alpha val="10000"/>
              </a:srgbClr>
            </a:outerShdw>
          </a:effectLst>
        </p:spPr>
      </p:sp>
      <p:sp>
        <p:nvSpPr>
          <p:cNvPr id="5" name="Shape 3"/>
          <p:cNvSpPr/>
          <p:nvPr/>
        </p:nvSpPr>
        <p:spPr>
          <a:xfrm>
            <a:off x="914400" y="2011680"/>
            <a:ext cx="420624" cy="420624"/>
          </a:xfrm>
          <a:prstGeom prst="ellipse">
            <a:avLst/>
          </a:prstGeom>
          <a:solidFill>
            <a:srgbClr val="0E7C7B"/>
          </a:solidFill>
          <a:ln/>
        </p:spPr>
      </p:sp>
      <p:sp>
        <p:nvSpPr>
          <p:cNvPr id="6" name="Text 4"/>
          <p:cNvSpPr/>
          <p:nvPr/>
        </p:nvSpPr>
        <p:spPr>
          <a:xfrm>
            <a:off x="914400" y="201168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a:t>
            </a:r>
            <a:endParaRPr lang="en-US" sz="1500" dirty="0"/>
          </a:p>
        </p:txBody>
      </p:sp>
      <p:sp>
        <p:nvSpPr>
          <p:cNvPr id="7" name="Text 5"/>
          <p:cNvSpPr/>
          <p:nvPr/>
        </p:nvSpPr>
        <p:spPr>
          <a:xfrm>
            <a:off x="914400" y="2560320"/>
            <a:ext cx="2926080" cy="310896"/>
          </a:xfrm>
          <a:prstGeom prst="rect">
            <a:avLst/>
          </a:prstGeom>
          <a:noFill/>
          <a:ln/>
        </p:spPr>
        <p:txBody>
          <a:bodyPr wrap="square" lIns="0" tIns="0" rIns="0" bIns="0" rtlCol="0" anchor="ctr"/>
          <a:lstStyle/>
          <a:p>
            <a:pPr indent="0" marL="0">
              <a:buNone/>
            </a:pPr>
            <a:r>
              <a:rPr lang="en-US" sz="1500" b="1" dirty="0">
                <a:solidFill>
                  <a:srgbClr val="102A33"/>
                </a:solidFill>
                <a:latin typeface="Meiryo" pitchFamily="34" charset="0"/>
                <a:ea typeface="Meiryo" pitchFamily="34" charset="-122"/>
                <a:cs typeface="Meiryo" pitchFamily="34" charset="-120"/>
              </a:rPr>
              <a:t>転記ミスがゼロに</a:t>
            </a:r>
            <a:endParaRPr lang="en-US" sz="1500" dirty="0"/>
          </a:p>
        </p:txBody>
      </p:sp>
      <p:sp>
        <p:nvSpPr>
          <p:cNvPr id="8" name="Text 6"/>
          <p:cNvSpPr/>
          <p:nvPr/>
        </p:nvSpPr>
        <p:spPr>
          <a:xfrm>
            <a:off x="914400" y="2926080"/>
            <a:ext cx="2971800" cy="749808"/>
          </a:xfrm>
          <a:prstGeom prst="rect">
            <a:avLst/>
          </a:prstGeom>
          <a:noFill/>
          <a:ln/>
        </p:spPr>
        <p:txBody>
          <a:bodyPr wrap="square" lIns="0" tIns="0" rIns="0" bIns="0" rtlCol="0" anchor="ctr"/>
          <a:lstStyle/>
          <a:p>
            <a:pPr indent="0" marL="0">
              <a:lnSpc>
                <a:spcPct val="130000"/>
              </a:lnSpc>
              <a:buNone/>
            </a:pPr>
            <a:r>
              <a:rPr lang="en-US" sz="1050" dirty="0">
                <a:solidFill>
                  <a:srgbClr val="60757C"/>
                </a:solidFill>
                <a:latin typeface="Meiryo" pitchFamily="34" charset="0"/>
                <a:ea typeface="Meiryo" pitchFamily="34" charset="-122"/>
                <a:cs typeface="Meiryo" pitchFamily="34" charset="-120"/>
              </a:rPr>
              <a:t>読み替えも合算も機械が行うため、</a:t>
            </a:r>
            <a:endParaRPr lang="en-US" sz="1050" dirty="0"/>
          </a:p>
          <a:p>
            <a:pPr indent="0" marL="0">
              <a:lnSpc>
                <a:spcPct val="130000"/>
              </a:lnSpc>
              <a:buNone/>
            </a:pPr>
            <a:r>
              <a:rPr lang="en-US" sz="1050" dirty="0">
                <a:solidFill>
                  <a:srgbClr val="60757C"/>
                </a:solidFill>
                <a:latin typeface="Meiryo" pitchFamily="34" charset="0"/>
                <a:ea typeface="Meiryo" pitchFamily="34" charset="-122"/>
                <a:cs typeface="Meiryo" pitchFamily="34" charset="-120"/>
              </a:rPr>
              <a:t>手作業に必ずついて回る</a:t>
            </a:r>
            <a:endParaRPr lang="en-US" sz="1050" dirty="0"/>
          </a:p>
          <a:p>
            <a:pPr indent="0" marL="0">
              <a:lnSpc>
                <a:spcPct val="130000"/>
              </a:lnSpc>
              <a:buNone/>
            </a:pPr>
            <a:r>
              <a:rPr lang="en-US" sz="1050" dirty="0">
                <a:solidFill>
                  <a:srgbClr val="60757C"/>
                </a:solidFill>
                <a:latin typeface="Meiryo" pitchFamily="34" charset="0"/>
                <a:ea typeface="Meiryo" pitchFamily="34" charset="-122"/>
                <a:cs typeface="Meiryo" pitchFamily="34" charset="-120"/>
              </a:rPr>
              <a:t>入力ミス・見落としが構造的に無くなる。</a:t>
            </a:r>
            <a:endParaRPr lang="en-US" sz="1050" dirty="0"/>
          </a:p>
        </p:txBody>
      </p:sp>
      <p:sp>
        <p:nvSpPr>
          <p:cNvPr id="9" name="Shape 7"/>
          <p:cNvSpPr/>
          <p:nvPr/>
        </p:nvSpPr>
        <p:spPr>
          <a:xfrm>
            <a:off x="4480560" y="1737360"/>
            <a:ext cx="3474720" cy="2011680"/>
          </a:xfrm>
          <a:prstGeom prst="roundRect">
            <a:avLst>
              <a:gd name="adj" fmla="val 2727"/>
            </a:avLst>
          </a:prstGeom>
          <a:solidFill>
            <a:srgbClr val="FFFFFF"/>
          </a:solidFill>
          <a:ln w="12700">
            <a:solidFill>
              <a:srgbClr val="D9E4E4"/>
            </a:solidFill>
            <a:prstDash val="solid"/>
          </a:ln>
          <a:effectLst>
            <a:outerShdw sx="100000" sy="100000" kx="0" ky="0" algn="bl" rotWithShape="0" blurRad="177800" dist="38100" dir="5400000">
              <a:srgbClr val="0B2026">
                <a:alpha val="10000"/>
              </a:srgbClr>
            </a:outerShdw>
          </a:effectLst>
        </p:spPr>
      </p:sp>
      <p:sp>
        <p:nvSpPr>
          <p:cNvPr id="10" name="Shape 8"/>
          <p:cNvSpPr/>
          <p:nvPr/>
        </p:nvSpPr>
        <p:spPr>
          <a:xfrm>
            <a:off x="4754880" y="2011680"/>
            <a:ext cx="420624" cy="420624"/>
          </a:xfrm>
          <a:prstGeom prst="ellipse">
            <a:avLst/>
          </a:prstGeom>
          <a:solidFill>
            <a:srgbClr val="0E7C7B"/>
          </a:solidFill>
          <a:ln/>
        </p:spPr>
      </p:sp>
      <p:sp>
        <p:nvSpPr>
          <p:cNvPr id="11" name="Text 9"/>
          <p:cNvSpPr/>
          <p:nvPr/>
        </p:nvSpPr>
        <p:spPr>
          <a:xfrm>
            <a:off x="4754880" y="201168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a:t>
            </a:r>
            <a:endParaRPr lang="en-US" sz="1500" dirty="0"/>
          </a:p>
        </p:txBody>
      </p:sp>
      <p:sp>
        <p:nvSpPr>
          <p:cNvPr id="12" name="Text 10"/>
          <p:cNvSpPr/>
          <p:nvPr/>
        </p:nvSpPr>
        <p:spPr>
          <a:xfrm>
            <a:off x="4754880" y="2560320"/>
            <a:ext cx="2926080" cy="310896"/>
          </a:xfrm>
          <a:prstGeom prst="rect">
            <a:avLst/>
          </a:prstGeom>
          <a:noFill/>
          <a:ln/>
        </p:spPr>
        <p:txBody>
          <a:bodyPr wrap="square" lIns="0" tIns="0" rIns="0" bIns="0" rtlCol="0" anchor="ctr"/>
          <a:lstStyle/>
          <a:p>
            <a:pPr indent="0" marL="0">
              <a:buNone/>
            </a:pPr>
            <a:r>
              <a:rPr lang="en-US" sz="1500" b="1" dirty="0">
                <a:solidFill>
                  <a:srgbClr val="102A33"/>
                </a:solidFill>
                <a:latin typeface="Meiryo" pitchFamily="34" charset="0"/>
                <a:ea typeface="Meiryo" pitchFamily="34" charset="-122"/>
                <a:cs typeface="Meiryo" pitchFamily="34" charset="-120"/>
              </a:rPr>
              <a:t>属人化の解消</a:t>
            </a:r>
            <a:endParaRPr lang="en-US" sz="1500" dirty="0"/>
          </a:p>
        </p:txBody>
      </p:sp>
      <p:sp>
        <p:nvSpPr>
          <p:cNvPr id="13" name="Text 11"/>
          <p:cNvSpPr/>
          <p:nvPr/>
        </p:nvSpPr>
        <p:spPr>
          <a:xfrm>
            <a:off x="4754880" y="2926080"/>
            <a:ext cx="2971800" cy="749808"/>
          </a:xfrm>
          <a:prstGeom prst="rect">
            <a:avLst/>
          </a:prstGeom>
          <a:noFill/>
          <a:ln/>
        </p:spPr>
        <p:txBody>
          <a:bodyPr wrap="square" lIns="0" tIns="0" rIns="0" bIns="0" rtlCol="0" anchor="ctr"/>
          <a:lstStyle/>
          <a:p>
            <a:pPr indent="0" marL="0">
              <a:lnSpc>
                <a:spcPct val="130000"/>
              </a:lnSpc>
              <a:buNone/>
            </a:pPr>
            <a:r>
              <a:rPr lang="en-US" sz="1050" dirty="0">
                <a:solidFill>
                  <a:srgbClr val="60757C"/>
                </a:solidFill>
                <a:latin typeface="Meiryo" pitchFamily="34" charset="0"/>
                <a:ea typeface="Meiryo" pitchFamily="34" charset="-122"/>
                <a:cs typeface="Meiryo" pitchFamily="34" charset="-120"/>
              </a:rPr>
              <a:t>手順が人の頭の中にあった状態から、</a:t>
            </a:r>
            <a:endParaRPr lang="en-US" sz="1050" dirty="0"/>
          </a:p>
          <a:p>
            <a:pPr indent="0" marL="0">
              <a:lnSpc>
                <a:spcPct val="130000"/>
              </a:lnSpc>
              <a:buNone/>
            </a:pPr>
            <a:r>
              <a:rPr lang="en-US" sz="1050" dirty="0">
                <a:solidFill>
                  <a:srgbClr val="60757C"/>
                </a:solidFill>
                <a:latin typeface="Meiryo" pitchFamily="34" charset="0"/>
                <a:ea typeface="Meiryo" pitchFamily="34" charset="-122"/>
                <a:cs typeface="Meiryo" pitchFamily="34" charset="-120"/>
              </a:rPr>
              <a:t>ツールに固定された状態へ。</a:t>
            </a:r>
            <a:endParaRPr lang="en-US" sz="1050" dirty="0"/>
          </a:p>
          <a:p>
            <a:pPr indent="0" marL="0">
              <a:lnSpc>
                <a:spcPct val="130000"/>
              </a:lnSpc>
              <a:buNone/>
            </a:pPr>
            <a:r>
              <a:rPr lang="en-US" sz="1050" dirty="0">
                <a:solidFill>
                  <a:srgbClr val="60757C"/>
                </a:solidFill>
                <a:latin typeface="Meiryo" pitchFamily="34" charset="0"/>
                <a:ea typeface="Meiryo" pitchFamily="34" charset="-122"/>
                <a:cs typeface="Meiryo" pitchFamily="34" charset="-120"/>
              </a:rPr>
              <a:t>担当者が代わっても同じ結果が出る。</a:t>
            </a:r>
            <a:endParaRPr lang="en-US" sz="1050" dirty="0"/>
          </a:p>
        </p:txBody>
      </p:sp>
      <p:sp>
        <p:nvSpPr>
          <p:cNvPr id="14" name="Shape 12"/>
          <p:cNvSpPr/>
          <p:nvPr/>
        </p:nvSpPr>
        <p:spPr>
          <a:xfrm>
            <a:off x="8321040" y="1737360"/>
            <a:ext cx="3474720" cy="2011680"/>
          </a:xfrm>
          <a:prstGeom prst="roundRect">
            <a:avLst>
              <a:gd name="adj" fmla="val 2727"/>
            </a:avLst>
          </a:prstGeom>
          <a:solidFill>
            <a:srgbClr val="FFFFFF"/>
          </a:solidFill>
          <a:ln w="12700">
            <a:solidFill>
              <a:srgbClr val="D9E4E4"/>
            </a:solidFill>
            <a:prstDash val="solid"/>
          </a:ln>
          <a:effectLst>
            <a:outerShdw sx="100000" sy="100000" kx="0" ky="0" algn="bl" rotWithShape="0" blurRad="177800" dist="38100" dir="5400000">
              <a:srgbClr val="0B2026">
                <a:alpha val="10000"/>
              </a:srgbClr>
            </a:outerShdw>
          </a:effectLst>
        </p:spPr>
      </p:sp>
      <p:sp>
        <p:nvSpPr>
          <p:cNvPr id="15" name="Shape 13"/>
          <p:cNvSpPr/>
          <p:nvPr/>
        </p:nvSpPr>
        <p:spPr>
          <a:xfrm>
            <a:off x="8595360" y="2011680"/>
            <a:ext cx="420624" cy="420624"/>
          </a:xfrm>
          <a:prstGeom prst="ellipse">
            <a:avLst/>
          </a:prstGeom>
          <a:solidFill>
            <a:srgbClr val="0E7C7B"/>
          </a:solidFill>
          <a:ln/>
        </p:spPr>
      </p:sp>
      <p:sp>
        <p:nvSpPr>
          <p:cNvPr id="16" name="Text 14"/>
          <p:cNvSpPr/>
          <p:nvPr/>
        </p:nvSpPr>
        <p:spPr>
          <a:xfrm>
            <a:off x="8595360" y="201168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a:t>
            </a:r>
            <a:endParaRPr lang="en-US" sz="1500" dirty="0"/>
          </a:p>
        </p:txBody>
      </p:sp>
      <p:sp>
        <p:nvSpPr>
          <p:cNvPr id="17" name="Text 15"/>
          <p:cNvSpPr/>
          <p:nvPr/>
        </p:nvSpPr>
        <p:spPr>
          <a:xfrm>
            <a:off x="8595360" y="2560320"/>
            <a:ext cx="2926080" cy="310896"/>
          </a:xfrm>
          <a:prstGeom prst="rect">
            <a:avLst/>
          </a:prstGeom>
          <a:noFill/>
          <a:ln/>
        </p:spPr>
        <p:txBody>
          <a:bodyPr wrap="square" lIns="0" tIns="0" rIns="0" bIns="0" rtlCol="0" anchor="ctr"/>
          <a:lstStyle/>
          <a:p>
            <a:pPr indent="0" marL="0">
              <a:buNone/>
            </a:pPr>
            <a:r>
              <a:rPr lang="en-US" sz="1500" b="1" dirty="0">
                <a:solidFill>
                  <a:srgbClr val="102A33"/>
                </a:solidFill>
                <a:latin typeface="Meiryo" pitchFamily="34" charset="0"/>
                <a:ea typeface="Meiryo" pitchFamily="34" charset="-122"/>
                <a:cs typeface="Meiryo" pitchFamily="34" charset="-120"/>
              </a:rPr>
              <a:t>根拠が追える</a:t>
            </a:r>
            <a:endParaRPr lang="en-US" sz="1500" dirty="0"/>
          </a:p>
        </p:txBody>
      </p:sp>
      <p:sp>
        <p:nvSpPr>
          <p:cNvPr id="18" name="Text 16"/>
          <p:cNvSpPr/>
          <p:nvPr/>
        </p:nvSpPr>
        <p:spPr>
          <a:xfrm>
            <a:off x="8595360" y="2926080"/>
            <a:ext cx="2971800" cy="749808"/>
          </a:xfrm>
          <a:prstGeom prst="rect">
            <a:avLst/>
          </a:prstGeom>
          <a:noFill/>
          <a:ln/>
        </p:spPr>
        <p:txBody>
          <a:bodyPr wrap="square" lIns="0" tIns="0" rIns="0" bIns="0" rtlCol="0" anchor="ctr"/>
          <a:lstStyle/>
          <a:p>
            <a:pPr indent="0" marL="0">
              <a:lnSpc>
                <a:spcPct val="130000"/>
              </a:lnSpc>
              <a:buNone/>
            </a:pPr>
            <a:r>
              <a:rPr lang="en-US" sz="1050" dirty="0">
                <a:solidFill>
                  <a:srgbClr val="60757C"/>
                </a:solidFill>
                <a:latin typeface="Meiryo" pitchFamily="34" charset="0"/>
                <a:ea typeface="Meiryo" pitchFamily="34" charset="-122"/>
                <a:cs typeface="Meiryo" pitchFamily="34" charset="-120"/>
              </a:rPr>
              <a:t>何行分を合計したか、</a:t>
            </a:r>
            <a:endParaRPr lang="en-US" sz="1050" dirty="0"/>
          </a:p>
          <a:p>
            <a:pPr indent="0" marL="0">
              <a:lnSpc>
                <a:spcPct val="130000"/>
              </a:lnSpc>
              <a:buNone/>
            </a:pPr>
            <a:r>
              <a:rPr lang="en-US" sz="1050" dirty="0">
                <a:solidFill>
                  <a:srgbClr val="60757C"/>
                </a:solidFill>
                <a:latin typeface="Meiryo" pitchFamily="34" charset="0"/>
                <a:ea typeface="Meiryo" pitchFamily="34" charset="-122"/>
                <a:cs typeface="Meiryo" pitchFamily="34" charset="-120"/>
              </a:rPr>
              <a:t>変換前の保管場所名は何だったかを</a:t>
            </a:r>
            <a:endParaRPr lang="en-US" sz="1050" dirty="0"/>
          </a:p>
          <a:p>
            <a:pPr indent="0" marL="0">
              <a:lnSpc>
                <a:spcPct val="130000"/>
              </a:lnSpc>
              <a:buNone/>
            </a:pPr>
            <a:r>
              <a:rPr lang="en-US" sz="1050" dirty="0">
                <a:solidFill>
                  <a:srgbClr val="60757C"/>
                </a:solidFill>
                <a:latin typeface="Meiryo" pitchFamily="34" charset="0"/>
                <a:ea typeface="Meiryo" pitchFamily="34" charset="-122"/>
                <a:cs typeface="Meiryo" pitchFamily="34" charset="-120"/>
              </a:rPr>
              <a:t>出力に残しているので、後から検証できる。</a:t>
            </a:r>
            <a:endParaRPr lang="en-US" sz="1050" dirty="0"/>
          </a:p>
        </p:txBody>
      </p:sp>
      <p:sp>
        <p:nvSpPr>
          <p:cNvPr id="19" name="Text 17"/>
          <p:cNvSpPr/>
          <p:nvPr/>
        </p:nvSpPr>
        <p:spPr>
          <a:xfrm>
            <a:off x="640080" y="3977640"/>
            <a:ext cx="10881360" cy="292608"/>
          </a:xfrm>
          <a:prstGeom prst="rect">
            <a:avLst/>
          </a:prstGeom>
          <a:noFill/>
          <a:ln/>
        </p:spPr>
        <p:txBody>
          <a:bodyPr wrap="square" lIns="0" tIns="0" rIns="0" bIns="0" rtlCol="0" anchor="ctr"/>
          <a:lstStyle/>
          <a:p>
            <a:pPr indent="0" marL="0">
              <a:buNone/>
            </a:pPr>
            <a:r>
              <a:rPr lang="en-US" sz="1300" b="1" dirty="0">
                <a:solidFill>
                  <a:srgbClr val="102A33"/>
                </a:solidFill>
                <a:latin typeface="Meiryo" pitchFamily="34" charset="0"/>
                <a:ea typeface="Meiryo" pitchFamily="34" charset="-122"/>
                <a:cs typeface="Meiryo" pitchFamily="34" charset="-120"/>
              </a:rPr>
              <a:t>「対象外にしたもの」も画面に残す ― 黙って捨てない</a:t>
            </a:r>
            <a:endParaRPr lang="en-US" sz="1300" dirty="0"/>
          </a:p>
        </p:txBody>
      </p:sp>
      <p:sp>
        <p:nvSpPr>
          <p:cNvPr id="20" name="Shape 18"/>
          <p:cNvSpPr/>
          <p:nvPr/>
        </p:nvSpPr>
        <p:spPr>
          <a:xfrm>
            <a:off x="640080" y="4343400"/>
            <a:ext cx="10881360" cy="1828800"/>
          </a:xfrm>
          <a:prstGeom prst="roundRect">
            <a:avLst>
              <a:gd name="adj" fmla="val 3000"/>
            </a:avLst>
          </a:prstGeom>
          <a:solidFill>
            <a:srgbClr val="FFFFFF"/>
          </a:solidFill>
          <a:ln w="12700">
            <a:solidFill>
              <a:srgbClr val="D9E4E4"/>
            </a:solidFill>
            <a:prstDash val="solid"/>
          </a:ln>
          <a:effectLst>
            <a:outerShdw sx="100000" sy="100000" kx="0" ky="0" algn="bl" rotWithShape="0" blurRad="177800" dist="38100" dir="5400000">
              <a:srgbClr val="0B2026">
                <a:alpha val="10000"/>
              </a:srgbClr>
            </a:outerShdw>
          </a:effectLst>
        </p:spPr>
      </p:sp>
      <p:pic>
        <p:nvPicPr>
          <p:cNvPr id="21" name="Image 0" descr="/tmp/claude-0/-home-user-ruri-automation/89813f7a-5296-5d09-bfb4-0bd655cf769e/scratchpad/deck/shot_warn.png">    </p:cNvPr>
          <p:cNvPicPr>
            <a:picLocks noChangeAspect="1"/>
          </p:cNvPicPr>
          <p:nvPr/>
        </p:nvPicPr>
        <p:blipFill>
          <a:blip r:embed="rId1"/>
          <a:stretch>
            <a:fillRect/>
          </a:stretch>
        </p:blipFill>
        <p:spPr>
          <a:xfrm>
            <a:off x="777240" y="4480560"/>
            <a:ext cx="10607040" cy="1563624"/>
          </a:xfrm>
          <a:prstGeom prst="rect">
            <a:avLst/>
          </a:prstGeom>
        </p:spPr>
      </p:pic>
      <p:sp>
        <p:nvSpPr>
          <p:cNvPr id="22" name="Text 19"/>
          <p:cNvSpPr/>
          <p:nvPr/>
        </p:nvSpPr>
        <p:spPr>
          <a:xfrm>
            <a:off x="11430000" y="6355080"/>
            <a:ext cx="457200" cy="274320"/>
          </a:xfrm>
          <a:prstGeom prst="rect">
            <a:avLst/>
          </a:prstGeom>
          <a:noFill/>
          <a:ln/>
        </p:spPr>
        <p:txBody>
          <a:bodyPr wrap="square" lIns="0" tIns="0" rIns="0" bIns="0" rtlCol="0" anchor="ctr"/>
          <a:lstStyle/>
          <a:p>
            <a:pPr algn="r" indent="0" marL="0">
              <a:buNone/>
            </a:pPr>
            <a:r>
              <a:rPr lang="en-US" sz="1000" dirty="0">
                <a:solidFill>
                  <a:srgbClr val="60757C"/>
                </a:solidFill>
                <a:latin typeface="Arial" pitchFamily="34" charset="0"/>
                <a:ea typeface="Arial" pitchFamily="34" charset="-122"/>
                <a:cs typeface="Arial"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20624"/>
            <a:ext cx="10881360" cy="566928"/>
          </a:xfrm>
          <a:prstGeom prst="rect">
            <a:avLst/>
          </a:prstGeom>
          <a:noFill/>
          <a:ln/>
        </p:spPr>
        <p:txBody>
          <a:bodyPr wrap="square" lIns="0" tIns="0" rIns="0" bIns="0" rtlCol="0" anchor="ctr"/>
          <a:lstStyle/>
          <a:p>
            <a:pPr indent="0" marL="0">
              <a:buNone/>
            </a:pPr>
            <a:r>
              <a:rPr lang="en-US" sz="3000" b="1" dirty="0">
                <a:solidFill>
                  <a:srgbClr val="102A33"/>
                </a:solidFill>
                <a:latin typeface="Meiryo" pitchFamily="34" charset="0"/>
                <a:ea typeface="Meiryo" pitchFamily="34" charset="-122"/>
                <a:cs typeface="Meiryo" pitchFamily="34" charset="-120"/>
              </a:rPr>
              <a:t>工夫点①：業務の判断は、人が決める</a:t>
            </a:r>
            <a:endParaRPr lang="en-US" sz="3000" dirty="0"/>
          </a:p>
        </p:txBody>
      </p:sp>
      <p:sp>
        <p:nvSpPr>
          <p:cNvPr id="3" name="Text 1"/>
          <p:cNvSpPr/>
          <p:nvPr/>
        </p:nvSpPr>
        <p:spPr>
          <a:xfrm>
            <a:off x="640080" y="1042416"/>
            <a:ext cx="10881360" cy="384048"/>
          </a:xfrm>
          <a:prstGeom prst="rect">
            <a:avLst/>
          </a:prstGeom>
          <a:noFill/>
          <a:ln/>
        </p:spPr>
        <p:txBody>
          <a:bodyPr wrap="square" lIns="0" tIns="0" rIns="0" bIns="0" rtlCol="0" anchor="ctr"/>
          <a:lstStyle/>
          <a:p>
            <a:pPr indent="0" marL="0">
              <a:buNone/>
            </a:pPr>
            <a:r>
              <a:rPr lang="en-US" sz="1350" dirty="0">
                <a:solidFill>
                  <a:srgbClr val="60757C"/>
                </a:solidFill>
                <a:latin typeface="Meiryo" pitchFamily="34" charset="0"/>
                <a:ea typeface="Meiryo" pitchFamily="34" charset="-122"/>
                <a:cs typeface="Meiryo" pitchFamily="34" charset="-120"/>
              </a:rPr>
              <a:t>AIは実装は速いが「業務としてどちらが正しいか」は決められない。判断が要る点を先に潰した</a:t>
            </a:r>
            <a:endParaRPr lang="en-US" sz="1350" dirty="0"/>
          </a:p>
        </p:txBody>
      </p:sp>
      <p:sp>
        <p:nvSpPr>
          <p:cNvPr id="4" name="Shape 2"/>
          <p:cNvSpPr/>
          <p:nvPr/>
        </p:nvSpPr>
        <p:spPr>
          <a:xfrm>
            <a:off x="640080" y="1737360"/>
            <a:ext cx="10881360" cy="1325880"/>
          </a:xfrm>
          <a:prstGeom prst="roundRect">
            <a:avLst>
              <a:gd name="adj" fmla="val 4138"/>
            </a:avLst>
          </a:prstGeom>
          <a:solidFill>
            <a:srgbClr val="FFFFFF"/>
          </a:solidFill>
          <a:ln w="12700">
            <a:solidFill>
              <a:srgbClr val="D9E4E4"/>
            </a:solidFill>
            <a:prstDash val="solid"/>
          </a:ln>
          <a:effectLst>
            <a:outerShdw sx="100000" sy="100000" kx="0" ky="0" algn="bl" rotWithShape="0" blurRad="177800" dist="38100" dir="5400000">
              <a:srgbClr val="0B2026">
                <a:alpha val="10000"/>
              </a:srgbClr>
            </a:outerShdw>
          </a:effectLst>
        </p:spPr>
      </p:sp>
      <p:sp>
        <p:nvSpPr>
          <p:cNvPr id="5" name="Text 3"/>
          <p:cNvSpPr/>
          <p:nvPr/>
        </p:nvSpPr>
        <p:spPr>
          <a:xfrm>
            <a:off x="914400" y="1920240"/>
            <a:ext cx="2926080" cy="201168"/>
          </a:xfrm>
          <a:prstGeom prst="rect">
            <a:avLst/>
          </a:prstGeom>
          <a:noFill/>
          <a:ln/>
        </p:spPr>
        <p:txBody>
          <a:bodyPr wrap="square" lIns="0" tIns="0" rIns="0" bIns="0" rtlCol="0" anchor="ctr"/>
          <a:lstStyle/>
          <a:p>
            <a:pPr indent="0" marL="0">
              <a:buNone/>
            </a:pPr>
            <a:r>
              <a:rPr lang="en-US" sz="900" dirty="0">
                <a:solidFill>
                  <a:srgbClr val="60757C"/>
                </a:solidFill>
                <a:latin typeface="Meiryo" pitchFamily="34" charset="0"/>
                <a:ea typeface="Meiryo" pitchFamily="34" charset="-122"/>
                <a:cs typeface="Meiryo" pitchFamily="34" charset="-120"/>
              </a:rPr>
              <a:t>論点</a:t>
            </a:r>
            <a:endParaRPr lang="en-US" sz="900" dirty="0"/>
          </a:p>
        </p:txBody>
      </p:sp>
      <p:sp>
        <p:nvSpPr>
          <p:cNvPr id="6" name="Text 4"/>
          <p:cNvSpPr/>
          <p:nvPr/>
        </p:nvSpPr>
        <p:spPr>
          <a:xfrm>
            <a:off x="914400" y="2139696"/>
            <a:ext cx="2926080" cy="548640"/>
          </a:xfrm>
          <a:prstGeom prst="rect">
            <a:avLst/>
          </a:prstGeom>
          <a:noFill/>
          <a:ln/>
        </p:spPr>
        <p:txBody>
          <a:bodyPr wrap="square" lIns="0" tIns="0" rIns="0" bIns="0" rtlCol="0" anchor="ctr"/>
          <a:lstStyle/>
          <a:p>
            <a:pPr indent="0" marL="0">
              <a:lnSpc>
                <a:spcPct val="115000"/>
              </a:lnSpc>
              <a:buNone/>
            </a:pPr>
            <a:r>
              <a:rPr lang="en-US" sz="1300" b="1" dirty="0">
                <a:solidFill>
                  <a:srgbClr val="102A33"/>
                </a:solidFill>
                <a:latin typeface="Meiryo" pitchFamily="34" charset="0"/>
                <a:ea typeface="Meiryo" pitchFamily="34" charset="-122"/>
                <a:cs typeface="Meiryo" pitchFamily="34" charset="-120"/>
              </a:rPr>
              <a:t>表記ゆれを吸収するか</a:t>
            </a:r>
            <a:endParaRPr lang="en-US" sz="1300" dirty="0"/>
          </a:p>
        </p:txBody>
      </p:sp>
      <p:sp>
        <p:nvSpPr>
          <p:cNvPr id="7" name="Shape 5"/>
          <p:cNvSpPr/>
          <p:nvPr/>
        </p:nvSpPr>
        <p:spPr>
          <a:xfrm>
            <a:off x="4023360" y="2084832"/>
            <a:ext cx="2651760" cy="566928"/>
          </a:xfrm>
          <a:prstGeom prst="roundRect">
            <a:avLst>
              <a:gd name="adj" fmla="val 16129"/>
            </a:avLst>
          </a:prstGeom>
          <a:solidFill>
            <a:srgbClr val="E3F0EF"/>
          </a:solidFill>
          <a:ln/>
        </p:spPr>
      </p:sp>
      <p:sp>
        <p:nvSpPr>
          <p:cNvPr id="8" name="Text 6"/>
          <p:cNvSpPr/>
          <p:nvPr/>
        </p:nvSpPr>
        <p:spPr>
          <a:xfrm>
            <a:off x="4160520" y="2084832"/>
            <a:ext cx="2377440" cy="566928"/>
          </a:xfrm>
          <a:prstGeom prst="rect">
            <a:avLst/>
          </a:prstGeom>
          <a:noFill/>
          <a:ln/>
        </p:spPr>
        <p:txBody>
          <a:bodyPr wrap="square" lIns="0" tIns="0" rIns="0" bIns="0" rtlCol="0" anchor="ctr"/>
          <a:lstStyle/>
          <a:p>
            <a:pPr algn="ctr" indent="0" marL="0">
              <a:buNone/>
            </a:pPr>
            <a:r>
              <a:rPr lang="en-US" sz="1200" b="1" dirty="0">
                <a:solidFill>
                  <a:srgbClr val="0A5F5E"/>
                </a:solidFill>
                <a:latin typeface="Meiryo" pitchFamily="34" charset="0"/>
                <a:ea typeface="Meiryo" pitchFamily="34" charset="-122"/>
                <a:cs typeface="Meiryo" pitchFamily="34" charset="-120"/>
              </a:rPr>
              <a:t>吸収しない（完全一致）</a:t>
            </a:r>
            <a:endParaRPr lang="en-US" sz="1200" dirty="0"/>
          </a:p>
        </p:txBody>
      </p:sp>
      <p:sp>
        <p:nvSpPr>
          <p:cNvPr id="9" name="Text 7"/>
          <p:cNvSpPr/>
          <p:nvPr/>
        </p:nvSpPr>
        <p:spPr>
          <a:xfrm>
            <a:off x="6949440" y="1993392"/>
            <a:ext cx="4343400" cy="868680"/>
          </a:xfrm>
          <a:prstGeom prst="rect">
            <a:avLst/>
          </a:prstGeom>
          <a:noFill/>
          <a:ln/>
        </p:spPr>
        <p:txBody>
          <a:bodyPr wrap="square" lIns="0" tIns="0" rIns="0" bIns="0" rtlCol="0" anchor="ctr"/>
          <a:lstStyle/>
          <a:p>
            <a:pPr indent="0" marL="0">
              <a:lnSpc>
                <a:spcPct val="130000"/>
              </a:lnSpc>
              <a:buNone/>
            </a:pPr>
            <a:r>
              <a:rPr lang="en-US" sz="950" dirty="0">
                <a:solidFill>
                  <a:srgbClr val="60757C"/>
                </a:solidFill>
                <a:latin typeface="Meiryo" pitchFamily="34" charset="0"/>
                <a:ea typeface="Meiryo" pitchFamily="34" charset="-122"/>
                <a:cs typeface="Meiryo" pitchFamily="34" charset="-120"/>
              </a:rPr>
              <a:t>自動で全角半角を揃えると、本来別物の型式が同じ扱いになる恐れがある。</a:t>
            </a:r>
            <a:endParaRPr lang="en-US" sz="950" dirty="0"/>
          </a:p>
          <a:p>
            <a:pPr indent="0" marL="0">
              <a:lnSpc>
                <a:spcPct val="130000"/>
              </a:lnSpc>
              <a:buNone/>
            </a:pPr>
            <a:r>
              <a:rPr lang="en-US" sz="950" dirty="0">
                <a:solidFill>
                  <a:srgbClr val="60757C"/>
                </a:solidFill>
                <a:latin typeface="Meiryo" pitchFamily="34" charset="0"/>
                <a:ea typeface="Meiryo" pitchFamily="34" charset="-122"/>
                <a:cs typeface="Meiryo" pitchFamily="34" charset="-120"/>
              </a:rPr>
              <a:t>ただし「空白や全角半角だけが違う惜しいキー」は警告として表示し、原因を追えるようにした。</a:t>
            </a:r>
            <a:endParaRPr lang="en-US" sz="950" dirty="0"/>
          </a:p>
        </p:txBody>
      </p:sp>
      <p:sp>
        <p:nvSpPr>
          <p:cNvPr id="10" name="Shape 8"/>
          <p:cNvSpPr/>
          <p:nvPr/>
        </p:nvSpPr>
        <p:spPr>
          <a:xfrm>
            <a:off x="640080" y="3200400"/>
            <a:ext cx="10881360" cy="1325880"/>
          </a:xfrm>
          <a:prstGeom prst="roundRect">
            <a:avLst>
              <a:gd name="adj" fmla="val 4138"/>
            </a:avLst>
          </a:prstGeom>
          <a:solidFill>
            <a:srgbClr val="FFFFFF"/>
          </a:solidFill>
          <a:ln w="12700">
            <a:solidFill>
              <a:srgbClr val="D9E4E4"/>
            </a:solidFill>
            <a:prstDash val="solid"/>
          </a:ln>
          <a:effectLst>
            <a:outerShdw sx="100000" sy="100000" kx="0" ky="0" algn="bl" rotWithShape="0" blurRad="177800" dist="38100" dir="5400000">
              <a:srgbClr val="0B2026">
                <a:alpha val="10000"/>
              </a:srgbClr>
            </a:outerShdw>
          </a:effectLst>
        </p:spPr>
      </p:sp>
      <p:sp>
        <p:nvSpPr>
          <p:cNvPr id="11" name="Text 9"/>
          <p:cNvSpPr/>
          <p:nvPr/>
        </p:nvSpPr>
        <p:spPr>
          <a:xfrm>
            <a:off x="914400" y="3383280"/>
            <a:ext cx="2926080" cy="201168"/>
          </a:xfrm>
          <a:prstGeom prst="rect">
            <a:avLst/>
          </a:prstGeom>
          <a:noFill/>
          <a:ln/>
        </p:spPr>
        <p:txBody>
          <a:bodyPr wrap="square" lIns="0" tIns="0" rIns="0" bIns="0" rtlCol="0" anchor="ctr"/>
          <a:lstStyle/>
          <a:p>
            <a:pPr indent="0" marL="0">
              <a:buNone/>
            </a:pPr>
            <a:r>
              <a:rPr lang="en-US" sz="900" dirty="0">
                <a:solidFill>
                  <a:srgbClr val="60757C"/>
                </a:solidFill>
                <a:latin typeface="Meiryo" pitchFamily="34" charset="0"/>
                <a:ea typeface="Meiryo" pitchFamily="34" charset="-122"/>
                <a:cs typeface="Meiryo" pitchFamily="34" charset="-120"/>
              </a:rPr>
              <a:t>論点</a:t>
            </a:r>
            <a:endParaRPr lang="en-US" sz="900" dirty="0"/>
          </a:p>
        </p:txBody>
      </p:sp>
      <p:sp>
        <p:nvSpPr>
          <p:cNvPr id="12" name="Text 10"/>
          <p:cNvSpPr/>
          <p:nvPr/>
        </p:nvSpPr>
        <p:spPr>
          <a:xfrm>
            <a:off x="914400" y="3602736"/>
            <a:ext cx="2926080" cy="548640"/>
          </a:xfrm>
          <a:prstGeom prst="rect">
            <a:avLst/>
          </a:prstGeom>
          <a:noFill/>
          <a:ln/>
        </p:spPr>
        <p:txBody>
          <a:bodyPr wrap="square" lIns="0" tIns="0" rIns="0" bIns="0" rtlCol="0" anchor="ctr"/>
          <a:lstStyle/>
          <a:p>
            <a:pPr indent="0" marL="0">
              <a:lnSpc>
                <a:spcPct val="115000"/>
              </a:lnSpc>
              <a:buNone/>
            </a:pPr>
            <a:r>
              <a:rPr lang="en-US" sz="1300" b="1" dirty="0">
                <a:solidFill>
                  <a:srgbClr val="102A33"/>
                </a:solidFill>
                <a:latin typeface="Meiryo" pitchFamily="34" charset="0"/>
                <a:ea typeface="Meiryo" pitchFamily="34" charset="-122"/>
                <a:cs typeface="Meiryo" pitchFamily="34" charset="-120"/>
              </a:rPr>
              <a:t>どこまでを対象にするか</a:t>
            </a:r>
            <a:endParaRPr lang="en-US" sz="1300" dirty="0"/>
          </a:p>
        </p:txBody>
      </p:sp>
      <p:sp>
        <p:nvSpPr>
          <p:cNvPr id="13" name="Shape 11"/>
          <p:cNvSpPr/>
          <p:nvPr/>
        </p:nvSpPr>
        <p:spPr>
          <a:xfrm>
            <a:off x="4023360" y="3547872"/>
            <a:ext cx="2651760" cy="566928"/>
          </a:xfrm>
          <a:prstGeom prst="roundRect">
            <a:avLst>
              <a:gd name="adj" fmla="val 16129"/>
            </a:avLst>
          </a:prstGeom>
          <a:solidFill>
            <a:srgbClr val="E3F0EF"/>
          </a:solidFill>
          <a:ln/>
        </p:spPr>
      </p:sp>
      <p:sp>
        <p:nvSpPr>
          <p:cNvPr id="14" name="Text 12"/>
          <p:cNvSpPr/>
          <p:nvPr/>
        </p:nvSpPr>
        <p:spPr>
          <a:xfrm>
            <a:off x="4160520" y="3547872"/>
            <a:ext cx="2377440" cy="566928"/>
          </a:xfrm>
          <a:prstGeom prst="rect">
            <a:avLst/>
          </a:prstGeom>
          <a:noFill/>
          <a:ln/>
        </p:spPr>
        <p:txBody>
          <a:bodyPr wrap="square" lIns="0" tIns="0" rIns="0" bIns="0" rtlCol="0" anchor="ctr"/>
          <a:lstStyle/>
          <a:p>
            <a:pPr algn="ctr" indent="0" marL="0">
              <a:buNone/>
            </a:pPr>
            <a:r>
              <a:rPr lang="en-US" sz="1200" b="1" dirty="0">
                <a:solidFill>
                  <a:srgbClr val="0A5F5E"/>
                </a:solidFill>
                <a:latin typeface="Meiryo" pitchFamily="34" charset="0"/>
                <a:ea typeface="Meiryo" pitchFamily="34" charset="-122"/>
                <a:cs typeface="Meiryo" pitchFamily="34" charset="-120"/>
              </a:rPr>
              <a:t>預り書にある倉庫だけ</a:t>
            </a:r>
            <a:endParaRPr lang="en-US" sz="1200" dirty="0"/>
          </a:p>
        </p:txBody>
      </p:sp>
      <p:sp>
        <p:nvSpPr>
          <p:cNvPr id="15" name="Text 13"/>
          <p:cNvSpPr/>
          <p:nvPr/>
        </p:nvSpPr>
        <p:spPr>
          <a:xfrm>
            <a:off x="6949440" y="3456432"/>
            <a:ext cx="4343400" cy="868680"/>
          </a:xfrm>
          <a:prstGeom prst="rect">
            <a:avLst/>
          </a:prstGeom>
          <a:noFill/>
          <a:ln/>
        </p:spPr>
        <p:txBody>
          <a:bodyPr wrap="square" lIns="0" tIns="0" rIns="0" bIns="0" rtlCol="0" anchor="ctr"/>
          <a:lstStyle/>
          <a:p>
            <a:pPr indent="0" marL="0">
              <a:lnSpc>
                <a:spcPct val="130000"/>
              </a:lnSpc>
              <a:buNone/>
            </a:pPr>
            <a:r>
              <a:rPr lang="en-US" sz="950" dirty="0">
                <a:solidFill>
                  <a:srgbClr val="60757C"/>
                </a:solidFill>
                <a:latin typeface="Meiryo" pitchFamily="34" charset="0"/>
                <a:ea typeface="Meiryo" pitchFamily="34" charset="-122"/>
                <a:cs typeface="Meiryo" pitchFamily="34" charset="-120"/>
              </a:rPr>
              <a:t>SAP側には取引先名など棚卸対象外の保管場所が含まれる。</a:t>
            </a:r>
            <a:endParaRPr lang="en-US" sz="950" dirty="0"/>
          </a:p>
          <a:p>
            <a:pPr indent="0" marL="0">
              <a:lnSpc>
                <a:spcPct val="130000"/>
              </a:lnSpc>
              <a:buNone/>
            </a:pPr>
            <a:r>
              <a:rPr lang="en-US" sz="950" dirty="0">
                <a:solidFill>
                  <a:srgbClr val="60757C"/>
                </a:solidFill>
                <a:latin typeface="Meiryo" pitchFamily="34" charset="0"/>
                <a:ea typeface="Meiryo" pitchFamily="34" charset="-122"/>
                <a:cs typeface="Meiryo" pitchFamily="34" charset="-120"/>
              </a:rPr>
              <a:t>対象外にしたものは件数・数量つきで別表示し、書き間違いで消えていないか確認できるようにした。</a:t>
            </a:r>
            <a:endParaRPr lang="en-US" sz="950" dirty="0"/>
          </a:p>
        </p:txBody>
      </p:sp>
      <p:sp>
        <p:nvSpPr>
          <p:cNvPr id="16" name="Shape 14"/>
          <p:cNvSpPr/>
          <p:nvPr/>
        </p:nvSpPr>
        <p:spPr>
          <a:xfrm>
            <a:off x="640080" y="4663440"/>
            <a:ext cx="10881360" cy="1325880"/>
          </a:xfrm>
          <a:prstGeom prst="roundRect">
            <a:avLst>
              <a:gd name="adj" fmla="val 4138"/>
            </a:avLst>
          </a:prstGeom>
          <a:solidFill>
            <a:srgbClr val="FFFFFF"/>
          </a:solidFill>
          <a:ln w="12700">
            <a:solidFill>
              <a:srgbClr val="D9E4E4"/>
            </a:solidFill>
            <a:prstDash val="solid"/>
          </a:ln>
          <a:effectLst>
            <a:outerShdw sx="100000" sy="100000" kx="0" ky="0" algn="bl" rotWithShape="0" blurRad="177800" dist="38100" dir="5400000">
              <a:srgbClr val="0B2026">
                <a:alpha val="10000"/>
              </a:srgbClr>
            </a:outerShdw>
          </a:effectLst>
        </p:spPr>
      </p:sp>
      <p:sp>
        <p:nvSpPr>
          <p:cNvPr id="17" name="Text 15"/>
          <p:cNvSpPr/>
          <p:nvPr/>
        </p:nvSpPr>
        <p:spPr>
          <a:xfrm>
            <a:off x="914400" y="4846320"/>
            <a:ext cx="2926080" cy="201168"/>
          </a:xfrm>
          <a:prstGeom prst="rect">
            <a:avLst/>
          </a:prstGeom>
          <a:noFill/>
          <a:ln/>
        </p:spPr>
        <p:txBody>
          <a:bodyPr wrap="square" lIns="0" tIns="0" rIns="0" bIns="0" rtlCol="0" anchor="ctr"/>
          <a:lstStyle/>
          <a:p>
            <a:pPr indent="0" marL="0">
              <a:buNone/>
            </a:pPr>
            <a:r>
              <a:rPr lang="en-US" sz="900" dirty="0">
                <a:solidFill>
                  <a:srgbClr val="60757C"/>
                </a:solidFill>
                <a:latin typeface="Meiryo" pitchFamily="34" charset="0"/>
                <a:ea typeface="Meiryo" pitchFamily="34" charset="-122"/>
                <a:cs typeface="Meiryo" pitchFamily="34" charset="-120"/>
              </a:rPr>
              <a:t>論点</a:t>
            </a:r>
            <a:endParaRPr lang="en-US" sz="900" dirty="0"/>
          </a:p>
        </p:txBody>
      </p:sp>
      <p:sp>
        <p:nvSpPr>
          <p:cNvPr id="18" name="Text 16"/>
          <p:cNvSpPr/>
          <p:nvPr/>
        </p:nvSpPr>
        <p:spPr>
          <a:xfrm>
            <a:off x="914400" y="5065776"/>
            <a:ext cx="2926080" cy="548640"/>
          </a:xfrm>
          <a:prstGeom prst="rect">
            <a:avLst/>
          </a:prstGeom>
          <a:noFill/>
          <a:ln/>
        </p:spPr>
        <p:txBody>
          <a:bodyPr wrap="square" lIns="0" tIns="0" rIns="0" bIns="0" rtlCol="0" anchor="ctr"/>
          <a:lstStyle/>
          <a:p>
            <a:pPr indent="0" marL="0">
              <a:lnSpc>
                <a:spcPct val="115000"/>
              </a:lnSpc>
              <a:buNone/>
            </a:pPr>
            <a:r>
              <a:rPr lang="en-US" sz="1300" b="1" dirty="0">
                <a:solidFill>
                  <a:srgbClr val="102A33"/>
                </a:solidFill>
                <a:latin typeface="Meiryo" pitchFamily="34" charset="0"/>
                <a:ea typeface="Meiryo" pitchFamily="34" charset="-122"/>
                <a:cs typeface="Meiryo" pitchFamily="34" charset="-120"/>
              </a:rPr>
              <a:t>数量の解釈をどこまでやるか</a:t>
            </a:r>
            <a:endParaRPr lang="en-US" sz="1300" dirty="0"/>
          </a:p>
        </p:txBody>
      </p:sp>
      <p:sp>
        <p:nvSpPr>
          <p:cNvPr id="19" name="Shape 17"/>
          <p:cNvSpPr/>
          <p:nvPr/>
        </p:nvSpPr>
        <p:spPr>
          <a:xfrm>
            <a:off x="4023360" y="5010912"/>
            <a:ext cx="2651760" cy="566928"/>
          </a:xfrm>
          <a:prstGeom prst="roundRect">
            <a:avLst>
              <a:gd name="adj" fmla="val 16129"/>
            </a:avLst>
          </a:prstGeom>
          <a:solidFill>
            <a:srgbClr val="E3F0EF"/>
          </a:solidFill>
          <a:ln/>
        </p:spPr>
      </p:sp>
      <p:sp>
        <p:nvSpPr>
          <p:cNvPr id="20" name="Text 18"/>
          <p:cNvSpPr/>
          <p:nvPr/>
        </p:nvSpPr>
        <p:spPr>
          <a:xfrm>
            <a:off x="4160520" y="5010912"/>
            <a:ext cx="2377440" cy="566928"/>
          </a:xfrm>
          <a:prstGeom prst="rect">
            <a:avLst/>
          </a:prstGeom>
          <a:noFill/>
          <a:ln/>
        </p:spPr>
        <p:txBody>
          <a:bodyPr wrap="square" lIns="0" tIns="0" rIns="0" bIns="0" rtlCol="0" anchor="ctr"/>
          <a:lstStyle/>
          <a:p>
            <a:pPr algn="ctr" indent="0" marL="0">
              <a:buNone/>
            </a:pPr>
            <a:r>
              <a:rPr lang="en-US" sz="1200" b="1" dirty="0">
                <a:solidFill>
                  <a:srgbClr val="0A5F5E"/>
                </a:solidFill>
                <a:latin typeface="Meiryo" pitchFamily="34" charset="0"/>
                <a:ea typeface="Meiryo" pitchFamily="34" charset="-122"/>
                <a:cs typeface="Meiryo" pitchFamily="34" charset="-120"/>
              </a:rPr>
              <a:t>誤読しない方を優先</a:t>
            </a:r>
            <a:endParaRPr lang="en-US" sz="1200" dirty="0"/>
          </a:p>
        </p:txBody>
      </p:sp>
      <p:sp>
        <p:nvSpPr>
          <p:cNvPr id="21" name="Text 19"/>
          <p:cNvSpPr/>
          <p:nvPr/>
        </p:nvSpPr>
        <p:spPr>
          <a:xfrm>
            <a:off x="6949440" y="4919472"/>
            <a:ext cx="4343400" cy="868680"/>
          </a:xfrm>
          <a:prstGeom prst="rect">
            <a:avLst/>
          </a:prstGeom>
          <a:noFill/>
          <a:ln/>
        </p:spPr>
        <p:txBody>
          <a:bodyPr wrap="square" lIns="0" tIns="0" rIns="0" bIns="0" rtlCol="0" anchor="ctr"/>
          <a:lstStyle/>
          <a:p>
            <a:pPr indent="0" marL="0">
              <a:lnSpc>
                <a:spcPct val="130000"/>
              </a:lnSpc>
              <a:buNone/>
            </a:pPr>
            <a:r>
              <a:rPr lang="en-US" sz="950" dirty="0">
                <a:solidFill>
                  <a:srgbClr val="60757C"/>
                </a:solidFill>
                <a:latin typeface="Meiryo" pitchFamily="34" charset="0"/>
                <a:ea typeface="Meiryo" pitchFamily="34" charset="-122"/>
                <a:cs typeface="Meiryo" pitchFamily="34" charset="-120"/>
              </a:rPr>
              <a:t>「1,234」「全角数字」「△123」は解釈するが、「12台」のような単位付きは解釈しない。</a:t>
            </a:r>
            <a:endParaRPr lang="en-US" sz="950" dirty="0"/>
          </a:p>
          <a:p>
            <a:pPr indent="0" marL="0">
              <a:lnSpc>
                <a:spcPct val="130000"/>
              </a:lnSpc>
              <a:buNone/>
            </a:pPr>
            <a:r>
              <a:rPr lang="en-US" sz="950" dirty="0">
                <a:solidFill>
                  <a:srgbClr val="60757C"/>
                </a:solidFill>
                <a:latin typeface="Meiryo" pitchFamily="34" charset="0"/>
                <a:ea typeface="Meiryo" pitchFamily="34" charset="-122"/>
                <a:cs typeface="Meiryo" pitchFamily="34" charset="-120"/>
              </a:rPr>
              <a:t>勝手に12と読むより、解釈できなかったと報告する方が安全と判断した。</a:t>
            </a:r>
            <a:endParaRPr lang="en-US" sz="950" dirty="0"/>
          </a:p>
        </p:txBody>
      </p:sp>
      <p:sp>
        <p:nvSpPr>
          <p:cNvPr id="22" name="Text 20"/>
          <p:cNvSpPr/>
          <p:nvPr/>
        </p:nvSpPr>
        <p:spPr>
          <a:xfrm>
            <a:off x="640080" y="6172200"/>
            <a:ext cx="10881360" cy="274320"/>
          </a:xfrm>
          <a:prstGeom prst="rect">
            <a:avLst/>
          </a:prstGeom>
          <a:noFill/>
          <a:ln/>
        </p:spPr>
        <p:txBody>
          <a:bodyPr wrap="square" lIns="0" tIns="0" rIns="0" bIns="0" rtlCol="0" anchor="ctr"/>
          <a:lstStyle/>
          <a:p>
            <a:pPr indent="0" marL="0">
              <a:buNone/>
            </a:pPr>
            <a:r>
              <a:rPr lang="en-US" sz="1100" i="1" dirty="0">
                <a:solidFill>
                  <a:srgbClr val="0A5F5E"/>
                </a:solidFill>
                <a:latin typeface="Meiryo" pitchFamily="34" charset="0"/>
                <a:ea typeface="Meiryo" pitchFamily="34" charset="-122"/>
                <a:cs typeface="Meiryo" pitchFamily="34" charset="-120"/>
              </a:rPr>
              <a:t>この3点は、AIに聞かれて初めて「決めていなかった」と気づいた。仕様を詰める作業自体が業務の棚卸になった。</a:t>
            </a:r>
            <a:endParaRPr lang="en-US" sz="1100" dirty="0"/>
          </a:p>
        </p:txBody>
      </p:sp>
      <p:sp>
        <p:nvSpPr>
          <p:cNvPr id="23" name="Text 21"/>
          <p:cNvSpPr/>
          <p:nvPr/>
        </p:nvSpPr>
        <p:spPr>
          <a:xfrm>
            <a:off x="11430000" y="6355080"/>
            <a:ext cx="457200" cy="274320"/>
          </a:xfrm>
          <a:prstGeom prst="rect">
            <a:avLst/>
          </a:prstGeom>
          <a:noFill/>
          <a:ln/>
        </p:spPr>
        <p:txBody>
          <a:bodyPr wrap="square" lIns="0" tIns="0" rIns="0" bIns="0" rtlCol="0" anchor="ctr"/>
          <a:lstStyle/>
          <a:p>
            <a:pPr algn="r" indent="0" marL="0">
              <a:buNone/>
            </a:pPr>
            <a:r>
              <a:rPr lang="en-US" sz="1000" dirty="0">
                <a:solidFill>
                  <a:srgbClr val="60757C"/>
                </a:solidFill>
                <a:latin typeface="Arial" pitchFamily="34" charset="0"/>
                <a:ea typeface="Arial" pitchFamily="34" charset="-122"/>
                <a:cs typeface="Arial"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20624"/>
            <a:ext cx="10881360" cy="566928"/>
          </a:xfrm>
          <a:prstGeom prst="rect">
            <a:avLst/>
          </a:prstGeom>
          <a:noFill/>
          <a:ln/>
        </p:spPr>
        <p:txBody>
          <a:bodyPr wrap="square" lIns="0" tIns="0" rIns="0" bIns="0" rtlCol="0" anchor="ctr"/>
          <a:lstStyle/>
          <a:p>
            <a:pPr indent="0" marL="0">
              <a:buNone/>
            </a:pPr>
            <a:r>
              <a:rPr lang="en-US" sz="3000" b="1" dirty="0">
                <a:solidFill>
                  <a:srgbClr val="102A33"/>
                </a:solidFill>
                <a:latin typeface="Meiryo" pitchFamily="34" charset="0"/>
                <a:ea typeface="Meiryo" pitchFamily="34" charset="-122"/>
                <a:cs typeface="Meiryo" pitchFamily="34" charset="-120"/>
              </a:rPr>
              <a:t>工夫点②：「使えない」を先に潰す</a:t>
            </a:r>
            <a:endParaRPr lang="en-US" sz="3000" dirty="0"/>
          </a:p>
        </p:txBody>
      </p:sp>
      <p:sp>
        <p:nvSpPr>
          <p:cNvPr id="3" name="Text 1"/>
          <p:cNvSpPr/>
          <p:nvPr/>
        </p:nvSpPr>
        <p:spPr>
          <a:xfrm>
            <a:off x="640080" y="1042416"/>
            <a:ext cx="10881360" cy="384048"/>
          </a:xfrm>
          <a:prstGeom prst="rect">
            <a:avLst/>
          </a:prstGeom>
          <a:noFill/>
          <a:ln/>
        </p:spPr>
        <p:txBody>
          <a:bodyPr wrap="square" lIns="0" tIns="0" rIns="0" bIns="0" rtlCol="0" anchor="ctr"/>
          <a:lstStyle/>
          <a:p>
            <a:pPr indent="0" marL="0">
              <a:buNone/>
            </a:pPr>
            <a:r>
              <a:rPr lang="en-US" sz="1350" dirty="0">
                <a:solidFill>
                  <a:srgbClr val="60757C"/>
                </a:solidFill>
                <a:latin typeface="Meiryo" pitchFamily="34" charset="0"/>
                <a:ea typeface="Meiryo" pitchFamily="34" charset="-122"/>
                <a:cs typeface="Meiryo" pitchFamily="34" charset="-120"/>
              </a:rPr>
              <a:t>実際にブラウザで動かして初めて分かった問題。机上のレビューでは見つからなかった</a:t>
            </a:r>
            <a:endParaRPr lang="en-US" sz="1350" dirty="0"/>
          </a:p>
        </p:txBody>
      </p:sp>
      <p:sp>
        <p:nvSpPr>
          <p:cNvPr id="4" name="Shape 2"/>
          <p:cNvSpPr/>
          <p:nvPr/>
        </p:nvSpPr>
        <p:spPr>
          <a:xfrm>
            <a:off x="640080" y="1783080"/>
            <a:ext cx="5303520" cy="1874520"/>
          </a:xfrm>
          <a:prstGeom prst="roundRect">
            <a:avLst>
              <a:gd name="adj" fmla="val 2927"/>
            </a:avLst>
          </a:prstGeom>
          <a:solidFill>
            <a:srgbClr val="FFFFFF"/>
          </a:solidFill>
          <a:ln w="12700">
            <a:solidFill>
              <a:srgbClr val="D9E4E4"/>
            </a:solidFill>
            <a:prstDash val="solid"/>
          </a:ln>
          <a:effectLst>
            <a:outerShdw sx="100000" sy="100000" kx="0" ky="0" algn="bl" rotWithShape="0" blurRad="177800" dist="38100" dir="5400000">
              <a:srgbClr val="0B2026">
                <a:alpha val="10000"/>
              </a:srgbClr>
            </a:outerShdw>
          </a:effectLst>
        </p:spPr>
      </p:sp>
      <p:sp>
        <p:nvSpPr>
          <p:cNvPr id="5" name="Shape 3"/>
          <p:cNvSpPr/>
          <p:nvPr/>
        </p:nvSpPr>
        <p:spPr>
          <a:xfrm>
            <a:off x="914400" y="2020824"/>
            <a:ext cx="329184" cy="329184"/>
          </a:xfrm>
          <a:prstGeom prst="ellipse">
            <a:avLst/>
          </a:prstGeom>
          <a:solidFill>
            <a:srgbClr val="FBEDE9"/>
          </a:solidFill>
          <a:ln/>
        </p:spPr>
      </p:sp>
      <p:sp>
        <p:nvSpPr>
          <p:cNvPr id="6" name="Text 4"/>
          <p:cNvSpPr/>
          <p:nvPr/>
        </p:nvSpPr>
        <p:spPr>
          <a:xfrm>
            <a:off x="914400" y="2020824"/>
            <a:ext cx="329184" cy="329184"/>
          </a:xfrm>
          <a:prstGeom prst="rect">
            <a:avLst/>
          </a:prstGeom>
          <a:noFill/>
          <a:ln/>
        </p:spPr>
        <p:txBody>
          <a:bodyPr wrap="square" lIns="0" tIns="0" rIns="0" bIns="0" rtlCol="0" anchor="ctr"/>
          <a:lstStyle/>
          <a:p>
            <a:pPr algn="ctr" indent="0" marL="0">
              <a:buNone/>
            </a:pPr>
            <a:r>
              <a:rPr lang="en-US" sz="1400" b="1" dirty="0">
                <a:solidFill>
                  <a:srgbClr val="B5533C"/>
                </a:solidFill>
                <a:latin typeface="Arial" pitchFamily="34" charset="0"/>
                <a:ea typeface="Arial" pitchFamily="34" charset="-122"/>
                <a:cs typeface="Arial" pitchFamily="34" charset="-120"/>
              </a:rPr>
              <a:t>!</a:t>
            </a:r>
            <a:endParaRPr lang="en-US" sz="1400" dirty="0"/>
          </a:p>
        </p:txBody>
      </p:sp>
      <p:sp>
        <p:nvSpPr>
          <p:cNvPr id="7" name="Text 5"/>
          <p:cNvSpPr/>
          <p:nvPr/>
        </p:nvSpPr>
        <p:spPr>
          <a:xfrm>
            <a:off x="1353312" y="2020824"/>
            <a:ext cx="4297680" cy="292608"/>
          </a:xfrm>
          <a:prstGeom prst="rect">
            <a:avLst/>
          </a:prstGeom>
          <a:noFill/>
          <a:ln/>
        </p:spPr>
        <p:txBody>
          <a:bodyPr wrap="square" lIns="0" tIns="0" rIns="0" bIns="0" rtlCol="0" anchor="ctr"/>
          <a:lstStyle/>
          <a:p>
            <a:pPr indent="0" marL="0">
              <a:buNone/>
            </a:pPr>
            <a:r>
              <a:rPr lang="en-US" sz="1400" b="1" dirty="0">
                <a:solidFill>
                  <a:srgbClr val="102A33"/>
                </a:solidFill>
                <a:latin typeface="Meiryo" pitchFamily="34" charset="0"/>
                <a:ea typeface="Meiryo" pitchFamily="34" charset="-122"/>
                <a:cs typeface="Meiryo" pitchFamily="34" charset="-120"/>
              </a:rPr>
              <a:t>ファイル名が消える</a:t>
            </a:r>
            <a:endParaRPr lang="en-US" sz="1400" dirty="0"/>
          </a:p>
        </p:txBody>
      </p:sp>
      <p:sp>
        <p:nvSpPr>
          <p:cNvPr id="8" name="Text 6"/>
          <p:cNvSpPr/>
          <p:nvPr/>
        </p:nvSpPr>
        <p:spPr>
          <a:xfrm>
            <a:off x="1353312" y="2386584"/>
            <a:ext cx="4343400" cy="603504"/>
          </a:xfrm>
          <a:prstGeom prst="rect">
            <a:avLst/>
          </a:prstGeom>
          <a:noFill/>
          <a:ln/>
        </p:spPr>
        <p:txBody>
          <a:bodyPr wrap="square" lIns="0" tIns="0" rIns="0" bIns="0" rtlCol="0" anchor="ctr"/>
          <a:lstStyle/>
          <a:p>
            <a:pPr indent="0" marL="0">
              <a:lnSpc>
                <a:spcPct val="125000"/>
              </a:lnSpc>
              <a:buNone/>
            </a:pPr>
            <a:r>
              <a:rPr lang="en-US" sz="950" dirty="0">
                <a:solidFill>
                  <a:srgbClr val="60757C"/>
                </a:solidFill>
                <a:latin typeface="Meiryo" pitchFamily="34" charset="0"/>
                <a:ea typeface="Meiryo" pitchFamily="34" charset="-122"/>
                <a:cs typeface="Meiryo" pitchFamily="34" charset="-120"/>
              </a:rPr>
              <a:t>CSVに日本語のファイル名を付けると、環境によっては名前ごと無視され「download」という拡張子の無いファイルになる。Excelで開けない。</a:t>
            </a:r>
            <a:endParaRPr lang="en-US" sz="950" dirty="0"/>
          </a:p>
        </p:txBody>
      </p:sp>
      <p:sp>
        <p:nvSpPr>
          <p:cNvPr id="9" name="Text 7"/>
          <p:cNvSpPr/>
          <p:nvPr/>
        </p:nvSpPr>
        <p:spPr>
          <a:xfrm>
            <a:off x="1353312" y="3063240"/>
            <a:ext cx="4343400" cy="475488"/>
          </a:xfrm>
          <a:prstGeom prst="rect">
            <a:avLst/>
          </a:prstGeom>
          <a:noFill/>
          <a:ln/>
        </p:spPr>
        <p:txBody>
          <a:bodyPr wrap="square" lIns="0" tIns="0" rIns="0" bIns="0" rtlCol="0" anchor="ctr"/>
          <a:lstStyle/>
          <a:p>
            <a:pPr indent="0" marL="0">
              <a:lnSpc>
                <a:spcPct val="125000"/>
              </a:lnSpc>
              <a:buNone/>
            </a:pPr>
            <a:r>
              <a:rPr lang="en-US" sz="950" b="1" dirty="0">
                <a:solidFill>
                  <a:srgbClr val="0A5F5E"/>
                </a:solidFill>
                <a:latin typeface="Meiryo" pitchFamily="34" charset="0"/>
                <a:ea typeface="Meiryo" pitchFamily="34" charset="-122"/>
                <a:cs typeface="Meiryo" pitchFamily="34" charset="-120"/>
              </a:rPr>
              <a:t>対策　</a:t>
            </a:r>
            <a:pPr indent="0" marL="0">
              <a:lnSpc>
                <a:spcPct val="125000"/>
              </a:lnSpc>
              <a:buNone/>
            </a:pPr>
            <a:r>
              <a:rPr lang="en-US" sz="950" dirty="0">
                <a:solidFill>
                  <a:srgbClr val="17282E"/>
                </a:solidFill>
                <a:latin typeface="Meiryo" pitchFamily="34" charset="0"/>
                <a:ea typeface="Meiryo" pitchFamily="34" charset="-122"/>
                <a:cs typeface="Meiryo" pitchFamily="34" charset="-120"/>
              </a:rPr>
              <a:t>保存ダイアログを優先し、使えない環境ではASCII名で保存。拡張子が必ず残るようにした。</a:t>
            </a:r>
            <a:endParaRPr lang="en-US" sz="950" dirty="0"/>
          </a:p>
        </p:txBody>
      </p:sp>
      <p:sp>
        <p:nvSpPr>
          <p:cNvPr id="10" name="Shape 8"/>
          <p:cNvSpPr/>
          <p:nvPr/>
        </p:nvSpPr>
        <p:spPr>
          <a:xfrm>
            <a:off x="6217920" y="1783080"/>
            <a:ext cx="5303520" cy="1874520"/>
          </a:xfrm>
          <a:prstGeom prst="roundRect">
            <a:avLst>
              <a:gd name="adj" fmla="val 2927"/>
            </a:avLst>
          </a:prstGeom>
          <a:solidFill>
            <a:srgbClr val="FFFFFF"/>
          </a:solidFill>
          <a:ln w="12700">
            <a:solidFill>
              <a:srgbClr val="D9E4E4"/>
            </a:solidFill>
            <a:prstDash val="solid"/>
          </a:ln>
          <a:effectLst>
            <a:outerShdw sx="100000" sy="100000" kx="0" ky="0" algn="bl" rotWithShape="0" blurRad="177800" dist="38100" dir="5400000">
              <a:srgbClr val="0B2026">
                <a:alpha val="10000"/>
              </a:srgbClr>
            </a:outerShdw>
          </a:effectLst>
        </p:spPr>
      </p:sp>
      <p:sp>
        <p:nvSpPr>
          <p:cNvPr id="11" name="Shape 9"/>
          <p:cNvSpPr/>
          <p:nvPr/>
        </p:nvSpPr>
        <p:spPr>
          <a:xfrm>
            <a:off x="6492240" y="2020824"/>
            <a:ext cx="329184" cy="329184"/>
          </a:xfrm>
          <a:prstGeom prst="ellipse">
            <a:avLst/>
          </a:prstGeom>
          <a:solidFill>
            <a:srgbClr val="FBEDE9"/>
          </a:solidFill>
          <a:ln/>
        </p:spPr>
      </p:sp>
      <p:sp>
        <p:nvSpPr>
          <p:cNvPr id="12" name="Text 10"/>
          <p:cNvSpPr/>
          <p:nvPr/>
        </p:nvSpPr>
        <p:spPr>
          <a:xfrm>
            <a:off x="6492240" y="2020824"/>
            <a:ext cx="329184" cy="329184"/>
          </a:xfrm>
          <a:prstGeom prst="rect">
            <a:avLst/>
          </a:prstGeom>
          <a:noFill/>
          <a:ln/>
        </p:spPr>
        <p:txBody>
          <a:bodyPr wrap="square" lIns="0" tIns="0" rIns="0" bIns="0" rtlCol="0" anchor="ctr"/>
          <a:lstStyle/>
          <a:p>
            <a:pPr algn="ctr" indent="0" marL="0">
              <a:buNone/>
            </a:pPr>
            <a:r>
              <a:rPr lang="en-US" sz="1400" b="1" dirty="0">
                <a:solidFill>
                  <a:srgbClr val="B5533C"/>
                </a:solidFill>
                <a:latin typeface="Arial" pitchFamily="34" charset="0"/>
                <a:ea typeface="Arial" pitchFamily="34" charset="-122"/>
                <a:cs typeface="Arial" pitchFamily="34" charset="-120"/>
              </a:rPr>
              <a:t>!</a:t>
            </a:r>
            <a:endParaRPr lang="en-US" sz="1400" dirty="0"/>
          </a:p>
        </p:txBody>
      </p:sp>
      <p:sp>
        <p:nvSpPr>
          <p:cNvPr id="13" name="Text 11"/>
          <p:cNvSpPr/>
          <p:nvPr/>
        </p:nvSpPr>
        <p:spPr>
          <a:xfrm>
            <a:off x="6931152" y="2020824"/>
            <a:ext cx="4297680" cy="292608"/>
          </a:xfrm>
          <a:prstGeom prst="rect">
            <a:avLst/>
          </a:prstGeom>
          <a:noFill/>
          <a:ln/>
        </p:spPr>
        <p:txBody>
          <a:bodyPr wrap="square" lIns="0" tIns="0" rIns="0" bIns="0" rtlCol="0" anchor="ctr"/>
          <a:lstStyle/>
          <a:p>
            <a:pPr indent="0" marL="0">
              <a:buNone/>
            </a:pPr>
            <a:r>
              <a:rPr lang="en-US" sz="1400" b="1" dirty="0">
                <a:solidFill>
                  <a:srgbClr val="102A33"/>
                </a:solidFill>
                <a:latin typeface="Meiryo" pitchFamily="34" charset="0"/>
                <a:ea typeface="Meiryo" pitchFamily="34" charset="-122"/>
                <a:cs typeface="Meiryo" pitchFamily="34" charset="-120"/>
              </a:rPr>
              <a:t>SAPのExcelが読めない</a:t>
            </a:r>
            <a:endParaRPr lang="en-US" sz="1400" dirty="0"/>
          </a:p>
        </p:txBody>
      </p:sp>
      <p:sp>
        <p:nvSpPr>
          <p:cNvPr id="14" name="Text 12"/>
          <p:cNvSpPr/>
          <p:nvPr/>
        </p:nvSpPr>
        <p:spPr>
          <a:xfrm>
            <a:off x="6931152" y="2386584"/>
            <a:ext cx="4343400" cy="603504"/>
          </a:xfrm>
          <a:prstGeom prst="rect">
            <a:avLst/>
          </a:prstGeom>
          <a:noFill/>
          <a:ln/>
        </p:spPr>
        <p:txBody>
          <a:bodyPr wrap="square" lIns="0" tIns="0" rIns="0" bIns="0" rtlCol="0" anchor="ctr"/>
          <a:lstStyle/>
          <a:p>
            <a:pPr indent="0" marL="0">
              <a:lnSpc>
                <a:spcPct val="125000"/>
              </a:lnSpc>
              <a:buNone/>
            </a:pPr>
            <a:r>
              <a:rPr lang="en-US" sz="950" dirty="0">
                <a:solidFill>
                  <a:srgbClr val="60757C"/>
                </a:solidFill>
                <a:latin typeface="Meiryo" pitchFamily="34" charset="0"/>
                <a:ea typeface="Meiryo" pitchFamily="34" charset="-122"/>
                <a:cs typeface="Meiryo" pitchFamily="34" charset="-120"/>
              </a:rPr>
              <a:t>SAP GUIの出力は「拡張子は.xlsだが中身は別形式」のことがある。一般的な読み込み方法では失敗する。</a:t>
            </a:r>
            <a:endParaRPr lang="en-US" sz="950" dirty="0"/>
          </a:p>
        </p:txBody>
      </p:sp>
      <p:sp>
        <p:nvSpPr>
          <p:cNvPr id="15" name="Text 13"/>
          <p:cNvSpPr/>
          <p:nvPr/>
        </p:nvSpPr>
        <p:spPr>
          <a:xfrm>
            <a:off x="6931152" y="3063240"/>
            <a:ext cx="4343400" cy="475488"/>
          </a:xfrm>
          <a:prstGeom prst="rect">
            <a:avLst/>
          </a:prstGeom>
          <a:noFill/>
          <a:ln/>
        </p:spPr>
        <p:txBody>
          <a:bodyPr wrap="square" lIns="0" tIns="0" rIns="0" bIns="0" rtlCol="0" anchor="ctr"/>
          <a:lstStyle/>
          <a:p>
            <a:pPr indent="0" marL="0">
              <a:lnSpc>
                <a:spcPct val="125000"/>
              </a:lnSpc>
              <a:buNone/>
            </a:pPr>
            <a:r>
              <a:rPr lang="en-US" sz="950" b="1" dirty="0">
                <a:solidFill>
                  <a:srgbClr val="0A5F5E"/>
                </a:solidFill>
                <a:latin typeface="Meiryo" pitchFamily="34" charset="0"/>
                <a:ea typeface="Meiryo" pitchFamily="34" charset="-122"/>
                <a:cs typeface="Meiryo" pitchFamily="34" charset="-120"/>
              </a:rPr>
              <a:t>対策　</a:t>
            </a:r>
            <a:pPr indent="0" marL="0">
              <a:lnSpc>
                <a:spcPct val="125000"/>
              </a:lnSpc>
              <a:buNone/>
            </a:pPr>
            <a:r>
              <a:rPr lang="en-US" sz="950" dirty="0">
                <a:solidFill>
                  <a:srgbClr val="17282E"/>
                </a:solidFill>
                <a:latin typeface="Meiryo" pitchFamily="34" charset="0"/>
                <a:ea typeface="Meiryo" pitchFamily="34" charset="-122"/>
                <a:cs typeface="Meiryo" pitchFamily="34" charset="-120"/>
              </a:rPr>
              <a:t>この形式まで扱えるライブラリを選定し、ファイル内に埋め込んで配布した。</a:t>
            </a:r>
            <a:endParaRPr lang="en-US" sz="950" dirty="0"/>
          </a:p>
        </p:txBody>
      </p:sp>
      <p:sp>
        <p:nvSpPr>
          <p:cNvPr id="16" name="Shape 14"/>
          <p:cNvSpPr/>
          <p:nvPr/>
        </p:nvSpPr>
        <p:spPr>
          <a:xfrm>
            <a:off x="640080" y="3886200"/>
            <a:ext cx="5303520" cy="1874520"/>
          </a:xfrm>
          <a:prstGeom prst="roundRect">
            <a:avLst>
              <a:gd name="adj" fmla="val 2927"/>
            </a:avLst>
          </a:prstGeom>
          <a:solidFill>
            <a:srgbClr val="FFFFFF"/>
          </a:solidFill>
          <a:ln w="12700">
            <a:solidFill>
              <a:srgbClr val="D9E4E4"/>
            </a:solidFill>
            <a:prstDash val="solid"/>
          </a:ln>
          <a:effectLst>
            <a:outerShdw sx="100000" sy="100000" kx="0" ky="0" algn="bl" rotWithShape="0" blurRad="177800" dist="38100" dir="5400000">
              <a:srgbClr val="0B2026">
                <a:alpha val="10000"/>
              </a:srgbClr>
            </a:outerShdw>
          </a:effectLst>
        </p:spPr>
      </p:sp>
      <p:sp>
        <p:nvSpPr>
          <p:cNvPr id="17" name="Shape 15"/>
          <p:cNvSpPr/>
          <p:nvPr/>
        </p:nvSpPr>
        <p:spPr>
          <a:xfrm>
            <a:off x="914400" y="4123944"/>
            <a:ext cx="329184" cy="329184"/>
          </a:xfrm>
          <a:prstGeom prst="ellipse">
            <a:avLst/>
          </a:prstGeom>
          <a:solidFill>
            <a:srgbClr val="FBEDE9"/>
          </a:solidFill>
          <a:ln/>
        </p:spPr>
      </p:sp>
      <p:sp>
        <p:nvSpPr>
          <p:cNvPr id="18" name="Text 16"/>
          <p:cNvSpPr/>
          <p:nvPr/>
        </p:nvSpPr>
        <p:spPr>
          <a:xfrm>
            <a:off x="914400" y="4123944"/>
            <a:ext cx="329184" cy="329184"/>
          </a:xfrm>
          <a:prstGeom prst="rect">
            <a:avLst/>
          </a:prstGeom>
          <a:noFill/>
          <a:ln/>
        </p:spPr>
        <p:txBody>
          <a:bodyPr wrap="square" lIns="0" tIns="0" rIns="0" bIns="0" rtlCol="0" anchor="ctr"/>
          <a:lstStyle/>
          <a:p>
            <a:pPr algn="ctr" indent="0" marL="0">
              <a:buNone/>
            </a:pPr>
            <a:r>
              <a:rPr lang="en-US" sz="1400" b="1" dirty="0">
                <a:solidFill>
                  <a:srgbClr val="B5533C"/>
                </a:solidFill>
                <a:latin typeface="Arial" pitchFamily="34" charset="0"/>
                <a:ea typeface="Arial" pitchFamily="34" charset="-122"/>
                <a:cs typeface="Arial" pitchFamily="34" charset="-120"/>
              </a:rPr>
              <a:t>!</a:t>
            </a:r>
            <a:endParaRPr lang="en-US" sz="1400" dirty="0"/>
          </a:p>
        </p:txBody>
      </p:sp>
      <p:sp>
        <p:nvSpPr>
          <p:cNvPr id="19" name="Text 17"/>
          <p:cNvSpPr/>
          <p:nvPr/>
        </p:nvSpPr>
        <p:spPr>
          <a:xfrm>
            <a:off x="1353312" y="4123944"/>
            <a:ext cx="4297680" cy="292608"/>
          </a:xfrm>
          <a:prstGeom prst="rect">
            <a:avLst/>
          </a:prstGeom>
          <a:noFill/>
          <a:ln/>
        </p:spPr>
        <p:txBody>
          <a:bodyPr wrap="square" lIns="0" tIns="0" rIns="0" bIns="0" rtlCol="0" anchor="ctr"/>
          <a:lstStyle/>
          <a:p>
            <a:pPr indent="0" marL="0">
              <a:buNone/>
            </a:pPr>
            <a:r>
              <a:rPr lang="en-US" sz="1400" b="1" dirty="0">
                <a:solidFill>
                  <a:srgbClr val="102A33"/>
                </a:solidFill>
                <a:latin typeface="Meiryo" pitchFamily="34" charset="0"/>
                <a:ea typeface="Meiryo" pitchFamily="34" charset="-122"/>
                <a:cs typeface="Meiryo" pitchFamily="34" charset="-120"/>
              </a:rPr>
              <a:t>列がずれても気づけない</a:t>
            </a:r>
            <a:endParaRPr lang="en-US" sz="1400" dirty="0"/>
          </a:p>
        </p:txBody>
      </p:sp>
      <p:sp>
        <p:nvSpPr>
          <p:cNvPr id="20" name="Text 18"/>
          <p:cNvSpPr/>
          <p:nvPr/>
        </p:nvSpPr>
        <p:spPr>
          <a:xfrm>
            <a:off x="1353312" y="4489704"/>
            <a:ext cx="4343400" cy="603504"/>
          </a:xfrm>
          <a:prstGeom prst="rect">
            <a:avLst/>
          </a:prstGeom>
          <a:noFill/>
          <a:ln/>
        </p:spPr>
        <p:txBody>
          <a:bodyPr wrap="square" lIns="0" tIns="0" rIns="0" bIns="0" rtlCol="0" anchor="ctr"/>
          <a:lstStyle/>
          <a:p>
            <a:pPr indent="0" marL="0">
              <a:lnSpc>
                <a:spcPct val="125000"/>
              </a:lnSpc>
              <a:buNone/>
            </a:pPr>
            <a:r>
              <a:rPr lang="en-US" sz="950" dirty="0">
                <a:solidFill>
                  <a:srgbClr val="60757C"/>
                </a:solidFill>
                <a:latin typeface="Meiryo" pitchFamily="34" charset="0"/>
                <a:ea typeface="Meiryo" pitchFamily="34" charset="-122"/>
                <a:cs typeface="Meiryo" pitchFamily="34" charset="-120"/>
              </a:rPr>
              <a:t>ファイルの構成が変わって列がずれると、間違った結果が黙って出てしまう。</a:t>
            </a:r>
            <a:endParaRPr lang="en-US" sz="950" dirty="0"/>
          </a:p>
        </p:txBody>
      </p:sp>
      <p:sp>
        <p:nvSpPr>
          <p:cNvPr id="21" name="Text 19"/>
          <p:cNvSpPr/>
          <p:nvPr/>
        </p:nvSpPr>
        <p:spPr>
          <a:xfrm>
            <a:off x="1353312" y="5166360"/>
            <a:ext cx="4343400" cy="475488"/>
          </a:xfrm>
          <a:prstGeom prst="rect">
            <a:avLst/>
          </a:prstGeom>
          <a:noFill/>
          <a:ln/>
        </p:spPr>
        <p:txBody>
          <a:bodyPr wrap="square" lIns="0" tIns="0" rIns="0" bIns="0" rtlCol="0" anchor="ctr"/>
          <a:lstStyle/>
          <a:p>
            <a:pPr indent="0" marL="0">
              <a:lnSpc>
                <a:spcPct val="125000"/>
              </a:lnSpc>
              <a:buNone/>
            </a:pPr>
            <a:r>
              <a:rPr lang="en-US" sz="950" b="1" dirty="0">
                <a:solidFill>
                  <a:srgbClr val="0A5F5E"/>
                </a:solidFill>
                <a:latin typeface="Meiryo" pitchFamily="34" charset="0"/>
                <a:ea typeface="Meiryo" pitchFamily="34" charset="-122"/>
                <a:cs typeface="Meiryo" pitchFamily="34" charset="-120"/>
              </a:rPr>
              <a:t>対策　</a:t>
            </a:r>
            <a:pPr indent="0" marL="0">
              <a:lnSpc>
                <a:spcPct val="125000"/>
              </a:lnSpc>
              <a:buNone/>
            </a:pPr>
            <a:r>
              <a:rPr lang="en-US" sz="950" dirty="0">
                <a:solidFill>
                  <a:srgbClr val="17282E"/>
                </a:solidFill>
                <a:latin typeface="Meiryo" pitchFamily="34" charset="0"/>
                <a:ea typeface="Meiryo" pitchFamily="34" charset="-122"/>
                <a:cs typeface="Meiryo" pitchFamily="34" charset="-120"/>
              </a:rPr>
              <a:t>実行前に「読み取った値のプレビュー」を表示し、目視で確認してから実行できるようにした。</a:t>
            </a:r>
            <a:endParaRPr lang="en-US" sz="950" dirty="0"/>
          </a:p>
        </p:txBody>
      </p:sp>
      <p:sp>
        <p:nvSpPr>
          <p:cNvPr id="22" name="Shape 20"/>
          <p:cNvSpPr/>
          <p:nvPr/>
        </p:nvSpPr>
        <p:spPr>
          <a:xfrm>
            <a:off x="6217920" y="3886200"/>
            <a:ext cx="5303520" cy="1874520"/>
          </a:xfrm>
          <a:prstGeom prst="roundRect">
            <a:avLst>
              <a:gd name="adj" fmla="val 2927"/>
            </a:avLst>
          </a:prstGeom>
          <a:solidFill>
            <a:srgbClr val="FFFFFF"/>
          </a:solidFill>
          <a:ln w="12700">
            <a:solidFill>
              <a:srgbClr val="D9E4E4"/>
            </a:solidFill>
            <a:prstDash val="solid"/>
          </a:ln>
          <a:effectLst>
            <a:outerShdw sx="100000" sy="100000" kx="0" ky="0" algn="bl" rotWithShape="0" blurRad="177800" dist="38100" dir="5400000">
              <a:srgbClr val="0B2026">
                <a:alpha val="10000"/>
              </a:srgbClr>
            </a:outerShdw>
          </a:effectLst>
        </p:spPr>
      </p:sp>
      <p:sp>
        <p:nvSpPr>
          <p:cNvPr id="23" name="Shape 21"/>
          <p:cNvSpPr/>
          <p:nvPr/>
        </p:nvSpPr>
        <p:spPr>
          <a:xfrm>
            <a:off x="6492240" y="4123944"/>
            <a:ext cx="329184" cy="329184"/>
          </a:xfrm>
          <a:prstGeom prst="ellipse">
            <a:avLst/>
          </a:prstGeom>
          <a:solidFill>
            <a:srgbClr val="FBEDE9"/>
          </a:solidFill>
          <a:ln/>
        </p:spPr>
      </p:sp>
      <p:sp>
        <p:nvSpPr>
          <p:cNvPr id="24" name="Text 22"/>
          <p:cNvSpPr/>
          <p:nvPr/>
        </p:nvSpPr>
        <p:spPr>
          <a:xfrm>
            <a:off x="6492240" y="4123944"/>
            <a:ext cx="329184" cy="329184"/>
          </a:xfrm>
          <a:prstGeom prst="rect">
            <a:avLst/>
          </a:prstGeom>
          <a:noFill/>
          <a:ln/>
        </p:spPr>
        <p:txBody>
          <a:bodyPr wrap="square" lIns="0" tIns="0" rIns="0" bIns="0" rtlCol="0" anchor="ctr"/>
          <a:lstStyle/>
          <a:p>
            <a:pPr algn="ctr" indent="0" marL="0">
              <a:buNone/>
            </a:pPr>
            <a:r>
              <a:rPr lang="en-US" sz="1400" b="1" dirty="0">
                <a:solidFill>
                  <a:srgbClr val="B5533C"/>
                </a:solidFill>
                <a:latin typeface="Arial" pitchFamily="34" charset="0"/>
                <a:ea typeface="Arial" pitchFamily="34" charset="-122"/>
                <a:cs typeface="Arial" pitchFamily="34" charset="-120"/>
              </a:rPr>
              <a:t>!</a:t>
            </a:r>
            <a:endParaRPr lang="en-US" sz="1400" dirty="0"/>
          </a:p>
        </p:txBody>
      </p:sp>
      <p:sp>
        <p:nvSpPr>
          <p:cNvPr id="25" name="Text 23"/>
          <p:cNvSpPr/>
          <p:nvPr/>
        </p:nvSpPr>
        <p:spPr>
          <a:xfrm>
            <a:off x="6931152" y="4123944"/>
            <a:ext cx="4297680" cy="292608"/>
          </a:xfrm>
          <a:prstGeom prst="rect">
            <a:avLst/>
          </a:prstGeom>
          <a:noFill/>
          <a:ln/>
        </p:spPr>
        <p:txBody>
          <a:bodyPr wrap="square" lIns="0" tIns="0" rIns="0" bIns="0" rtlCol="0" anchor="ctr"/>
          <a:lstStyle/>
          <a:p>
            <a:pPr indent="0" marL="0">
              <a:buNone/>
            </a:pPr>
            <a:r>
              <a:rPr lang="en-US" sz="1400" b="1" dirty="0">
                <a:solidFill>
                  <a:srgbClr val="102A33"/>
                </a:solidFill>
                <a:latin typeface="Meiryo" pitchFamily="34" charset="0"/>
                <a:ea typeface="Meiryo" pitchFamily="34" charset="-122"/>
                <a:cs typeface="Meiryo" pitchFamily="34" charset="-120"/>
              </a:rPr>
              <a:t>設定を変えても結果が古い</a:t>
            </a:r>
            <a:endParaRPr lang="en-US" sz="1400" dirty="0"/>
          </a:p>
        </p:txBody>
      </p:sp>
      <p:sp>
        <p:nvSpPr>
          <p:cNvPr id="26" name="Text 24"/>
          <p:cNvSpPr/>
          <p:nvPr/>
        </p:nvSpPr>
        <p:spPr>
          <a:xfrm>
            <a:off x="6931152" y="4489704"/>
            <a:ext cx="4343400" cy="603504"/>
          </a:xfrm>
          <a:prstGeom prst="rect">
            <a:avLst/>
          </a:prstGeom>
          <a:noFill/>
          <a:ln/>
        </p:spPr>
        <p:txBody>
          <a:bodyPr wrap="square" lIns="0" tIns="0" rIns="0" bIns="0" rtlCol="0" anchor="ctr"/>
          <a:lstStyle/>
          <a:p>
            <a:pPr indent="0" marL="0">
              <a:lnSpc>
                <a:spcPct val="125000"/>
              </a:lnSpc>
              <a:buNone/>
            </a:pPr>
            <a:r>
              <a:rPr lang="en-US" sz="950" dirty="0">
                <a:solidFill>
                  <a:srgbClr val="60757C"/>
                </a:solidFill>
                <a:latin typeface="Meiryo" pitchFamily="34" charset="0"/>
                <a:ea typeface="Meiryo" pitchFamily="34" charset="-122"/>
                <a:cs typeface="Meiryo" pitchFamily="34" charset="-120"/>
              </a:rPr>
              <a:t>シートや開始行を変更したのに、前回の照合結果が画面に残っていると誤読の原因になる。</a:t>
            </a:r>
            <a:endParaRPr lang="en-US" sz="950" dirty="0"/>
          </a:p>
        </p:txBody>
      </p:sp>
      <p:sp>
        <p:nvSpPr>
          <p:cNvPr id="27" name="Text 25"/>
          <p:cNvSpPr/>
          <p:nvPr/>
        </p:nvSpPr>
        <p:spPr>
          <a:xfrm>
            <a:off x="6931152" y="5166360"/>
            <a:ext cx="4343400" cy="475488"/>
          </a:xfrm>
          <a:prstGeom prst="rect">
            <a:avLst/>
          </a:prstGeom>
          <a:noFill/>
          <a:ln/>
        </p:spPr>
        <p:txBody>
          <a:bodyPr wrap="square" lIns="0" tIns="0" rIns="0" bIns="0" rtlCol="0" anchor="ctr"/>
          <a:lstStyle/>
          <a:p>
            <a:pPr indent="0" marL="0">
              <a:lnSpc>
                <a:spcPct val="125000"/>
              </a:lnSpc>
              <a:buNone/>
            </a:pPr>
            <a:r>
              <a:rPr lang="en-US" sz="950" b="1" dirty="0">
                <a:solidFill>
                  <a:srgbClr val="0A5F5E"/>
                </a:solidFill>
                <a:latin typeface="Meiryo" pitchFamily="34" charset="0"/>
                <a:ea typeface="Meiryo" pitchFamily="34" charset="-122"/>
                <a:cs typeface="Meiryo" pitchFamily="34" charset="-120"/>
              </a:rPr>
              <a:t>対策　</a:t>
            </a:r>
            <a:pPr indent="0" marL="0">
              <a:lnSpc>
                <a:spcPct val="125000"/>
              </a:lnSpc>
              <a:buNone/>
            </a:pPr>
            <a:r>
              <a:rPr lang="en-US" sz="950" dirty="0">
                <a:solidFill>
                  <a:srgbClr val="17282E"/>
                </a:solidFill>
                <a:latin typeface="Meiryo" pitchFamily="34" charset="0"/>
                <a:ea typeface="Meiryo" pitchFamily="34" charset="-122"/>
                <a:cs typeface="Meiryo" pitchFamily="34" charset="-120"/>
              </a:rPr>
              <a:t>設定を変えた時点で結果を破棄し、再実行を促すようにした。</a:t>
            </a:r>
            <a:endParaRPr lang="en-US" sz="950" dirty="0"/>
          </a:p>
        </p:txBody>
      </p:sp>
      <p:sp>
        <p:nvSpPr>
          <p:cNvPr id="28" name="Text 26"/>
          <p:cNvSpPr/>
          <p:nvPr/>
        </p:nvSpPr>
        <p:spPr>
          <a:xfrm>
            <a:off x="640080" y="5989320"/>
            <a:ext cx="10881360" cy="292608"/>
          </a:xfrm>
          <a:prstGeom prst="rect">
            <a:avLst/>
          </a:prstGeom>
          <a:noFill/>
          <a:ln/>
        </p:spPr>
        <p:txBody>
          <a:bodyPr wrap="square" lIns="0" tIns="0" rIns="0" bIns="0" rtlCol="0" anchor="ctr"/>
          <a:lstStyle/>
          <a:p>
            <a:pPr indent="0" marL="0">
              <a:buNone/>
            </a:pPr>
            <a:r>
              <a:rPr lang="en-US" sz="1100" i="1" dirty="0">
                <a:solidFill>
                  <a:srgbClr val="0A5F5E"/>
                </a:solidFill>
                <a:latin typeface="Meiryo" pitchFamily="34" charset="0"/>
                <a:ea typeface="Meiryo" pitchFamily="34" charset="-122"/>
                <a:cs typeface="Meiryo" pitchFamily="34" charset="-120"/>
              </a:rPr>
              <a:t>いずれも実際に自分の環境で動かすまで気づかなかった。AIに作らせて終わりにせず、必ず現物で試すこと。</a:t>
            </a:r>
            <a:endParaRPr lang="en-US" sz="1100" dirty="0"/>
          </a:p>
        </p:txBody>
      </p:sp>
      <p:sp>
        <p:nvSpPr>
          <p:cNvPr id="29" name="Text 27"/>
          <p:cNvSpPr/>
          <p:nvPr/>
        </p:nvSpPr>
        <p:spPr>
          <a:xfrm>
            <a:off x="11430000" y="6355080"/>
            <a:ext cx="457200" cy="274320"/>
          </a:xfrm>
          <a:prstGeom prst="rect">
            <a:avLst/>
          </a:prstGeom>
          <a:noFill/>
          <a:ln/>
        </p:spPr>
        <p:txBody>
          <a:bodyPr wrap="square" lIns="0" tIns="0" rIns="0" bIns="0" rtlCol="0" anchor="ctr"/>
          <a:lstStyle/>
          <a:p>
            <a:pPr algn="r" indent="0" marL="0">
              <a:buNone/>
            </a:pPr>
            <a:r>
              <a:rPr lang="en-US" sz="1000" dirty="0">
                <a:solidFill>
                  <a:srgbClr val="60757C"/>
                </a:solidFill>
                <a:latin typeface="Arial" pitchFamily="34" charset="0"/>
                <a:ea typeface="Arial" pitchFamily="34" charset="-122"/>
                <a:cs typeface="Arial"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20624"/>
            <a:ext cx="10881360" cy="566928"/>
          </a:xfrm>
          <a:prstGeom prst="rect">
            <a:avLst/>
          </a:prstGeom>
          <a:noFill/>
          <a:ln/>
        </p:spPr>
        <p:txBody>
          <a:bodyPr wrap="square" lIns="0" tIns="0" rIns="0" bIns="0" rtlCol="0" anchor="ctr"/>
          <a:lstStyle/>
          <a:p>
            <a:pPr indent="0" marL="0">
              <a:buNone/>
            </a:pPr>
            <a:r>
              <a:rPr lang="en-US" sz="3000" b="1" dirty="0">
                <a:solidFill>
                  <a:srgbClr val="102A33"/>
                </a:solidFill>
                <a:latin typeface="Meiryo" pitchFamily="34" charset="0"/>
                <a:ea typeface="Meiryo" pitchFamily="34" charset="-122"/>
                <a:cs typeface="Meiryo" pitchFamily="34" charset="-120"/>
              </a:rPr>
              <a:t>工夫点③：61件の自動テストで守る</a:t>
            </a:r>
            <a:endParaRPr lang="en-US" sz="3000" dirty="0"/>
          </a:p>
        </p:txBody>
      </p:sp>
      <p:sp>
        <p:nvSpPr>
          <p:cNvPr id="3" name="Text 1"/>
          <p:cNvSpPr/>
          <p:nvPr/>
        </p:nvSpPr>
        <p:spPr>
          <a:xfrm>
            <a:off x="640080" y="1042416"/>
            <a:ext cx="10881360" cy="384048"/>
          </a:xfrm>
          <a:prstGeom prst="rect">
            <a:avLst/>
          </a:prstGeom>
          <a:noFill/>
          <a:ln/>
        </p:spPr>
        <p:txBody>
          <a:bodyPr wrap="square" lIns="0" tIns="0" rIns="0" bIns="0" rtlCol="0" anchor="ctr"/>
          <a:lstStyle/>
          <a:p>
            <a:pPr indent="0" marL="0">
              <a:buNone/>
            </a:pPr>
            <a:r>
              <a:rPr lang="en-US" sz="1350" dirty="0">
                <a:solidFill>
                  <a:srgbClr val="60757C"/>
                </a:solidFill>
                <a:latin typeface="Meiryo" pitchFamily="34" charset="0"/>
                <a:ea typeface="Meiryo" pitchFamily="34" charset="-122"/>
                <a:cs typeface="Meiryo" pitchFamily="34" charset="-120"/>
              </a:rPr>
              <a:t>後から直したときに、前に直したところが壊れていないかを毎回確認できる</a:t>
            </a:r>
            <a:endParaRPr lang="en-US" sz="1350" dirty="0"/>
          </a:p>
        </p:txBody>
      </p:sp>
      <p:sp>
        <p:nvSpPr>
          <p:cNvPr id="4" name="Shape 2"/>
          <p:cNvSpPr/>
          <p:nvPr/>
        </p:nvSpPr>
        <p:spPr>
          <a:xfrm>
            <a:off x="640080" y="1737360"/>
            <a:ext cx="3474720" cy="1783080"/>
          </a:xfrm>
          <a:prstGeom prst="roundRect">
            <a:avLst>
              <a:gd name="adj" fmla="val 3077"/>
            </a:avLst>
          </a:prstGeom>
          <a:solidFill>
            <a:srgbClr val="FFFFFF"/>
          </a:solidFill>
          <a:ln w="12700">
            <a:solidFill>
              <a:srgbClr val="D9E4E4"/>
            </a:solidFill>
            <a:prstDash val="solid"/>
          </a:ln>
          <a:effectLst>
            <a:outerShdw sx="100000" sy="100000" kx="0" ky="0" algn="bl" rotWithShape="0" blurRad="177800" dist="38100" dir="5400000">
              <a:srgbClr val="0B2026">
                <a:alpha val="10000"/>
              </a:srgbClr>
            </a:outerShdw>
          </a:effectLst>
        </p:spPr>
      </p:sp>
      <p:sp>
        <p:nvSpPr>
          <p:cNvPr id="5" name="Text 3"/>
          <p:cNvSpPr/>
          <p:nvPr/>
        </p:nvSpPr>
        <p:spPr>
          <a:xfrm>
            <a:off x="914400" y="1920240"/>
            <a:ext cx="2926080" cy="640080"/>
          </a:xfrm>
          <a:prstGeom prst="rect">
            <a:avLst/>
          </a:prstGeom>
          <a:noFill/>
          <a:ln/>
        </p:spPr>
        <p:txBody>
          <a:bodyPr wrap="square" lIns="0" tIns="0" rIns="0" bIns="0" rtlCol="0" anchor="ctr"/>
          <a:lstStyle/>
          <a:p>
            <a:pPr indent="0" marL="0">
              <a:buNone/>
            </a:pPr>
            <a:r>
              <a:rPr lang="en-US" sz="3800" b="1" dirty="0">
                <a:solidFill>
                  <a:srgbClr val="0A5F5E"/>
                </a:solidFill>
                <a:latin typeface="Arial" pitchFamily="34" charset="0"/>
                <a:ea typeface="Arial" pitchFamily="34" charset="-122"/>
                <a:cs typeface="Arial" pitchFamily="34" charset="-120"/>
              </a:rPr>
              <a:t>15</a:t>
            </a:r>
            <a:pPr indent="0" marL="0">
              <a:buNone/>
            </a:pPr>
            <a:r>
              <a:rPr lang="en-US" sz="1500" b="1" dirty="0">
                <a:solidFill>
                  <a:srgbClr val="0A5F5E"/>
                </a:solidFill>
                <a:latin typeface="Meiryo" pitchFamily="34" charset="0"/>
                <a:ea typeface="Meiryo" pitchFamily="34" charset="-122"/>
                <a:cs typeface="Meiryo" pitchFamily="34" charset="-120"/>
              </a:rPr>
              <a:t> 件</a:t>
            </a:r>
            <a:endParaRPr lang="en-US" sz="3800" dirty="0"/>
          </a:p>
        </p:txBody>
      </p:sp>
      <p:sp>
        <p:nvSpPr>
          <p:cNvPr id="6" name="Text 4"/>
          <p:cNvSpPr/>
          <p:nvPr/>
        </p:nvSpPr>
        <p:spPr>
          <a:xfrm>
            <a:off x="914400" y="2615184"/>
            <a:ext cx="2971800" cy="274320"/>
          </a:xfrm>
          <a:prstGeom prst="rect">
            <a:avLst/>
          </a:prstGeom>
          <a:noFill/>
          <a:ln/>
        </p:spPr>
        <p:txBody>
          <a:bodyPr wrap="square" lIns="0" tIns="0" rIns="0" bIns="0" rtlCol="0" anchor="ctr"/>
          <a:lstStyle/>
          <a:p>
            <a:pPr indent="0" marL="0">
              <a:buNone/>
            </a:pPr>
            <a:r>
              <a:rPr lang="en-US" sz="1250" b="1" dirty="0">
                <a:solidFill>
                  <a:srgbClr val="102A33"/>
                </a:solidFill>
                <a:latin typeface="Meiryo" pitchFamily="34" charset="0"/>
                <a:ea typeface="Meiryo" pitchFamily="34" charset="-122"/>
                <a:cs typeface="Meiryo" pitchFamily="34" charset="-120"/>
              </a:rPr>
              <a:t>照合ロジックの単体テスト</a:t>
            </a:r>
            <a:endParaRPr lang="en-US" sz="1250" dirty="0"/>
          </a:p>
        </p:txBody>
      </p:sp>
      <p:sp>
        <p:nvSpPr>
          <p:cNvPr id="7" name="Text 5"/>
          <p:cNvSpPr/>
          <p:nvPr/>
        </p:nvSpPr>
        <p:spPr>
          <a:xfrm>
            <a:off x="914400" y="2926080"/>
            <a:ext cx="2971800" cy="365760"/>
          </a:xfrm>
          <a:prstGeom prst="rect">
            <a:avLst/>
          </a:prstGeom>
          <a:noFill/>
          <a:ln/>
        </p:spPr>
        <p:txBody>
          <a:bodyPr wrap="square" lIns="0" tIns="0" rIns="0" bIns="0" rtlCol="0" anchor="ctr"/>
          <a:lstStyle/>
          <a:p>
            <a:pPr indent="0" marL="0">
              <a:buNone/>
            </a:pPr>
            <a:r>
              <a:rPr lang="en-US" sz="1000" dirty="0">
                <a:solidFill>
                  <a:srgbClr val="60757C"/>
                </a:solidFill>
                <a:latin typeface="Meiryo" pitchFamily="34" charset="0"/>
                <a:ea typeface="Meiryo" pitchFamily="34" charset="-122"/>
                <a:cs typeface="Meiryo" pitchFamily="34" charset="-120"/>
              </a:rPr>
              <a:t>集計・変換・判定・数量の解釈</a:t>
            </a:r>
            <a:endParaRPr lang="en-US" sz="1000" dirty="0"/>
          </a:p>
        </p:txBody>
      </p:sp>
      <p:sp>
        <p:nvSpPr>
          <p:cNvPr id="8" name="Shape 6"/>
          <p:cNvSpPr/>
          <p:nvPr/>
        </p:nvSpPr>
        <p:spPr>
          <a:xfrm>
            <a:off x="4480560" y="1737360"/>
            <a:ext cx="3474720" cy="1783080"/>
          </a:xfrm>
          <a:prstGeom prst="roundRect">
            <a:avLst>
              <a:gd name="adj" fmla="val 3077"/>
            </a:avLst>
          </a:prstGeom>
          <a:solidFill>
            <a:srgbClr val="FFFFFF"/>
          </a:solidFill>
          <a:ln w="12700">
            <a:solidFill>
              <a:srgbClr val="D9E4E4"/>
            </a:solidFill>
            <a:prstDash val="solid"/>
          </a:ln>
          <a:effectLst>
            <a:outerShdw sx="100000" sy="100000" kx="0" ky="0" algn="bl" rotWithShape="0" blurRad="177800" dist="38100" dir="5400000">
              <a:srgbClr val="0B2026">
                <a:alpha val="10000"/>
              </a:srgbClr>
            </a:outerShdw>
          </a:effectLst>
        </p:spPr>
      </p:sp>
      <p:sp>
        <p:nvSpPr>
          <p:cNvPr id="9" name="Text 7"/>
          <p:cNvSpPr/>
          <p:nvPr/>
        </p:nvSpPr>
        <p:spPr>
          <a:xfrm>
            <a:off x="4754880" y="1920240"/>
            <a:ext cx="2926080" cy="640080"/>
          </a:xfrm>
          <a:prstGeom prst="rect">
            <a:avLst/>
          </a:prstGeom>
          <a:noFill/>
          <a:ln/>
        </p:spPr>
        <p:txBody>
          <a:bodyPr wrap="square" lIns="0" tIns="0" rIns="0" bIns="0" rtlCol="0" anchor="ctr"/>
          <a:lstStyle/>
          <a:p>
            <a:pPr indent="0" marL="0">
              <a:buNone/>
            </a:pPr>
            <a:r>
              <a:rPr lang="en-US" sz="3800" b="1" dirty="0">
                <a:solidFill>
                  <a:srgbClr val="0A5F5E"/>
                </a:solidFill>
                <a:latin typeface="Arial" pitchFamily="34" charset="0"/>
                <a:ea typeface="Arial" pitchFamily="34" charset="-122"/>
                <a:cs typeface="Arial" pitchFamily="34" charset="-120"/>
              </a:rPr>
              <a:t>46</a:t>
            </a:r>
            <a:pPr indent="0" marL="0">
              <a:buNone/>
            </a:pPr>
            <a:r>
              <a:rPr lang="en-US" sz="1500" b="1" dirty="0">
                <a:solidFill>
                  <a:srgbClr val="0A5F5E"/>
                </a:solidFill>
                <a:latin typeface="Meiryo" pitchFamily="34" charset="0"/>
                <a:ea typeface="Meiryo" pitchFamily="34" charset="-122"/>
                <a:cs typeface="Meiryo" pitchFamily="34" charset="-120"/>
              </a:rPr>
              <a:t> 件</a:t>
            </a:r>
            <a:endParaRPr lang="en-US" sz="3800" dirty="0"/>
          </a:p>
        </p:txBody>
      </p:sp>
      <p:sp>
        <p:nvSpPr>
          <p:cNvPr id="10" name="Text 8"/>
          <p:cNvSpPr/>
          <p:nvPr/>
        </p:nvSpPr>
        <p:spPr>
          <a:xfrm>
            <a:off x="4754880" y="2615184"/>
            <a:ext cx="2971800" cy="274320"/>
          </a:xfrm>
          <a:prstGeom prst="rect">
            <a:avLst/>
          </a:prstGeom>
          <a:noFill/>
          <a:ln/>
        </p:spPr>
        <p:txBody>
          <a:bodyPr wrap="square" lIns="0" tIns="0" rIns="0" bIns="0" rtlCol="0" anchor="ctr"/>
          <a:lstStyle/>
          <a:p>
            <a:pPr indent="0" marL="0">
              <a:buNone/>
            </a:pPr>
            <a:r>
              <a:rPr lang="en-US" sz="1250" b="1" dirty="0">
                <a:solidFill>
                  <a:srgbClr val="102A33"/>
                </a:solidFill>
                <a:latin typeface="Meiryo" pitchFamily="34" charset="0"/>
                <a:ea typeface="Meiryo" pitchFamily="34" charset="-122"/>
                <a:cs typeface="Meiryo" pitchFamily="34" charset="-120"/>
              </a:rPr>
              <a:t>実ブラウザでの通しテスト</a:t>
            </a:r>
            <a:endParaRPr lang="en-US" sz="1250" dirty="0"/>
          </a:p>
        </p:txBody>
      </p:sp>
      <p:sp>
        <p:nvSpPr>
          <p:cNvPr id="11" name="Text 9"/>
          <p:cNvSpPr/>
          <p:nvPr/>
        </p:nvSpPr>
        <p:spPr>
          <a:xfrm>
            <a:off x="4754880" y="2926080"/>
            <a:ext cx="2971800" cy="365760"/>
          </a:xfrm>
          <a:prstGeom prst="rect">
            <a:avLst/>
          </a:prstGeom>
          <a:noFill/>
          <a:ln/>
        </p:spPr>
        <p:txBody>
          <a:bodyPr wrap="square" lIns="0" tIns="0" rIns="0" bIns="0" rtlCol="0" anchor="ctr"/>
          <a:lstStyle/>
          <a:p>
            <a:pPr indent="0" marL="0">
              <a:buNone/>
            </a:pPr>
            <a:r>
              <a:rPr lang="en-US" sz="1000" dirty="0">
                <a:solidFill>
                  <a:srgbClr val="60757C"/>
                </a:solidFill>
                <a:latin typeface="Meiryo" pitchFamily="34" charset="0"/>
                <a:ea typeface="Meiryo" pitchFamily="34" charset="-122"/>
                <a:cs typeface="Meiryo" pitchFamily="34" charset="-120"/>
              </a:rPr>
              <a:t>ファイル投入〜CSV出力まで</a:t>
            </a:r>
            <a:endParaRPr lang="en-US" sz="1000" dirty="0"/>
          </a:p>
        </p:txBody>
      </p:sp>
      <p:sp>
        <p:nvSpPr>
          <p:cNvPr id="12" name="Shape 10"/>
          <p:cNvSpPr/>
          <p:nvPr/>
        </p:nvSpPr>
        <p:spPr>
          <a:xfrm>
            <a:off x="8321040" y="1737360"/>
            <a:ext cx="3474720" cy="1783080"/>
          </a:xfrm>
          <a:prstGeom prst="roundRect">
            <a:avLst>
              <a:gd name="adj" fmla="val 3077"/>
            </a:avLst>
          </a:prstGeom>
          <a:solidFill>
            <a:srgbClr val="FFFFFF"/>
          </a:solidFill>
          <a:ln w="12700">
            <a:solidFill>
              <a:srgbClr val="D9E4E4"/>
            </a:solidFill>
            <a:prstDash val="solid"/>
          </a:ln>
          <a:effectLst>
            <a:outerShdw sx="100000" sy="100000" kx="0" ky="0" algn="bl" rotWithShape="0" blurRad="177800" dist="38100" dir="5400000">
              <a:srgbClr val="0B2026">
                <a:alpha val="10000"/>
              </a:srgbClr>
            </a:outerShdw>
          </a:effectLst>
        </p:spPr>
      </p:sp>
      <p:sp>
        <p:nvSpPr>
          <p:cNvPr id="13" name="Text 11"/>
          <p:cNvSpPr/>
          <p:nvPr/>
        </p:nvSpPr>
        <p:spPr>
          <a:xfrm>
            <a:off x="8595360" y="1920240"/>
            <a:ext cx="2926080" cy="640080"/>
          </a:xfrm>
          <a:prstGeom prst="rect">
            <a:avLst/>
          </a:prstGeom>
          <a:noFill/>
          <a:ln/>
        </p:spPr>
        <p:txBody>
          <a:bodyPr wrap="square" lIns="0" tIns="0" rIns="0" bIns="0" rtlCol="0" anchor="ctr"/>
          <a:lstStyle/>
          <a:p>
            <a:pPr indent="0" marL="0">
              <a:buNone/>
            </a:pPr>
            <a:r>
              <a:rPr lang="en-US" sz="3800" b="1" dirty="0">
                <a:solidFill>
                  <a:srgbClr val="0A5F5E"/>
                </a:solidFill>
                <a:latin typeface="Arial" pitchFamily="34" charset="0"/>
                <a:ea typeface="Arial" pitchFamily="34" charset="-122"/>
                <a:cs typeface="Arial" pitchFamily="34" charset="-120"/>
              </a:rPr>
              <a:t>0.3</a:t>
            </a:r>
            <a:pPr indent="0" marL="0">
              <a:buNone/>
            </a:pPr>
            <a:r>
              <a:rPr lang="en-US" sz="1500" b="1" dirty="0">
                <a:solidFill>
                  <a:srgbClr val="0A5F5E"/>
                </a:solidFill>
                <a:latin typeface="Meiryo" pitchFamily="34" charset="0"/>
                <a:ea typeface="Meiryo" pitchFamily="34" charset="-122"/>
                <a:cs typeface="Meiryo" pitchFamily="34" charset="-120"/>
              </a:rPr>
              <a:t> 秒</a:t>
            </a:r>
            <a:endParaRPr lang="en-US" sz="3800" dirty="0"/>
          </a:p>
        </p:txBody>
      </p:sp>
      <p:sp>
        <p:nvSpPr>
          <p:cNvPr id="14" name="Text 12"/>
          <p:cNvSpPr/>
          <p:nvPr/>
        </p:nvSpPr>
        <p:spPr>
          <a:xfrm>
            <a:off x="8595360" y="2615184"/>
            <a:ext cx="2971800" cy="274320"/>
          </a:xfrm>
          <a:prstGeom prst="rect">
            <a:avLst/>
          </a:prstGeom>
          <a:noFill/>
          <a:ln/>
        </p:spPr>
        <p:txBody>
          <a:bodyPr wrap="square" lIns="0" tIns="0" rIns="0" bIns="0" rtlCol="0" anchor="ctr"/>
          <a:lstStyle/>
          <a:p>
            <a:pPr indent="0" marL="0">
              <a:buNone/>
            </a:pPr>
            <a:r>
              <a:rPr lang="en-US" sz="1250" b="1" dirty="0">
                <a:solidFill>
                  <a:srgbClr val="102A33"/>
                </a:solidFill>
                <a:latin typeface="Meiryo" pitchFamily="34" charset="0"/>
                <a:ea typeface="Meiryo" pitchFamily="34" charset="-122"/>
                <a:cs typeface="Meiryo" pitchFamily="34" charset="-120"/>
              </a:rPr>
              <a:t>3,000明細×2 の処理時間</a:t>
            </a:r>
            <a:endParaRPr lang="en-US" sz="1250" dirty="0"/>
          </a:p>
        </p:txBody>
      </p:sp>
      <p:sp>
        <p:nvSpPr>
          <p:cNvPr id="15" name="Text 13"/>
          <p:cNvSpPr/>
          <p:nvPr/>
        </p:nvSpPr>
        <p:spPr>
          <a:xfrm>
            <a:off x="8595360" y="2926080"/>
            <a:ext cx="2971800" cy="365760"/>
          </a:xfrm>
          <a:prstGeom prst="rect">
            <a:avLst/>
          </a:prstGeom>
          <a:noFill/>
          <a:ln/>
        </p:spPr>
        <p:txBody>
          <a:bodyPr wrap="square" lIns="0" tIns="0" rIns="0" bIns="0" rtlCol="0" anchor="ctr"/>
          <a:lstStyle/>
          <a:p>
            <a:pPr indent="0" marL="0">
              <a:buNone/>
            </a:pPr>
            <a:r>
              <a:rPr lang="en-US" sz="1000" dirty="0">
                <a:solidFill>
                  <a:srgbClr val="60757C"/>
                </a:solidFill>
                <a:latin typeface="Meiryo" pitchFamily="34" charset="0"/>
                <a:ea typeface="Meiryo" pitchFamily="34" charset="-122"/>
                <a:cs typeface="Meiryo" pitchFamily="34" charset="-120"/>
              </a:rPr>
              <a:t>実務量なら待ち時間はほぼゼロ</a:t>
            </a:r>
            <a:endParaRPr lang="en-US" sz="1000" dirty="0"/>
          </a:p>
        </p:txBody>
      </p:sp>
      <p:sp>
        <p:nvSpPr>
          <p:cNvPr id="16" name="Shape 14"/>
          <p:cNvSpPr/>
          <p:nvPr/>
        </p:nvSpPr>
        <p:spPr>
          <a:xfrm>
            <a:off x="640080" y="3749040"/>
            <a:ext cx="10881360" cy="2194560"/>
          </a:xfrm>
          <a:prstGeom prst="roundRect">
            <a:avLst>
              <a:gd name="adj" fmla="val 2500"/>
            </a:avLst>
          </a:prstGeom>
          <a:solidFill>
            <a:srgbClr val="F3F7F7"/>
          </a:solidFill>
          <a:ln/>
          <a:effectLst>
            <a:outerShdw sx="100000" sy="100000" kx="0" ky="0" algn="bl" rotWithShape="0" blurRad="177800" dist="38100" dir="5400000">
              <a:srgbClr val="0B2026">
                <a:alpha val="10000"/>
              </a:srgbClr>
            </a:outerShdw>
          </a:effectLst>
        </p:spPr>
      </p:sp>
      <p:sp>
        <p:nvSpPr>
          <p:cNvPr id="17" name="Text 15"/>
          <p:cNvSpPr/>
          <p:nvPr/>
        </p:nvSpPr>
        <p:spPr>
          <a:xfrm>
            <a:off x="960120" y="3950208"/>
            <a:ext cx="5486400" cy="274320"/>
          </a:xfrm>
          <a:prstGeom prst="rect">
            <a:avLst/>
          </a:prstGeom>
          <a:noFill/>
          <a:ln/>
        </p:spPr>
        <p:txBody>
          <a:bodyPr wrap="square" lIns="0" tIns="0" rIns="0" bIns="0" rtlCol="0" anchor="ctr"/>
          <a:lstStyle/>
          <a:p>
            <a:pPr indent="0" marL="0">
              <a:buNone/>
            </a:pPr>
            <a:r>
              <a:rPr lang="en-US" sz="1300" b="1" dirty="0">
                <a:solidFill>
                  <a:srgbClr val="102A33"/>
                </a:solidFill>
                <a:latin typeface="Meiryo" pitchFamily="34" charset="0"/>
                <a:ea typeface="Meiryo" pitchFamily="34" charset="-122"/>
                <a:cs typeface="Meiryo" pitchFamily="34" charset="-120"/>
              </a:rPr>
              <a:t>テストが守っているもの</a:t>
            </a:r>
            <a:endParaRPr lang="en-US" sz="1300" dirty="0"/>
          </a:p>
        </p:txBody>
      </p:sp>
      <p:sp>
        <p:nvSpPr>
          <p:cNvPr id="18" name="Shape 16"/>
          <p:cNvSpPr/>
          <p:nvPr/>
        </p:nvSpPr>
        <p:spPr>
          <a:xfrm>
            <a:off x="960120" y="4398264"/>
            <a:ext cx="237744" cy="237744"/>
          </a:xfrm>
          <a:prstGeom prst="ellipse">
            <a:avLst/>
          </a:prstGeom>
          <a:solidFill>
            <a:srgbClr val="0E7C7B"/>
          </a:solidFill>
          <a:ln/>
        </p:spPr>
      </p:sp>
      <p:sp>
        <p:nvSpPr>
          <p:cNvPr id="19" name="Text 17"/>
          <p:cNvSpPr/>
          <p:nvPr/>
        </p:nvSpPr>
        <p:spPr>
          <a:xfrm>
            <a:off x="960120" y="4398264"/>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a:t>
            </a:r>
            <a:endParaRPr lang="en-US" sz="900" dirty="0"/>
          </a:p>
        </p:txBody>
      </p:sp>
      <p:sp>
        <p:nvSpPr>
          <p:cNvPr id="20" name="Text 18"/>
          <p:cNvSpPr/>
          <p:nvPr/>
        </p:nvSpPr>
        <p:spPr>
          <a:xfrm>
            <a:off x="1325880" y="4343400"/>
            <a:ext cx="4754880" cy="548640"/>
          </a:xfrm>
          <a:prstGeom prst="rect">
            <a:avLst/>
          </a:prstGeom>
          <a:noFill/>
          <a:ln/>
        </p:spPr>
        <p:txBody>
          <a:bodyPr wrap="square" lIns="0" tIns="0" rIns="0" bIns="0" rtlCol="0" anchor="ctr"/>
          <a:lstStyle/>
          <a:p>
            <a:pPr indent="0" marL="0">
              <a:lnSpc>
                <a:spcPct val="125000"/>
              </a:lnSpc>
              <a:buNone/>
            </a:pPr>
            <a:r>
              <a:rPr lang="en-US" sz="1050" dirty="0">
                <a:solidFill>
                  <a:srgbClr val="17282E"/>
                </a:solidFill>
                <a:latin typeface="Meiryo" pitchFamily="34" charset="0"/>
                <a:ea typeface="Meiryo" pitchFamily="34" charset="-122"/>
                <a:cs typeface="Meiryo" pitchFamily="34" charset="-120"/>
              </a:rPr>
              <a:t>同じ倉庫・型式が複数明細に分かれていても正しく合計されること</a:t>
            </a:r>
            <a:endParaRPr lang="en-US" sz="1050" dirty="0"/>
          </a:p>
        </p:txBody>
      </p:sp>
      <p:sp>
        <p:nvSpPr>
          <p:cNvPr id="21" name="Shape 19"/>
          <p:cNvSpPr/>
          <p:nvPr/>
        </p:nvSpPr>
        <p:spPr>
          <a:xfrm>
            <a:off x="6309360" y="4398264"/>
            <a:ext cx="237744" cy="237744"/>
          </a:xfrm>
          <a:prstGeom prst="ellipse">
            <a:avLst/>
          </a:prstGeom>
          <a:solidFill>
            <a:srgbClr val="0E7C7B"/>
          </a:solidFill>
          <a:ln/>
        </p:spPr>
      </p:sp>
      <p:sp>
        <p:nvSpPr>
          <p:cNvPr id="22" name="Text 20"/>
          <p:cNvSpPr/>
          <p:nvPr/>
        </p:nvSpPr>
        <p:spPr>
          <a:xfrm>
            <a:off x="6309360" y="4398264"/>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a:t>
            </a:r>
            <a:endParaRPr lang="en-US" sz="900" dirty="0"/>
          </a:p>
        </p:txBody>
      </p:sp>
      <p:sp>
        <p:nvSpPr>
          <p:cNvPr id="23" name="Text 21"/>
          <p:cNvSpPr/>
          <p:nvPr/>
        </p:nvSpPr>
        <p:spPr>
          <a:xfrm>
            <a:off x="6675120" y="4343400"/>
            <a:ext cx="4754880" cy="548640"/>
          </a:xfrm>
          <a:prstGeom prst="rect">
            <a:avLst/>
          </a:prstGeom>
          <a:noFill/>
          <a:ln/>
        </p:spPr>
        <p:txBody>
          <a:bodyPr wrap="square" lIns="0" tIns="0" rIns="0" bIns="0" rtlCol="0" anchor="ctr"/>
          <a:lstStyle/>
          <a:p>
            <a:pPr indent="0" marL="0">
              <a:lnSpc>
                <a:spcPct val="125000"/>
              </a:lnSpc>
              <a:buNone/>
            </a:pPr>
            <a:r>
              <a:rPr lang="en-US" sz="1050" dirty="0">
                <a:solidFill>
                  <a:srgbClr val="17282E"/>
                </a:solidFill>
                <a:latin typeface="Meiryo" pitchFamily="34" charset="0"/>
                <a:ea typeface="Meiryo" pitchFamily="34" charset="-122"/>
                <a:cs typeface="Meiryo" pitchFamily="34" charset="-120"/>
              </a:rPr>
              <a:t>預り書に無い倉庫が結果にも合計数量にも混ざらないこと</a:t>
            </a:r>
            <a:endParaRPr lang="en-US" sz="1050" dirty="0"/>
          </a:p>
        </p:txBody>
      </p:sp>
      <p:sp>
        <p:nvSpPr>
          <p:cNvPr id="24" name="Shape 22"/>
          <p:cNvSpPr/>
          <p:nvPr/>
        </p:nvSpPr>
        <p:spPr>
          <a:xfrm>
            <a:off x="960120" y="5056632"/>
            <a:ext cx="237744" cy="237744"/>
          </a:xfrm>
          <a:prstGeom prst="ellipse">
            <a:avLst/>
          </a:prstGeom>
          <a:solidFill>
            <a:srgbClr val="0E7C7B"/>
          </a:solidFill>
          <a:ln/>
        </p:spPr>
      </p:sp>
      <p:sp>
        <p:nvSpPr>
          <p:cNvPr id="25" name="Text 23"/>
          <p:cNvSpPr/>
          <p:nvPr/>
        </p:nvSpPr>
        <p:spPr>
          <a:xfrm>
            <a:off x="960120" y="5056632"/>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a:t>
            </a:r>
            <a:endParaRPr lang="en-US" sz="900" dirty="0"/>
          </a:p>
        </p:txBody>
      </p:sp>
      <p:sp>
        <p:nvSpPr>
          <p:cNvPr id="26" name="Text 24"/>
          <p:cNvSpPr/>
          <p:nvPr/>
        </p:nvSpPr>
        <p:spPr>
          <a:xfrm>
            <a:off x="1325880" y="5001768"/>
            <a:ext cx="4754880" cy="548640"/>
          </a:xfrm>
          <a:prstGeom prst="rect">
            <a:avLst/>
          </a:prstGeom>
          <a:noFill/>
          <a:ln/>
        </p:spPr>
        <p:txBody>
          <a:bodyPr wrap="square" lIns="0" tIns="0" rIns="0" bIns="0" rtlCol="0" anchor="ctr"/>
          <a:lstStyle/>
          <a:p>
            <a:pPr indent="0" marL="0">
              <a:lnSpc>
                <a:spcPct val="125000"/>
              </a:lnSpc>
              <a:buNone/>
            </a:pPr>
            <a:r>
              <a:rPr lang="en-US" sz="1050" dirty="0">
                <a:solidFill>
                  <a:srgbClr val="17282E"/>
                </a:solidFill>
                <a:latin typeface="Meiryo" pitchFamily="34" charset="0"/>
                <a:ea typeface="Meiryo" pitchFamily="34" charset="-122"/>
                <a:cs typeface="Meiryo" pitchFamily="34" charset="-120"/>
              </a:rPr>
              <a:t>「1,234」「全角数字」「△123」が正しく数値になり、「12台」は誤読されないこと</a:t>
            </a:r>
            <a:endParaRPr lang="en-US" sz="1050" dirty="0"/>
          </a:p>
        </p:txBody>
      </p:sp>
      <p:sp>
        <p:nvSpPr>
          <p:cNvPr id="27" name="Shape 25"/>
          <p:cNvSpPr/>
          <p:nvPr/>
        </p:nvSpPr>
        <p:spPr>
          <a:xfrm>
            <a:off x="6309360" y="5056632"/>
            <a:ext cx="237744" cy="237744"/>
          </a:xfrm>
          <a:prstGeom prst="ellipse">
            <a:avLst/>
          </a:prstGeom>
          <a:solidFill>
            <a:srgbClr val="0E7C7B"/>
          </a:solidFill>
          <a:ln/>
        </p:spPr>
      </p:sp>
      <p:sp>
        <p:nvSpPr>
          <p:cNvPr id="28" name="Text 26"/>
          <p:cNvSpPr/>
          <p:nvPr/>
        </p:nvSpPr>
        <p:spPr>
          <a:xfrm>
            <a:off x="6309360" y="5056632"/>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a:t>
            </a:r>
            <a:endParaRPr lang="en-US" sz="900" dirty="0"/>
          </a:p>
        </p:txBody>
      </p:sp>
      <p:sp>
        <p:nvSpPr>
          <p:cNvPr id="29" name="Text 27"/>
          <p:cNvSpPr/>
          <p:nvPr/>
        </p:nvSpPr>
        <p:spPr>
          <a:xfrm>
            <a:off x="6675120" y="5001768"/>
            <a:ext cx="4754880" cy="548640"/>
          </a:xfrm>
          <a:prstGeom prst="rect">
            <a:avLst/>
          </a:prstGeom>
          <a:noFill/>
          <a:ln/>
        </p:spPr>
        <p:txBody>
          <a:bodyPr wrap="square" lIns="0" tIns="0" rIns="0" bIns="0" rtlCol="0" anchor="ctr"/>
          <a:lstStyle/>
          <a:p>
            <a:pPr indent="0" marL="0">
              <a:lnSpc>
                <a:spcPct val="125000"/>
              </a:lnSpc>
              <a:buNone/>
            </a:pPr>
            <a:r>
              <a:rPr lang="en-US" sz="1050" dirty="0">
                <a:solidFill>
                  <a:srgbClr val="17282E"/>
                </a:solidFill>
                <a:latin typeface="Meiryo" pitchFamily="34" charset="0"/>
                <a:ea typeface="Meiryo" pitchFamily="34" charset="-122"/>
                <a:cs typeface="Meiryo" pitchFamily="34" charset="-120"/>
              </a:rPr>
              <a:t>CSVがExcelでそのまま開けること（文字コード・改行・引用符の扱い）</a:t>
            </a:r>
            <a:endParaRPr lang="en-US" sz="1050" dirty="0"/>
          </a:p>
        </p:txBody>
      </p:sp>
      <p:sp>
        <p:nvSpPr>
          <p:cNvPr id="30" name="Text 28"/>
          <p:cNvSpPr/>
          <p:nvPr/>
        </p:nvSpPr>
        <p:spPr>
          <a:xfrm>
            <a:off x="11430000" y="6355080"/>
            <a:ext cx="457200" cy="274320"/>
          </a:xfrm>
          <a:prstGeom prst="rect">
            <a:avLst/>
          </a:prstGeom>
          <a:noFill/>
          <a:ln/>
        </p:spPr>
        <p:txBody>
          <a:bodyPr wrap="square" lIns="0" tIns="0" rIns="0" bIns="0" rtlCol="0" anchor="ctr"/>
          <a:lstStyle/>
          <a:p>
            <a:pPr algn="r" indent="0" marL="0">
              <a:buNone/>
            </a:pPr>
            <a:r>
              <a:rPr lang="en-US" sz="1000" dirty="0">
                <a:solidFill>
                  <a:srgbClr val="60757C"/>
                </a:solidFill>
                <a:latin typeface="Arial" pitchFamily="34" charset="0"/>
                <a:ea typeface="Arial" pitchFamily="34" charset="-122"/>
                <a:cs typeface="Arial"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20624"/>
            <a:ext cx="10881360" cy="566928"/>
          </a:xfrm>
          <a:prstGeom prst="rect">
            <a:avLst/>
          </a:prstGeom>
          <a:noFill/>
          <a:ln/>
        </p:spPr>
        <p:txBody>
          <a:bodyPr wrap="square" lIns="0" tIns="0" rIns="0" bIns="0" rtlCol="0" anchor="ctr"/>
          <a:lstStyle/>
          <a:p>
            <a:pPr indent="0" marL="0">
              <a:buNone/>
            </a:pPr>
            <a:r>
              <a:rPr lang="en-US" sz="3000" b="1" dirty="0">
                <a:solidFill>
                  <a:srgbClr val="102A33"/>
                </a:solidFill>
                <a:latin typeface="Meiryo" pitchFamily="34" charset="0"/>
                <a:ea typeface="Meiryo" pitchFamily="34" charset="-122"/>
                <a:cs typeface="Meiryo" pitchFamily="34" charset="-120"/>
              </a:rPr>
              <a:t>どう作ったか：AIとの進め方</a:t>
            </a:r>
            <a:endParaRPr lang="en-US" sz="3000" dirty="0"/>
          </a:p>
        </p:txBody>
      </p:sp>
      <p:sp>
        <p:nvSpPr>
          <p:cNvPr id="3" name="Text 1"/>
          <p:cNvSpPr/>
          <p:nvPr/>
        </p:nvSpPr>
        <p:spPr>
          <a:xfrm>
            <a:off x="640080" y="1042416"/>
            <a:ext cx="10881360" cy="384048"/>
          </a:xfrm>
          <a:prstGeom prst="rect">
            <a:avLst/>
          </a:prstGeom>
          <a:noFill/>
          <a:ln/>
        </p:spPr>
        <p:txBody>
          <a:bodyPr wrap="square" lIns="0" tIns="0" rIns="0" bIns="0" rtlCol="0" anchor="ctr"/>
          <a:lstStyle/>
          <a:p>
            <a:pPr indent="0" marL="0">
              <a:buNone/>
            </a:pPr>
            <a:r>
              <a:rPr lang="en-US" sz="1350" dirty="0">
                <a:solidFill>
                  <a:srgbClr val="60757C"/>
                </a:solidFill>
                <a:latin typeface="Meiryo" pitchFamily="34" charset="0"/>
                <a:ea typeface="Meiryo" pitchFamily="34" charset="-122"/>
                <a:cs typeface="Meiryo" pitchFamily="34" charset="-120"/>
              </a:rPr>
              <a:t>プログラムは1行も手で書いていない。やったのは「伝える」「決める」「確かめる」の3つ</a:t>
            </a:r>
            <a:endParaRPr lang="en-US" sz="1350" dirty="0"/>
          </a:p>
        </p:txBody>
      </p:sp>
      <p:sp>
        <p:nvSpPr>
          <p:cNvPr id="4" name="Shape 2"/>
          <p:cNvSpPr/>
          <p:nvPr/>
        </p:nvSpPr>
        <p:spPr>
          <a:xfrm>
            <a:off x="640080" y="1783080"/>
            <a:ext cx="2011680" cy="2514600"/>
          </a:xfrm>
          <a:prstGeom prst="roundRect">
            <a:avLst>
              <a:gd name="adj" fmla="val 2727"/>
            </a:avLst>
          </a:prstGeom>
          <a:solidFill>
            <a:srgbClr val="FFFFFF"/>
          </a:solidFill>
          <a:ln w="12700">
            <a:solidFill>
              <a:srgbClr val="D9E4E4"/>
            </a:solidFill>
            <a:prstDash val="solid"/>
          </a:ln>
          <a:effectLst>
            <a:outerShdw sx="100000" sy="100000" kx="0" ky="0" algn="bl" rotWithShape="0" blurRad="177800" dist="38100" dir="5400000">
              <a:srgbClr val="0B2026">
                <a:alpha val="10000"/>
              </a:srgbClr>
            </a:outerShdw>
          </a:effectLst>
        </p:spPr>
      </p:sp>
      <p:sp>
        <p:nvSpPr>
          <p:cNvPr id="5" name="Shape 3"/>
          <p:cNvSpPr/>
          <p:nvPr/>
        </p:nvSpPr>
        <p:spPr>
          <a:xfrm>
            <a:off x="877824" y="2029968"/>
            <a:ext cx="384048" cy="384048"/>
          </a:xfrm>
          <a:prstGeom prst="ellipse">
            <a:avLst/>
          </a:prstGeom>
          <a:solidFill>
            <a:srgbClr val="0E7C7B"/>
          </a:solidFill>
          <a:ln/>
        </p:spPr>
      </p:sp>
      <p:sp>
        <p:nvSpPr>
          <p:cNvPr id="6" name="Text 4"/>
          <p:cNvSpPr/>
          <p:nvPr/>
        </p:nvSpPr>
        <p:spPr>
          <a:xfrm>
            <a:off x="877824" y="20299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877824" y="2542032"/>
            <a:ext cx="1600200" cy="274320"/>
          </a:xfrm>
          <a:prstGeom prst="rect">
            <a:avLst/>
          </a:prstGeom>
          <a:noFill/>
          <a:ln/>
        </p:spPr>
        <p:txBody>
          <a:bodyPr wrap="square" lIns="0" tIns="0" rIns="0" bIns="0" rtlCol="0" anchor="ctr"/>
          <a:lstStyle/>
          <a:p>
            <a:pPr indent="0" marL="0">
              <a:buNone/>
            </a:pPr>
            <a:r>
              <a:rPr lang="en-US" sz="1250" b="1" dirty="0">
                <a:solidFill>
                  <a:srgbClr val="102A33"/>
                </a:solidFill>
                <a:latin typeface="Meiryo" pitchFamily="34" charset="0"/>
                <a:ea typeface="Meiryo" pitchFamily="34" charset="-122"/>
                <a:cs typeface="Meiryo" pitchFamily="34" charset="-120"/>
              </a:rPr>
              <a:t>日本語で伝える</a:t>
            </a:r>
            <a:endParaRPr lang="en-US" sz="1250" dirty="0"/>
          </a:p>
        </p:txBody>
      </p:sp>
      <p:sp>
        <p:nvSpPr>
          <p:cNvPr id="8" name="Text 6"/>
          <p:cNvSpPr/>
          <p:nvPr/>
        </p:nvSpPr>
        <p:spPr>
          <a:xfrm>
            <a:off x="877824" y="2871216"/>
            <a:ext cx="1627632" cy="1280160"/>
          </a:xfrm>
          <a:prstGeom prst="rect">
            <a:avLst/>
          </a:prstGeom>
          <a:noFill/>
          <a:ln/>
        </p:spPr>
        <p:txBody>
          <a:bodyPr wrap="square" lIns="0" tIns="0" rIns="0" bIns="0" rtlCol="0" anchor="ctr"/>
          <a:lstStyle/>
          <a:p>
            <a:pPr indent="0" marL="0">
              <a:lnSpc>
                <a:spcPct val="130000"/>
              </a:lnSpc>
              <a:buNone/>
            </a:pPr>
            <a:r>
              <a:rPr lang="en-US" sz="950" dirty="0">
                <a:solidFill>
                  <a:srgbClr val="60757C"/>
                </a:solidFill>
                <a:latin typeface="Meiryo" pitchFamily="34" charset="0"/>
                <a:ea typeface="Meiryo" pitchFamily="34" charset="-122"/>
                <a:cs typeface="Meiryo" pitchFamily="34" charset="-120"/>
              </a:rPr>
              <a:t>使うファイルと列、やりたいことを普段の言葉で説明した。専門用語は不要。</a:t>
            </a:r>
            <a:endParaRPr lang="en-US" sz="950" dirty="0"/>
          </a:p>
        </p:txBody>
      </p:sp>
      <p:sp>
        <p:nvSpPr>
          <p:cNvPr id="9" name="Shape 7"/>
          <p:cNvSpPr/>
          <p:nvPr/>
        </p:nvSpPr>
        <p:spPr>
          <a:xfrm>
            <a:off x="2857500" y="1783080"/>
            <a:ext cx="2011680" cy="2514600"/>
          </a:xfrm>
          <a:prstGeom prst="roundRect">
            <a:avLst>
              <a:gd name="adj" fmla="val 2727"/>
            </a:avLst>
          </a:prstGeom>
          <a:solidFill>
            <a:srgbClr val="FFFFFF"/>
          </a:solidFill>
          <a:ln w="12700">
            <a:solidFill>
              <a:srgbClr val="D9E4E4"/>
            </a:solidFill>
            <a:prstDash val="solid"/>
          </a:ln>
          <a:effectLst>
            <a:outerShdw sx="100000" sy="100000" kx="0" ky="0" algn="bl" rotWithShape="0" blurRad="177800" dist="38100" dir="5400000">
              <a:srgbClr val="0B2026">
                <a:alpha val="10000"/>
              </a:srgbClr>
            </a:outerShdw>
          </a:effectLst>
        </p:spPr>
      </p:sp>
      <p:sp>
        <p:nvSpPr>
          <p:cNvPr id="10" name="Shape 8"/>
          <p:cNvSpPr/>
          <p:nvPr/>
        </p:nvSpPr>
        <p:spPr>
          <a:xfrm>
            <a:off x="3095244" y="2029968"/>
            <a:ext cx="384048" cy="384048"/>
          </a:xfrm>
          <a:prstGeom prst="ellipse">
            <a:avLst/>
          </a:prstGeom>
          <a:solidFill>
            <a:srgbClr val="0E7C7B"/>
          </a:solidFill>
          <a:ln/>
        </p:spPr>
      </p:sp>
      <p:sp>
        <p:nvSpPr>
          <p:cNvPr id="11" name="Text 9"/>
          <p:cNvSpPr/>
          <p:nvPr/>
        </p:nvSpPr>
        <p:spPr>
          <a:xfrm>
            <a:off x="3095244" y="20299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2" name="Text 10"/>
          <p:cNvSpPr/>
          <p:nvPr/>
        </p:nvSpPr>
        <p:spPr>
          <a:xfrm>
            <a:off x="3095244" y="2542032"/>
            <a:ext cx="1600200" cy="274320"/>
          </a:xfrm>
          <a:prstGeom prst="rect">
            <a:avLst/>
          </a:prstGeom>
          <a:noFill/>
          <a:ln/>
        </p:spPr>
        <p:txBody>
          <a:bodyPr wrap="square" lIns="0" tIns="0" rIns="0" bIns="0" rtlCol="0" anchor="ctr"/>
          <a:lstStyle/>
          <a:p>
            <a:pPr indent="0" marL="0">
              <a:buNone/>
            </a:pPr>
            <a:r>
              <a:rPr lang="en-US" sz="1250" b="1" dirty="0">
                <a:solidFill>
                  <a:srgbClr val="102A33"/>
                </a:solidFill>
                <a:latin typeface="Meiryo" pitchFamily="34" charset="0"/>
                <a:ea typeface="Meiryo" pitchFamily="34" charset="-122"/>
                <a:cs typeface="Meiryo" pitchFamily="34" charset="-120"/>
              </a:rPr>
              <a:t>質問に答える</a:t>
            </a:r>
            <a:endParaRPr lang="en-US" sz="1250" dirty="0"/>
          </a:p>
        </p:txBody>
      </p:sp>
      <p:sp>
        <p:nvSpPr>
          <p:cNvPr id="13" name="Text 11"/>
          <p:cNvSpPr/>
          <p:nvPr/>
        </p:nvSpPr>
        <p:spPr>
          <a:xfrm>
            <a:off x="3095244" y="2871216"/>
            <a:ext cx="1627632" cy="1280160"/>
          </a:xfrm>
          <a:prstGeom prst="rect">
            <a:avLst/>
          </a:prstGeom>
          <a:noFill/>
          <a:ln/>
        </p:spPr>
        <p:txBody>
          <a:bodyPr wrap="square" lIns="0" tIns="0" rIns="0" bIns="0" rtlCol="0" anchor="ctr"/>
          <a:lstStyle/>
          <a:p>
            <a:pPr indent="0" marL="0">
              <a:lnSpc>
                <a:spcPct val="130000"/>
              </a:lnSpc>
              <a:buNone/>
            </a:pPr>
            <a:r>
              <a:rPr lang="en-US" sz="950" dirty="0">
                <a:solidFill>
                  <a:srgbClr val="60757C"/>
                </a:solidFill>
                <a:latin typeface="Meiryo" pitchFamily="34" charset="0"/>
                <a:ea typeface="Meiryo" pitchFamily="34" charset="-122"/>
                <a:cs typeface="Meiryo" pitchFamily="34" charset="-120"/>
              </a:rPr>
              <a:t>AIから「表記ゆれは吸収する？」等の確認が来る。ここで業務judgeを決める。</a:t>
            </a:r>
            <a:endParaRPr lang="en-US" sz="950" dirty="0"/>
          </a:p>
        </p:txBody>
      </p:sp>
      <p:sp>
        <p:nvSpPr>
          <p:cNvPr id="14" name="Shape 12"/>
          <p:cNvSpPr/>
          <p:nvPr/>
        </p:nvSpPr>
        <p:spPr>
          <a:xfrm>
            <a:off x="5074920" y="1783080"/>
            <a:ext cx="2011680" cy="2514600"/>
          </a:xfrm>
          <a:prstGeom prst="roundRect">
            <a:avLst>
              <a:gd name="adj" fmla="val 2727"/>
            </a:avLst>
          </a:prstGeom>
          <a:solidFill>
            <a:srgbClr val="FFFFFF"/>
          </a:solidFill>
          <a:ln w="12700">
            <a:solidFill>
              <a:srgbClr val="D9E4E4"/>
            </a:solidFill>
            <a:prstDash val="solid"/>
          </a:ln>
          <a:effectLst>
            <a:outerShdw sx="100000" sy="100000" kx="0" ky="0" algn="bl" rotWithShape="0" blurRad="177800" dist="38100" dir="5400000">
              <a:srgbClr val="0B2026">
                <a:alpha val="10000"/>
              </a:srgbClr>
            </a:outerShdw>
          </a:effectLst>
        </p:spPr>
      </p:sp>
      <p:sp>
        <p:nvSpPr>
          <p:cNvPr id="15" name="Shape 13"/>
          <p:cNvSpPr/>
          <p:nvPr/>
        </p:nvSpPr>
        <p:spPr>
          <a:xfrm>
            <a:off x="5312664" y="2029968"/>
            <a:ext cx="384048" cy="384048"/>
          </a:xfrm>
          <a:prstGeom prst="ellipse">
            <a:avLst/>
          </a:prstGeom>
          <a:solidFill>
            <a:srgbClr val="0E7C7B"/>
          </a:solidFill>
          <a:ln/>
        </p:spPr>
      </p:sp>
      <p:sp>
        <p:nvSpPr>
          <p:cNvPr id="16" name="Text 14"/>
          <p:cNvSpPr/>
          <p:nvPr/>
        </p:nvSpPr>
        <p:spPr>
          <a:xfrm>
            <a:off x="5312664" y="20299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7" name="Text 15"/>
          <p:cNvSpPr/>
          <p:nvPr/>
        </p:nvSpPr>
        <p:spPr>
          <a:xfrm>
            <a:off x="5312664" y="2542032"/>
            <a:ext cx="1600200" cy="274320"/>
          </a:xfrm>
          <a:prstGeom prst="rect">
            <a:avLst/>
          </a:prstGeom>
          <a:noFill/>
          <a:ln/>
        </p:spPr>
        <p:txBody>
          <a:bodyPr wrap="square" lIns="0" tIns="0" rIns="0" bIns="0" rtlCol="0" anchor="ctr"/>
          <a:lstStyle/>
          <a:p>
            <a:pPr indent="0" marL="0">
              <a:buNone/>
            </a:pPr>
            <a:r>
              <a:rPr lang="en-US" sz="1250" b="1" dirty="0">
                <a:solidFill>
                  <a:srgbClr val="102A33"/>
                </a:solidFill>
                <a:latin typeface="Meiryo" pitchFamily="34" charset="0"/>
                <a:ea typeface="Meiryo" pitchFamily="34" charset="-122"/>
                <a:cs typeface="Meiryo" pitchFamily="34" charset="-120"/>
              </a:rPr>
              <a:t>動くものを見る</a:t>
            </a:r>
            <a:endParaRPr lang="en-US" sz="1250" dirty="0"/>
          </a:p>
        </p:txBody>
      </p:sp>
      <p:sp>
        <p:nvSpPr>
          <p:cNvPr id="18" name="Text 16"/>
          <p:cNvSpPr/>
          <p:nvPr/>
        </p:nvSpPr>
        <p:spPr>
          <a:xfrm>
            <a:off x="5312664" y="2871216"/>
            <a:ext cx="1627632" cy="1280160"/>
          </a:xfrm>
          <a:prstGeom prst="rect">
            <a:avLst/>
          </a:prstGeom>
          <a:noFill/>
          <a:ln/>
        </p:spPr>
        <p:txBody>
          <a:bodyPr wrap="square" lIns="0" tIns="0" rIns="0" bIns="0" rtlCol="0" anchor="ctr"/>
          <a:lstStyle/>
          <a:p>
            <a:pPr indent="0" marL="0">
              <a:lnSpc>
                <a:spcPct val="130000"/>
              </a:lnSpc>
              <a:buNone/>
            </a:pPr>
            <a:r>
              <a:rPr lang="en-US" sz="950" dirty="0">
                <a:solidFill>
                  <a:srgbClr val="60757C"/>
                </a:solidFill>
                <a:latin typeface="Meiryo" pitchFamily="34" charset="0"/>
                <a:ea typeface="Meiryo" pitchFamily="34" charset="-122"/>
                <a:cs typeface="Meiryo" pitchFamily="34" charset="-120"/>
              </a:rPr>
              <a:t>画面ができた段階で実際に触る。この時点で認識のズレに気づける。</a:t>
            </a:r>
            <a:endParaRPr lang="en-US" sz="950" dirty="0"/>
          </a:p>
        </p:txBody>
      </p:sp>
      <p:sp>
        <p:nvSpPr>
          <p:cNvPr id="19" name="Shape 17"/>
          <p:cNvSpPr/>
          <p:nvPr/>
        </p:nvSpPr>
        <p:spPr>
          <a:xfrm>
            <a:off x="7292340" y="1783080"/>
            <a:ext cx="2011680" cy="2514600"/>
          </a:xfrm>
          <a:prstGeom prst="roundRect">
            <a:avLst>
              <a:gd name="adj" fmla="val 2727"/>
            </a:avLst>
          </a:prstGeom>
          <a:solidFill>
            <a:srgbClr val="FFFFFF"/>
          </a:solidFill>
          <a:ln w="12700">
            <a:solidFill>
              <a:srgbClr val="D9E4E4"/>
            </a:solidFill>
            <a:prstDash val="solid"/>
          </a:ln>
          <a:effectLst>
            <a:outerShdw sx="100000" sy="100000" kx="0" ky="0" algn="bl" rotWithShape="0" blurRad="177800" dist="38100" dir="5400000">
              <a:srgbClr val="0B2026">
                <a:alpha val="10000"/>
              </a:srgbClr>
            </a:outerShdw>
          </a:effectLst>
        </p:spPr>
      </p:sp>
      <p:sp>
        <p:nvSpPr>
          <p:cNvPr id="20" name="Shape 18"/>
          <p:cNvSpPr/>
          <p:nvPr/>
        </p:nvSpPr>
        <p:spPr>
          <a:xfrm>
            <a:off x="7530084" y="2029968"/>
            <a:ext cx="384048" cy="384048"/>
          </a:xfrm>
          <a:prstGeom prst="ellipse">
            <a:avLst/>
          </a:prstGeom>
          <a:solidFill>
            <a:srgbClr val="0E7C7B"/>
          </a:solidFill>
          <a:ln/>
        </p:spPr>
      </p:sp>
      <p:sp>
        <p:nvSpPr>
          <p:cNvPr id="21" name="Text 19"/>
          <p:cNvSpPr/>
          <p:nvPr/>
        </p:nvSpPr>
        <p:spPr>
          <a:xfrm>
            <a:off x="7530084" y="20299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2" name="Text 20"/>
          <p:cNvSpPr/>
          <p:nvPr/>
        </p:nvSpPr>
        <p:spPr>
          <a:xfrm>
            <a:off x="7530084" y="2542032"/>
            <a:ext cx="1600200" cy="274320"/>
          </a:xfrm>
          <a:prstGeom prst="rect">
            <a:avLst/>
          </a:prstGeom>
          <a:noFill/>
          <a:ln/>
        </p:spPr>
        <p:txBody>
          <a:bodyPr wrap="square" lIns="0" tIns="0" rIns="0" bIns="0" rtlCol="0" anchor="ctr"/>
          <a:lstStyle/>
          <a:p>
            <a:pPr indent="0" marL="0">
              <a:buNone/>
            </a:pPr>
            <a:r>
              <a:rPr lang="en-US" sz="1250" b="1" dirty="0">
                <a:solidFill>
                  <a:srgbClr val="102A33"/>
                </a:solidFill>
                <a:latin typeface="Meiryo" pitchFamily="34" charset="0"/>
                <a:ea typeface="Meiryo" pitchFamily="34" charset="-122"/>
                <a:cs typeface="Meiryo" pitchFamily="34" charset="-120"/>
              </a:rPr>
              <a:t>実データで直す</a:t>
            </a:r>
            <a:endParaRPr lang="en-US" sz="1250" dirty="0"/>
          </a:p>
        </p:txBody>
      </p:sp>
      <p:sp>
        <p:nvSpPr>
          <p:cNvPr id="23" name="Text 21"/>
          <p:cNvSpPr/>
          <p:nvPr/>
        </p:nvSpPr>
        <p:spPr>
          <a:xfrm>
            <a:off x="7530084" y="2871216"/>
            <a:ext cx="1627632" cy="1280160"/>
          </a:xfrm>
          <a:prstGeom prst="rect">
            <a:avLst/>
          </a:prstGeom>
          <a:noFill/>
          <a:ln/>
        </p:spPr>
        <p:txBody>
          <a:bodyPr wrap="square" lIns="0" tIns="0" rIns="0" bIns="0" rtlCol="0" anchor="ctr"/>
          <a:lstStyle/>
          <a:p>
            <a:pPr indent="0" marL="0">
              <a:lnSpc>
                <a:spcPct val="130000"/>
              </a:lnSpc>
              <a:buNone/>
            </a:pPr>
            <a:r>
              <a:rPr lang="en-US" sz="950" dirty="0">
                <a:solidFill>
                  <a:srgbClr val="60757C"/>
                </a:solidFill>
                <a:latin typeface="Meiryo" pitchFamily="34" charset="0"/>
                <a:ea typeface="Meiryo" pitchFamily="34" charset="-122"/>
                <a:cs typeface="Meiryo" pitchFamily="34" charset="-120"/>
              </a:rPr>
              <a:t>本物のファイルを入れて、出てきた不都合を伝えて直してもらう。</a:t>
            </a:r>
            <a:endParaRPr lang="en-US" sz="950" dirty="0"/>
          </a:p>
        </p:txBody>
      </p:sp>
      <p:sp>
        <p:nvSpPr>
          <p:cNvPr id="24" name="Shape 22"/>
          <p:cNvSpPr/>
          <p:nvPr/>
        </p:nvSpPr>
        <p:spPr>
          <a:xfrm>
            <a:off x="9509760" y="1783080"/>
            <a:ext cx="2011680" cy="2514600"/>
          </a:xfrm>
          <a:prstGeom prst="roundRect">
            <a:avLst>
              <a:gd name="adj" fmla="val 2727"/>
            </a:avLst>
          </a:prstGeom>
          <a:solidFill>
            <a:srgbClr val="FFFFFF"/>
          </a:solidFill>
          <a:ln w="12700">
            <a:solidFill>
              <a:srgbClr val="D9E4E4"/>
            </a:solidFill>
            <a:prstDash val="solid"/>
          </a:ln>
          <a:effectLst>
            <a:outerShdw sx="100000" sy="100000" kx="0" ky="0" algn="bl" rotWithShape="0" blurRad="177800" dist="38100" dir="5400000">
              <a:srgbClr val="0B2026">
                <a:alpha val="10000"/>
              </a:srgbClr>
            </a:outerShdw>
          </a:effectLst>
        </p:spPr>
      </p:sp>
      <p:sp>
        <p:nvSpPr>
          <p:cNvPr id="25" name="Shape 23"/>
          <p:cNvSpPr/>
          <p:nvPr/>
        </p:nvSpPr>
        <p:spPr>
          <a:xfrm>
            <a:off x="9747504" y="2029968"/>
            <a:ext cx="384048" cy="384048"/>
          </a:xfrm>
          <a:prstGeom prst="ellipse">
            <a:avLst/>
          </a:prstGeom>
          <a:solidFill>
            <a:srgbClr val="0E7C7B"/>
          </a:solidFill>
          <a:ln/>
        </p:spPr>
      </p:sp>
      <p:sp>
        <p:nvSpPr>
          <p:cNvPr id="26" name="Text 24"/>
          <p:cNvSpPr/>
          <p:nvPr/>
        </p:nvSpPr>
        <p:spPr>
          <a:xfrm>
            <a:off x="9747504" y="20299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7" name="Text 25"/>
          <p:cNvSpPr/>
          <p:nvPr/>
        </p:nvSpPr>
        <p:spPr>
          <a:xfrm>
            <a:off x="9747504" y="2542032"/>
            <a:ext cx="1600200" cy="274320"/>
          </a:xfrm>
          <a:prstGeom prst="rect">
            <a:avLst/>
          </a:prstGeom>
          <a:noFill/>
          <a:ln/>
        </p:spPr>
        <p:txBody>
          <a:bodyPr wrap="square" lIns="0" tIns="0" rIns="0" bIns="0" rtlCol="0" anchor="ctr"/>
          <a:lstStyle/>
          <a:p>
            <a:pPr indent="0" marL="0">
              <a:buNone/>
            </a:pPr>
            <a:r>
              <a:rPr lang="en-US" sz="1250" b="1" dirty="0">
                <a:solidFill>
                  <a:srgbClr val="102A33"/>
                </a:solidFill>
                <a:latin typeface="Meiryo" pitchFamily="34" charset="0"/>
                <a:ea typeface="Meiryo" pitchFamily="34" charset="-122"/>
                <a:cs typeface="Meiryo" pitchFamily="34" charset="-120"/>
              </a:rPr>
              <a:t>仕上げる</a:t>
            </a:r>
            <a:endParaRPr lang="en-US" sz="1250" dirty="0"/>
          </a:p>
        </p:txBody>
      </p:sp>
      <p:sp>
        <p:nvSpPr>
          <p:cNvPr id="28" name="Text 26"/>
          <p:cNvSpPr/>
          <p:nvPr/>
        </p:nvSpPr>
        <p:spPr>
          <a:xfrm>
            <a:off x="9747504" y="2871216"/>
            <a:ext cx="1627632" cy="1280160"/>
          </a:xfrm>
          <a:prstGeom prst="rect">
            <a:avLst/>
          </a:prstGeom>
          <a:noFill/>
          <a:ln/>
        </p:spPr>
        <p:txBody>
          <a:bodyPr wrap="square" lIns="0" tIns="0" rIns="0" bIns="0" rtlCol="0" anchor="ctr"/>
          <a:lstStyle/>
          <a:p>
            <a:pPr indent="0" marL="0">
              <a:lnSpc>
                <a:spcPct val="130000"/>
              </a:lnSpc>
              <a:buNone/>
            </a:pPr>
            <a:r>
              <a:rPr lang="en-US" sz="950" dirty="0">
                <a:solidFill>
                  <a:srgbClr val="60757C"/>
                </a:solidFill>
                <a:latin typeface="Meiryo" pitchFamily="34" charset="0"/>
                <a:ea typeface="Meiryo" pitchFamily="34" charset="-122"/>
                <a:cs typeface="Meiryo" pitchFamily="34" charset="-120"/>
              </a:rPr>
              <a:t>不要な警告を消す、名称を実務に合わせる等、細かい調整を繰り返す。</a:t>
            </a:r>
            <a:endParaRPr lang="en-US" sz="950" dirty="0"/>
          </a:p>
        </p:txBody>
      </p:sp>
      <p:sp>
        <p:nvSpPr>
          <p:cNvPr id="29" name="Shape 27"/>
          <p:cNvSpPr/>
          <p:nvPr/>
        </p:nvSpPr>
        <p:spPr>
          <a:xfrm>
            <a:off x="640080" y="4617720"/>
            <a:ext cx="10881360" cy="1371600"/>
          </a:xfrm>
          <a:prstGeom prst="roundRect">
            <a:avLst>
              <a:gd name="adj" fmla="val 4000"/>
            </a:avLst>
          </a:prstGeom>
          <a:solidFill>
            <a:srgbClr val="E3F0EF"/>
          </a:solidFill>
          <a:ln/>
        </p:spPr>
      </p:sp>
      <p:sp>
        <p:nvSpPr>
          <p:cNvPr id="30" name="Text 28"/>
          <p:cNvSpPr/>
          <p:nvPr/>
        </p:nvSpPr>
        <p:spPr>
          <a:xfrm>
            <a:off x="960120" y="4800600"/>
            <a:ext cx="3657600" cy="274320"/>
          </a:xfrm>
          <a:prstGeom prst="rect">
            <a:avLst/>
          </a:prstGeom>
          <a:noFill/>
          <a:ln/>
        </p:spPr>
        <p:txBody>
          <a:bodyPr wrap="square" lIns="0" tIns="0" rIns="0" bIns="0" rtlCol="0" anchor="ctr"/>
          <a:lstStyle/>
          <a:p>
            <a:pPr indent="0" marL="0">
              <a:buNone/>
            </a:pPr>
            <a:r>
              <a:rPr lang="en-US" sz="1200" b="1" dirty="0">
                <a:solidFill>
                  <a:srgbClr val="0A5F5E"/>
                </a:solidFill>
                <a:latin typeface="Meiryo" pitchFamily="34" charset="0"/>
                <a:ea typeface="Meiryo" pitchFamily="34" charset="-122"/>
                <a:cs typeface="Meiryo" pitchFamily="34" charset="-120"/>
              </a:rPr>
              <a:t>かかった時間</a:t>
            </a:r>
            <a:endParaRPr lang="en-US" sz="1200" dirty="0"/>
          </a:p>
        </p:txBody>
      </p:sp>
      <p:sp>
        <p:nvSpPr>
          <p:cNvPr id="31" name="Text 29"/>
          <p:cNvSpPr/>
          <p:nvPr/>
        </p:nvSpPr>
        <p:spPr>
          <a:xfrm>
            <a:off x="960120" y="5120640"/>
            <a:ext cx="10241280" cy="685800"/>
          </a:xfrm>
          <a:prstGeom prst="rect">
            <a:avLst/>
          </a:prstGeom>
          <a:noFill/>
          <a:ln/>
        </p:spPr>
        <p:txBody>
          <a:bodyPr wrap="square" lIns="0" tIns="0" rIns="0" bIns="0" rtlCol="0" anchor="ctr"/>
          <a:lstStyle/>
          <a:p>
            <a:pPr indent="0" marL="0">
              <a:lnSpc>
                <a:spcPct val="130000"/>
              </a:lnSpc>
              <a:buNone/>
            </a:pPr>
            <a:r>
              <a:rPr lang="en-US" sz="1200" b="1" dirty="0">
                <a:solidFill>
                  <a:srgbClr val="102A33"/>
                </a:solidFill>
                <a:latin typeface="Meiryo" pitchFamily="34" charset="0"/>
                <a:ea typeface="Meiryo" pitchFamily="34" charset="-122"/>
                <a:cs typeface="Meiryo" pitchFamily="34" charset="-120"/>
              </a:rPr>
              <a:t>会話しながら半日程度で、テストと手順書まで含めて完成した。</a:t>
            </a:r>
            <a:pPr indent="0" marL="0">
              <a:lnSpc>
                <a:spcPct val="130000"/>
              </a:lnSpc>
              <a:buNone/>
            </a:pPr>
            <a:r>
              <a:rPr lang="en-US" sz="1200" dirty="0">
                <a:solidFill>
                  <a:srgbClr val="17282E"/>
                </a:solidFill>
                <a:latin typeface="Meiryo" pitchFamily="34" charset="0"/>
                <a:ea typeface="Meiryo" pitchFamily="34" charset="-122"/>
                <a:cs typeface="Meiryo" pitchFamily="34" charset="-120"/>
              </a:rPr>
              <a:t>　同じものを自分で調べながら書くなら、数日はかかっていたと思う。プログラムを書く時間ではなく、</a:t>
            </a:r>
            <a:pPr indent="0" marL="0">
              <a:lnSpc>
                <a:spcPct val="130000"/>
              </a:lnSpc>
              <a:buNone/>
            </a:pPr>
            <a:r>
              <a:rPr lang="en-US" sz="1200" b="1" dirty="0">
                <a:solidFill>
                  <a:srgbClr val="0A5F5E"/>
                </a:solidFill>
                <a:latin typeface="Meiryo" pitchFamily="34" charset="0"/>
                <a:ea typeface="Meiryo" pitchFamily="34" charset="-122"/>
                <a:cs typeface="Meiryo" pitchFamily="34" charset="-120"/>
              </a:rPr>
              <a:t>「何を作るべきかを考える時間」</a:t>
            </a:r>
            <a:pPr indent="0" marL="0">
              <a:lnSpc>
                <a:spcPct val="130000"/>
              </a:lnSpc>
              <a:buNone/>
            </a:pPr>
            <a:r>
              <a:rPr lang="en-US" sz="1200" dirty="0">
                <a:solidFill>
                  <a:srgbClr val="17282E"/>
                </a:solidFill>
                <a:latin typeface="Meiryo" pitchFamily="34" charset="0"/>
                <a:ea typeface="Meiryo" pitchFamily="34" charset="-122"/>
                <a:cs typeface="Meiryo" pitchFamily="34" charset="-120"/>
              </a:rPr>
              <a:t>に集中できたのが一番大きい。</a:t>
            </a:r>
            <a:endParaRPr lang="en-US" sz="1200" dirty="0"/>
          </a:p>
        </p:txBody>
      </p:sp>
      <p:sp>
        <p:nvSpPr>
          <p:cNvPr id="32" name="Text 30"/>
          <p:cNvSpPr/>
          <p:nvPr/>
        </p:nvSpPr>
        <p:spPr>
          <a:xfrm>
            <a:off x="11430000" y="6355080"/>
            <a:ext cx="457200" cy="274320"/>
          </a:xfrm>
          <a:prstGeom prst="rect">
            <a:avLst/>
          </a:prstGeom>
          <a:noFill/>
          <a:ln/>
        </p:spPr>
        <p:txBody>
          <a:bodyPr wrap="square" lIns="0" tIns="0" rIns="0" bIns="0" rtlCol="0" anchor="ctr"/>
          <a:lstStyle/>
          <a:p>
            <a:pPr algn="r" indent="0" marL="0">
              <a:buNone/>
            </a:pPr>
            <a:r>
              <a:rPr lang="en-US" sz="1000" dirty="0">
                <a:solidFill>
                  <a:srgbClr val="60757C"/>
                </a:solidFill>
                <a:latin typeface="Arial" pitchFamily="34" charset="0"/>
                <a:ea typeface="Arial" pitchFamily="34" charset="-122"/>
                <a:cs typeface="Arial"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02A33"/>
        </a:solidFill>
      </p:bgPr>
    </p:bg>
    <p:spTree>
      <p:nvGrpSpPr>
        <p:cNvPr id="1" name=""/>
        <p:cNvGrpSpPr/>
        <p:nvPr/>
      </p:nvGrpSpPr>
      <p:grpSpPr>
        <a:xfrm>
          <a:off x="0" y="0"/>
          <a:ext cx="0" cy="0"/>
          <a:chOff x="0" y="0"/>
          <a:chExt cx="0" cy="0"/>
        </a:xfrm>
      </p:grpSpPr>
      <p:sp>
        <p:nvSpPr>
          <p:cNvPr id="2" name="Shape 0"/>
          <p:cNvSpPr/>
          <p:nvPr/>
        </p:nvSpPr>
        <p:spPr>
          <a:xfrm>
            <a:off x="9692640" y="-2011680"/>
            <a:ext cx="5120640" cy="5120640"/>
          </a:xfrm>
          <a:prstGeom prst="ellipse">
            <a:avLst/>
          </a:prstGeom>
          <a:solidFill>
            <a:srgbClr val="0E7C7B">
              <a:alpha val="15000"/>
            </a:srgbClr>
          </a:solidFill>
          <a:ln/>
        </p:spPr>
      </p:sp>
      <p:sp>
        <p:nvSpPr>
          <p:cNvPr id="3" name="Text 1"/>
          <p:cNvSpPr/>
          <p:nvPr/>
        </p:nvSpPr>
        <p:spPr>
          <a:xfrm>
            <a:off x="640080" y="502920"/>
            <a:ext cx="10058400" cy="502920"/>
          </a:xfrm>
          <a:prstGeom prst="rect">
            <a:avLst/>
          </a:prstGeom>
          <a:noFill/>
          <a:ln/>
        </p:spPr>
        <p:txBody>
          <a:bodyPr wrap="square" lIns="0" tIns="0" rIns="0" bIns="0" rtlCol="0" anchor="ctr"/>
          <a:lstStyle/>
          <a:p>
            <a:pPr indent="0" marL="0">
              <a:buNone/>
            </a:pPr>
            <a:r>
              <a:rPr lang="en-US" sz="3000" b="1" dirty="0">
                <a:solidFill>
                  <a:srgbClr val="FFFFFF"/>
                </a:solidFill>
                <a:latin typeface="Meiryo" pitchFamily="34" charset="0"/>
                <a:ea typeface="Meiryo" pitchFamily="34" charset="-122"/>
                <a:cs typeface="Meiryo" pitchFamily="34" charset="-120"/>
              </a:rPr>
              <a:t>AIを使い慣れていない方へ</a:t>
            </a:r>
            <a:endParaRPr lang="en-US" sz="3000" dirty="0"/>
          </a:p>
        </p:txBody>
      </p:sp>
      <p:sp>
        <p:nvSpPr>
          <p:cNvPr id="4" name="Text 2"/>
          <p:cNvSpPr/>
          <p:nvPr/>
        </p:nvSpPr>
        <p:spPr>
          <a:xfrm>
            <a:off x="640080" y="1078992"/>
            <a:ext cx="10058400" cy="320040"/>
          </a:xfrm>
          <a:prstGeom prst="rect">
            <a:avLst/>
          </a:prstGeom>
          <a:noFill/>
          <a:ln/>
        </p:spPr>
        <p:txBody>
          <a:bodyPr wrap="square" lIns="0" tIns="0" rIns="0" bIns="0" rtlCol="0" anchor="ctr"/>
          <a:lstStyle/>
          <a:p>
            <a:pPr indent="0" marL="0">
              <a:buNone/>
            </a:pPr>
            <a:r>
              <a:rPr lang="en-US" sz="1350" dirty="0">
                <a:solidFill>
                  <a:srgbClr val="9FD3D1"/>
                </a:solidFill>
                <a:latin typeface="Meiryo" pitchFamily="34" charset="0"/>
                <a:ea typeface="Meiryo" pitchFamily="34" charset="-122"/>
                <a:cs typeface="Meiryo" pitchFamily="34" charset="-120"/>
              </a:rPr>
              <a:t>特別なスキルは要りません。つまずきやすい所だけ先にお伝えします</a:t>
            </a:r>
            <a:endParaRPr lang="en-US" sz="1350" dirty="0"/>
          </a:p>
        </p:txBody>
      </p:sp>
      <p:sp>
        <p:nvSpPr>
          <p:cNvPr id="5" name="Shape 3"/>
          <p:cNvSpPr/>
          <p:nvPr/>
        </p:nvSpPr>
        <p:spPr>
          <a:xfrm>
            <a:off x="640080" y="1627632"/>
            <a:ext cx="10881360" cy="786384"/>
          </a:xfrm>
          <a:prstGeom prst="roundRect">
            <a:avLst>
              <a:gd name="adj" fmla="val 6977"/>
            </a:avLst>
          </a:prstGeom>
          <a:solidFill>
            <a:srgbClr val="1B4049"/>
          </a:solidFill>
          <a:ln/>
        </p:spPr>
      </p:sp>
      <p:sp>
        <p:nvSpPr>
          <p:cNvPr id="6" name="Shape 4"/>
          <p:cNvSpPr/>
          <p:nvPr/>
        </p:nvSpPr>
        <p:spPr>
          <a:xfrm>
            <a:off x="914400" y="1828800"/>
            <a:ext cx="384048" cy="384048"/>
          </a:xfrm>
          <a:prstGeom prst="ellipse">
            <a:avLst/>
          </a:prstGeom>
          <a:solidFill>
            <a:srgbClr val="0E7C7B"/>
          </a:solidFill>
          <a:ln/>
        </p:spPr>
      </p:sp>
      <p:sp>
        <p:nvSpPr>
          <p:cNvPr id="7" name="Text 5"/>
          <p:cNvSpPr/>
          <p:nvPr/>
        </p:nvSpPr>
        <p:spPr>
          <a:xfrm>
            <a:off x="914400" y="18288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8" name="Text 6"/>
          <p:cNvSpPr/>
          <p:nvPr/>
        </p:nvSpPr>
        <p:spPr>
          <a:xfrm>
            <a:off x="1444752" y="1746504"/>
            <a:ext cx="3200400" cy="548640"/>
          </a:xfrm>
          <a:prstGeom prst="rect">
            <a:avLst/>
          </a:prstGeom>
          <a:noFill/>
          <a:ln/>
        </p:spPr>
        <p:txBody>
          <a:bodyPr wrap="square" lIns="0" tIns="0" rIns="0" bIns="0" rtlCol="0" anchor="ctr"/>
          <a:lstStyle/>
          <a:p>
            <a:pPr indent="0" marL="0">
              <a:buNone/>
            </a:pPr>
            <a:r>
              <a:rPr lang="en-US" sz="1350" b="1" dirty="0">
                <a:solidFill>
                  <a:srgbClr val="FFFFFF"/>
                </a:solidFill>
                <a:latin typeface="Meiryo" pitchFamily="34" charset="0"/>
                <a:ea typeface="Meiryo" pitchFamily="34" charset="-122"/>
                <a:cs typeface="Meiryo" pitchFamily="34" charset="-120"/>
              </a:rPr>
              <a:t>完璧な指示を書こうとしない</a:t>
            </a:r>
            <a:endParaRPr lang="en-US" sz="1350" dirty="0"/>
          </a:p>
        </p:txBody>
      </p:sp>
      <p:sp>
        <p:nvSpPr>
          <p:cNvPr id="9" name="Text 7"/>
          <p:cNvSpPr/>
          <p:nvPr/>
        </p:nvSpPr>
        <p:spPr>
          <a:xfrm>
            <a:off x="4754880" y="1746504"/>
            <a:ext cx="6537960" cy="548640"/>
          </a:xfrm>
          <a:prstGeom prst="rect">
            <a:avLst/>
          </a:prstGeom>
          <a:noFill/>
          <a:ln/>
        </p:spPr>
        <p:txBody>
          <a:bodyPr wrap="square" lIns="0" tIns="0" rIns="0" bIns="0" rtlCol="0" anchor="ctr"/>
          <a:lstStyle/>
          <a:p>
            <a:pPr indent="0" marL="0">
              <a:lnSpc>
                <a:spcPct val="120000"/>
              </a:lnSpc>
              <a:buNone/>
            </a:pPr>
            <a:r>
              <a:rPr lang="en-US" sz="1050" dirty="0">
                <a:solidFill>
                  <a:srgbClr val="9FD3D1"/>
                </a:solidFill>
                <a:latin typeface="Meiryo" pitchFamily="34" charset="0"/>
                <a:ea typeface="Meiryo" pitchFamily="34" charset="-122"/>
                <a:cs typeface="Meiryo" pitchFamily="34" charset="-120"/>
              </a:rPr>
              <a:t>箇条書きで十分。足りない部分はAIが質問してくれる。「うまく説明できないけど…」で始めても構わない。</a:t>
            </a:r>
            <a:endParaRPr lang="en-US" sz="1050" dirty="0"/>
          </a:p>
        </p:txBody>
      </p:sp>
      <p:sp>
        <p:nvSpPr>
          <p:cNvPr id="10" name="Shape 8"/>
          <p:cNvSpPr/>
          <p:nvPr/>
        </p:nvSpPr>
        <p:spPr>
          <a:xfrm>
            <a:off x="640080" y="2532888"/>
            <a:ext cx="10881360" cy="786384"/>
          </a:xfrm>
          <a:prstGeom prst="roundRect">
            <a:avLst>
              <a:gd name="adj" fmla="val 6977"/>
            </a:avLst>
          </a:prstGeom>
          <a:solidFill>
            <a:srgbClr val="1B4049"/>
          </a:solidFill>
          <a:ln/>
        </p:spPr>
      </p:sp>
      <p:sp>
        <p:nvSpPr>
          <p:cNvPr id="11" name="Shape 9"/>
          <p:cNvSpPr/>
          <p:nvPr/>
        </p:nvSpPr>
        <p:spPr>
          <a:xfrm>
            <a:off x="914400" y="2734056"/>
            <a:ext cx="384048" cy="384048"/>
          </a:xfrm>
          <a:prstGeom prst="ellipse">
            <a:avLst/>
          </a:prstGeom>
          <a:solidFill>
            <a:srgbClr val="0E7C7B"/>
          </a:solidFill>
          <a:ln/>
        </p:spPr>
      </p:sp>
      <p:sp>
        <p:nvSpPr>
          <p:cNvPr id="12" name="Text 10"/>
          <p:cNvSpPr/>
          <p:nvPr/>
        </p:nvSpPr>
        <p:spPr>
          <a:xfrm>
            <a:off x="914400" y="273405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3" name="Text 11"/>
          <p:cNvSpPr/>
          <p:nvPr/>
        </p:nvSpPr>
        <p:spPr>
          <a:xfrm>
            <a:off x="1444752" y="2651760"/>
            <a:ext cx="3200400" cy="548640"/>
          </a:xfrm>
          <a:prstGeom prst="rect">
            <a:avLst/>
          </a:prstGeom>
          <a:noFill/>
          <a:ln/>
        </p:spPr>
        <p:txBody>
          <a:bodyPr wrap="square" lIns="0" tIns="0" rIns="0" bIns="0" rtlCol="0" anchor="ctr"/>
          <a:lstStyle/>
          <a:p>
            <a:pPr indent="0" marL="0">
              <a:buNone/>
            </a:pPr>
            <a:r>
              <a:rPr lang="en-US" sz="1350" b="1" dirty="0">
                <a:solidFill>
                  <a:srgbClr val="FFFFFF"/>
                </a:solidFill>
                <a:latin typeface="Meiryo" pitchFamily="34" charset="0"/>
                <a:ea typeface="Meiryo" pitchFamily="34" charset="-122"/>
                <a:cs typeface="Meiryo" pitchFamily="34" charset="-120"/>
              </a:rPr>
              <a:t>小さく始めて、少しずつ足す</a:t>
            </a:r>
            <a:endParaRPr lang="en-US" sz="1350" dirty="0"/>
          </a:p>
        </p:txBody>
      </p:sp>
      <p:sp>
        <p:nvSpPr>
          <p:cNvPr id="14" name="Text 12"/>
          <p:cNvSpPr/>
          <p:nvPr/>
        </p:nvSpPr>
        <p:spPr>
          <a:xfrm>
            <a:off x="4754880" y="2651760"/>
            <a:ext cx="6537960" cy="548640"/>
          </a:xfrm>
          <a:prstGeom prst="rect">
            <a:avLst/>
          </a:prstGeom>
          <a:noFill/>
          <a:ln/>
        </p:spPr>
        <p:txBody>
          <a:bodyPr wrap="square" lIns="0" tIns="0" rIns="0" bIns="0" rtlCol="0" anchor="ctr"/>
          <a:lstStyle/>
          <a:p>
            <a:pPr indent="0" marL="0">
              <a:lnSpc>
                <a:spcPct val="120000"/>
              </a:lnSpc>
              <a:buNone/>
            </a:pPr>
            <a:r>
              <a:rPr lang="en-US" sz="1050" dirty="0">
                <a:solidFill>
                  <a:srgbClr val="9FD3D1"/>
                </a:solidFill>
                <a:latin typeface="Meiryo" pitchFamily="34" charset="0"/>
                <a:ea typeface="Meiryo" pitchFamily="34" charset="-122"/>
                <a:cs typeface="Meiryo" pitchFamily="34" charset="-120"/>
              </a:rPr>
              <a:t>最初から全機能を頼まない。まず動くものを1つ作り、実際に触ってから注文を足していく方が結局速い。</a:t>
            </a:r>
            <a:endParaRPr lang="en-US" sz="1050" dirty="0"/>
          </a:p>
        </p:txBody>
      </p:sp>
      <p:sp>
        <p:nvSpPr>
          <p:cNvPr id="15" name="Shape 13"/>
          <p:cNvSpPr/>
          <p:nvPr/>
        </p:nvSpPr>
        <p:spPr>
          <a:xfrm>
            <a:off x="640080" y="3438144"/>
            <a:ext cx="10881360" cy="786384"/>
          </a:xfrm>
          <a:prstGeom prst="roundRect">
            <a:avLst>
              <a:gd name="adj" fmla="val 6977"/>
            </a:avLst>
          </a:prstGeom>
          <a:solidFill>
            <a:srgbClr val="1B4049"/>
          </a:solidFill>
          <a:ln/>
        </p:spPr>
      </p:sp>
      <p:sp>
        <p:nvSpPr>
          <p:cNvPr id="16" name="Shape 14"/>
          <p:cNvSpPr/>
          <p:nvPr/>
        </p:nvSpPr>
        <p:spPr>
          <a:xfrm>
            <a:off x="914400" y="3639312"/>
            <a:ext cx="384048" cy="384048"/>
          </a:xfrm>
          <a:prstGeom prst="ellipse">
            <a:avLst/>
          </a:prstGeom>
          <a:solidFill>
            <a:srgbClr val="0E7C7B"/>
          </a:solidFill>
          <a:ln/>
        </p:spPr>
      </p:sp>
      <p:sp>
        <p:nvSpPr>
          <p:cNvPr id="17" name="Text 15"/>
          <p:cNvSpPr/>
          <p:nvPr/>
        </p:nvSpPr>
        <p:spPr>
          <a:xfrm>
            <a:off x="914400" y="363931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8" name="Text 16"/>
          <p:cNvSpPr/>
          <p:nvPr/>
        </p:nvSpPr>
        <p:spPr>
          <a:xfrm>
            <a:off x="1444752" y="3557016"/>
            <a:ext cx="3200400" cy="548640"/>
          </a:xfrm>
          <a:prstGeom prst="rect">
            <a:avLst/>
          </a:prstGeom>
          <a:noFill/>
          <a:ln/>
        </p:spPr>
        <p:txBody>
          <a:bodyPr wrap="square" lIns="0" tIns="0" rIns="0" bIns="0" rtlCol="0" anchor="ctr"/>
          <a:lstStyle/>
          <a:p>
            <a:pPr indent="0" marL="0">
              <a:buNone/>
            </a:pPr>
            <a:r>
              <a:rPr lang="en-US" sz="1350" b="1" dirty="0">
                <a:solidFill>
                  <a:srgbClr val="FFFFFF"/>
                </a:solidFill>
                <a:latin typeface="Meiryo" pitchFamily="34" charset="0"/>
                <a:ea typeface="Meiryo" pitchFamily="34" charset="-122"/>
                <a:cs typeface="Meiryo" pitchFamily="34" charset="-120"/>
              </a:rPr>
              <a:t>実物のデータで必ず試す</a:t>
            </a:r>
            <a:endParaRPr lang="en-US" sz="1350" dirty="0"/>
          </a:p>
        </p:txBody>
      </p:sp>
      <p:sp>
        <p:nvSpPr>
          <p:cNvPr id="19" name="Text 17"/>
          <p:cNvSpPr/>
          <p:nvPr/>
        </p:nvSpPr>
        <p:spPr>
          <a:xfrm>
            <a:off x="4754880" y="3557016"/>
            <a:ext cx="6537960" cy="548640"/>
          </a:xfrm>
          <a:prstGeom prst="rect">
            <a:avLst/>
          </a:prstGeom>
          <a:noFill/>
          <a:ln/>
        </p:spPr>
        <p:txBody>
          <a:bodyPr wrap="square" lIns="0" tIns="0" rIns="0" bIns="0" rtlCol="0" anchor="ctr"/>
          <a:lstStyle/>
          <a:p>
            <a:pPr indent="0" marL="0">
              <a:lnSpc>
                <a:spcPct val="120000"/>
              </a:lnSpc>
              <a:buNone/>
            </a:pPr>
            <a:r>
              <a:rPr lang="en-US" sz="1050" dirty="0">
                <a:solidFill>
                  <a:srgbClr val="9FD3D1"/>
                </a:solidFill>
                <a:latin typeface="Meiryo" pitchFamily="34" charset="0"/>
                <a:ea typeface="Meiryo" pitchFamily="34" charset="-122"/>
                <a:cs typeface="Meiryo" pitchFamily="34" charset="-120"/>
              </a:rPr>
              <a:t>サンプルでは動いても本物で失敗するのはよくある。列のずれ、想定外の文字、空欄。ここは人が確かめるしかない。</a:t>
            </a:r>
            <a:endParaRPr lang="en-US" sz="1050" dirty="0"/>
          </a:p>
        </p:txBody>
      </p:sp>
      <p:sp>
        <p:nvSpPr>
          <p:cNvPr id="20" name="Shape 18"/>
          <p:cNvSpPr/>
          <p:nvPr/>
        </p:nvSpPr>
        <p:spPr>
          <a:xfrm>
            <a:off x="640080" y="4343400"/>
            <a:ext cx="10881360" cy="786384"/>
          </a:xfrm>
          <a:prstGeom prst="roundRect">
            <a:avLst>
              <a:gd name="adj" fmla="val 6977"/>
            </a:avLst>
          </a:prstGeom>
          <a:solidFill>
            <a:srgbClr val="1B4049"/>
          </a:solidFill>
          <a:ln/>
        </p:spPr>
      </p:sp>
      <p:sp>
        <p:nvSpPr>
          <p:cNvPr id="21" name="Shape 19"/>
          <p:cNvSpPr/>
          <p:nvPr/>
        </p:nvSpPr>
        <p:spPr>
          <a:xfrm>
            <a:off x="914400" y="4544568"/>
            <a:ext cx="384048" cy="384048"/>
          </a:xfrm>
          <a:prstGeom prst="ellipse">
            <a:avLst/>
          </a:prstGeom>
          <a:solidFill>
            <a:srgbClr val="0E7C7B"/>
          </a:solidFill>
          <a:ln/>
        </p:spPr>
      </p:sp>
      <p:sp>
        <p:nvSpPr>
          <p:cNvPr id="22" name="Text 20"/>
          <p:cNvSpPr/>
          <p:nvPr/>
        </p:nvSpPr>
        <p:spPr>
          <a:xfrm>
            <a:off x="914400" y="45445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3" name="Text 21"/>
          <p:cNvSpPr/>
          <p:nvPr/>
        </p:nvSpPr>
        <p:spPr>
          <a:xfrm>
            <a:off x="1444752" y="4462272"/>
            <a:ext cx="3200400" cy="548640"/>
          </a:xfrm>
          <a:prstGeom prst="rect">
            <a:avLst/>
          </a:prstGeom>
          <a:noFill/>
          <a:ln/>
        </p:spPr>
        <p:txBody>
          <a:bodyPr wrap="square" lIns="0" tIns="0" rIns="0" bIns="0" rtlCol="0" anchor="ctr"/>
          <a:lstStyle/>
          <a:p>
            <a:pPr indent="0" marL="0">
              <a:buNone/>
            </a:pPr>
            <a:r>
              <a:rPr lang="en-US" sz="1350" b="1" dirty="0">
                <a:solidFill>
                  <a:srgbClr val="FFFFFF"/>
                </a:solidFill>
                <a:latin typeface="Meiryo" pitchFamily="34" charset="0"/>
                <a:ea typeface="Meiryo" pitchFamily="34" charset="-122"/>
                <a:cs typeface="Meiryo" pitchFamily="34" charset="-120"/>
              </a:rPr>
              <a:t>業務の判断は自分がする</a:t>
            </a:r>
            <a:endParaRPr lang="en-US" sz="1350" dirty="0"/>
          </a:p>
        </p:txBody>
      </p:sp>
      <p:sp>
        <p:nvSpPr>
          <p:cNvPr id="24" name="Text 22"/>
          <p:cNvSpPr/>
          <p:nvPr/>
        </p:nvSpPr>
        <p:spPr>
          <a:xfrm>
            <a:off x="4754880" y="4462272"/>
            <a:ext cx="6537960" cy="548640"/>
          </a:xfrm>
          <a:prstGeom prst="rect">
            <a:avLst/>
          </a:prstGeom>
          <a:noFill/>
          <a:ln/>
        </p:spPr>
        <p:txBody>
          <a:bodyPr wrap="square" lIns="0" tIns="0" rIns="0" bIns="0" rtlCol="0" anchor="ctr"/>
          <a:lstStyle/>
          <a:p>
            <a:pPr indent="0" marL="0">
              <a:lnSpc>
                <a:spcPct val="120000"/>
              </a:lnSpc>
              <a:buNone/>
            </a:pPr>
            <a:r>
              <a:rPr lang="en-US" sz="1050" dirty="0">
                <a:solidFill>
                  <a:srgbClr val="9FD3D1"/>
                </a:solidFill>
                <a:latin typeface="Meiryo" pitchFamily="34" charset="0"/>
                <a:ea typeface="Meiryo" pitchFamily="34" charset="-122"/>
                <a:cs typeface="Meiryo" pitchFamily="34" charset="-120"/>
              </a:rPr>
              <a:t>「どちらでも実装できます」と言われたら決めるのは自分。AIは正解を知らない。ここだけは任せない。</a:t>
            </a:r>
            <a:endParaRPr lang="en-US" sz="1050" dirty="0"/>
          </a:p>
        </p:txBody>
      </p:sp>
      <p:sp>
        <p:nvSpPr>
          <p:cNvPr id="25" name="Shape 23"/>
          <p:cNvSpPr/>
          <p:nvPr/>
        </p:nvSpPr>
        <p:spPr>
          <a:xfrm>
            <a:off x="640080" y="5248656"/>
            <a:ext cx="10881360" cy="786384"/>
          </a:xfrm>
          <a:prstGeom prst="roundRect">
            <a:avLst>
              <a:gd name="adj" fmla="val 6977"/>
            </a:avLst>
          </a:prstGeom>
          <a:solidFill>
            <a:srgbClr val="1B4049"/>
          </a:solidFill>
          <a:ln/>
        </p:spPr>
      </p:sp>
      <p:sp>
        <p:nvSpPr>
          <p:cNvPr id="26" name="Shape 24"/>
          <p:cNvSpPr/>
          <p:nvPr/>
        </p:nvSpPr>
        <p:spPr>
          <a:xfrm>
            <a:off x="914400" y="5449824"/>
            <a:ext cx="384048" cy="384048"/>
          </a:xfrm>
          <a:prstGeom prst="ellipse">
            <a:avLst/>
          </a:prstGeom>
          <a:solidFill>
            <a:srgbClr val="0E7C7B"/>
          </a:solidFill>
          <a:ln/>
        </p:spPr>
      </p:sp>
      <p:sp>
        <p:nvSpPr>
          <p:cNvPr id="27" name="Text 25"/>
          <p:cNvSpPr/>
          <p:nvPr/>
        </p:nvSpPr>
        <p:spPr>
          <a:xfrm>
            <a:off x="914400" y="544982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8" name="Text 26"/>
          <p:cNvSpPr/>
          <p:nvPr/>
        </p:nvSpPr>
        <p:spPr>
          <a:xfrm>
            <a:off x="1444752" y="5367528"/>
            <a:ext cx="3200400" cy="548640"/>
          </a:xfrm>
          <a:prstGeom prst="rect">
            <a:avLst/>
          </a:prstGeom>
          <a:noFill/>
          <a:ln/>
        </p:spPr>
        <p:txBody>
          <a:bodyPr wrap="square" lIns="0" tIns="0" rIns="0" bIns="0" rtlCol="0" anchor="ctr"/>
          <a:lstStyle/>
          <a:p>
            <a:pPr indent="0" marL="0">
              <a:buNone/>
            </a:pPr>
            <a:r>
              <a:rPr lang="en-US" sz="1350" b="1" dirty="0">
                <a:solidFill>
                  <a:srgbClr val="FFFFFF"/>
                </a:solidFill>
                <a:latin typeface="Meiryo" pitchFamily="34" charset="0"/>
                <a:ea typeface="Meiryo" pitchFamily="34" charset="-122"/>
                <a:cs typeface="Meiryo" pitchFamily="34" charset="-120"/>
              </a:rPr>
              <a:t>うまくいかない時は状況を伝える</a:t>
            </a:r>
            <a:endParaRPr lang="en-US" sz="1350" dirty="0"/>
          </a:p>
        </p:txBody>
      </p:sp>
      <p:sp>
        <p:nvSpPr>
          <p:cNvPr id="29" name="Text 27"/>
          <p:cNvSpPr/>
          <p:nvPr/>
        </p:nvSpPr>
        <p:spPr>
          <a:xfrm>
            <a:off x="4754880" y="5367528"/>
            <a:ext cx="6537960" cy="548640"/>
          </a:xfrm>
          <a:prstGeom prst="rect">
            <a:avLst/>
          </a:prstGeom>
          <a:noFill/>
          <a:ln/>
        </p:spPr>
        <p:txBody>
          <a:bodyPr wrap="square" lIns="0" tIns="0" rIns="0" bIns="0" rtlCol="0" anchor="ctr"/>
          <a:lstStyle/>
          <a:p>
            <a:pPr indent="0" marL="0">
              <a:lnSpc>
                <a:spcPct val="120000"/>
              </a:lnSpc>
              <a:buNone/>
            </a:pPr>
            <a:r>
              <a:rPr lang="en-US" sz="1050" dirty="0">
                <a:solidFill>
                  <a:srgbClr val="9FD3D1"/>
                </a:solidFill>
                <a:latin typeface="Meiryo" pitchFamily="34" charset="0"/>
                <a:ea typeface="Meiryo" pitchFamily="34" charset="-122"/>
                <a:cs typeface="Meiryo" pitchFamily="34" charset="-120"/>
              </a:rPr>
              <a:t>「動きません」ではなく「この画面でこう操作したらこう出た」。事実を伝えれば、たいてい直してくれる。</a:t>
            </a:r>
            <a:endParaRPr lang="en-US" sz="1050" dirty="0"/>
          </a:p>
        </p:txBody>
      </p:sp>
      <p:sp>
        <p:nvSpPr>
          <p:cNvPr id="30" name="Text 28"/>
          <p:cNvSpPr/>
          <p:nvPr/>
        </p:nvSpPr>
        <p:spPr>
          <a:xfrm>
            <a:off x="640080" y="6236208"/>
            <a:ext cx="10881360" cy="320040"/>
          </a:xfrm>
          <a:prstGeom prst="rect">
            <a:avLst/>
          </a:prstGeom>
          <a:noFill/>
          <a:ln/>
        </p:spPr>
        <p:txBody>
          <a:bodyPr wrap="square" lIns="0" tIns="0" rIns="0" bIns="0" rtlCol="0" anchor="ctr"/>
          <a:lstStyle/>
          <a:p>
            <a:pPr indent="0" marL="0">
              <a:buNone/>
            </a:pPr>
            <a:r>
              <a:rPr lang="en-US" sz="1200" i="1" dirty="0">
                <a:solidFill>
                  <a:srgbClr val="9FD3D1"/>
                </a:solidFill>
                <a:latin typeface="Meiryo" pitchFamily="34" charset="0"/>
                <a:ea typeface="Meiryo" pitchFamily="34" charset="-122"/>
                <a:cs typeface="Meiryo" pitchFamily="34" charset="-120"/>
              </a:rPr>
              <a:t>一番のコツは、AIを「作ってくれる人」ではなく「一緒に考えてくれる相手」だと思うこと。</a:t>
            </a:r>
            <a:endParaRPr lang="en-US" sz="1200" dirty="0"/>
          </a:p>
        </p:txBody>
      </p:sp>
      <p:sp>
        <p:nvSpPr>
          <p:cNvPr id="31" name="Text 29"/>
          <p:cNvSpPr/>
          <p:nvPr/>
        </p:nvSpPr>
        <p:spPr>
          <a:xfrm>
            <a:off x="11430000" y="6355080"/>
            <a:ext cx="457200" cy="274320"/>
          </a:xfrm>
          <a:prstGeom prst="rect">
            <a:avLst/>
          </a:prstGeom>
          <a:noFill/>
          <a:ln/>
        </p:spPr>
        <p:txBody>
          <a:bodyPr wrap="square" lIns="0" tIns="0" rIns="0" bIns="0" rtlCol="0" anchor="ctr"/>
          <a:lstStyle/>
          <a:p>
            <a:pPr algn="r" indent="0" marL="0">
              <a:buNone/>
            </a:pPr>
            <a:r>
              <a:rPr lang="en-US" sz="1000" dirty="0">
                <a:solidFill>
                  <a:srgbClr val="60757C"/>
                </a:solidFill>
                <a:latin typeface="Arial" pitchFamily="34" charset="0"/>
                <a:ea typeface="Arial" pitchFamily="34" charset="-122"/>
                <a:cs typeface="Arial"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02A33"/>
        </a:solidFill>
      </p:bgPr>
    </p:bg>
    <p:spTree>
      <p:nvGrpSpPr>
        <p:cNvPr id="1" name=""/>
        <p:cNvGrpSpPr/>
        <p:nvPr/>
      </p:nvGrpSpPr>
      <p:grpSpPr>
        <a:xfrm>
          <a:off x="0" y="0"/>
          <a:ext cx="0" cy="0"/>
          <a:chOff x="0" y="0"/>
          <a:chExt cx="0" cy="0"/>
        </a:xfrm>
      </p:grpSpPr>
      <p:sp>
        <p:nvSpPr>
          <p:cNvPr id="2" name="Shape 0"/>
          <p:cNvSpPr/>
          <p:nvPr/>
        </p:nvSpPr>
        <p:spPr>
          <a:xfrm>
            <a:off x="-1645920" y="3840480"/>
            <a:ext cx="4754880" cy="4754880"/>
          </a:xfrm>
          <a:prstGeom prst="ellipse">
            <a:avLst/>
          </a:prstGeom>
          <a:solidFill>
            <a:srgbClr val="0E7C7B">
              <a:alpha val="14000"/>
            </a:srgbClr>
          </a:solidFill>
          <a:ln/>
        </p:spPr>
      </p:sp>
      <p:sp>
        <p:nvSpPr>
          <p:cNvPr id="3" name="Text 1"/>
          <p:cNvSpPr/>
          <p:nvPr/>
        </p:nvSpPr>
        <p:spPr>
          <a:xfrm>
            <a:off x="640080" y="502920"/>
            <a:ext cx="10058400" cy="502920"/>
          </a:xfrm>
          <a:prstGeom prst="rect">
            <a:avLst/>
          </a:prstGeom>
          <a:noFill/>
          <a:ln/>
        </p:spPr>
        <p:txBody>
          <a:bodyPr wrap="square" lIns="0" tIns="0" rIns="0" bIns="0" rtlCol="0" anchor="ctr"/>
          <a:lstStyle/>
          <a:p>
            <a:pPr indent="0" marL="0">
              <a:buNone/>
            </a:pPr>
            <a:r>
              <a:rPr lang="en-US" sz="3000" b="1" dirty="0">
                <a:solidFill>
                  <a:srgbClr val="FFFFFF"/>
                </a:solidFill>
                <a:latin typeface="Meiryo" pitchFamily="34" charset="0"/>
                <a:ea typeface="Meiryo" pitchFamily="34" charset="-122"/>
                <a:cs typeface="Meiryo" pitchFamily="34" charset="-120"/>
              </a:rPr>
              <a:t>まとめ</a:t>
            </a:r>
            <a:endParaRPr lang="en-US" sz="3000" dirty="0"/>
          </a:p>
        </p:txBody>
      </p:sp>
      <p:sp>
        <p:nvSpPr>
          <p:cNvPr id="4" name="Text 2"/>
          <p:cNvSpPr/>
          <p:nvPr/>
        </p:nvSpPr>
        <p:spPr>
          <a:xfrm>
            <a:off x="640080" y="1078992"/>
            <a:ext cx="10058400" cy="320040"/>
          </a:xfrm>
          <a:prstGeom prst="rect">
            <a:avLst/>
          </a:prstGeom>
          <a:noFill/>
          <a:ln/>
        </p:spPr>
        <p:txBody>
          <a:bodyPr wrap="square" lIns="0" tIns="0" rIns="0" bIns="0" rtlCol="0" anchor="ctr"/>
          <a:lstStyle/>
          <a:p>
            <a:pPr indent="0" marL="0">
              <a:buNone/>
            </a:pPr>
            <a:r>
              <a:rPr lang="en-US" sz="1350" dirty="0">
                <a:solidFill>
                  <a:srgbClr val="9FD3D1"/>
                </a:solidFill>
                <a:latin typeface="Meiryo" pitchFamily="34" charset="0"/>
                <a:ea typeface="Meiryo" pitchFamily="34" charset="-122"/>
                <a:cs typeface="Meiryo" pitchFamily="34" charset="-120"/>
              </a:rPr>
              <a:t>この事例で言いたかったこと</a:t>
            </a:r>
            <a:endParaRPr lang="en-US" sz="1350" dirty="0"/>
          </a:p>
        </p:txBody>
      </p:sp>
      <p:sp>
        <p:nvSpPr>
          <p:cNvPr id="5" name="Shape 3"/>
          <p:cNvSpPr/>
          <p:nvPr/>
        </p:nvSpPr>
        <p:spPr>
          <a:xfrm>
            <a:off x="685800" y="1764792"/>
            <a:ext cx="365760" cy="365760"/>
          </a:xfrm>
          <a:prstGeom prst="ellipse">
            <a:avLst/>
          </a:prstGeom>
          <a:solidFill>
            <a:srgbClr val="0E7C7B"/>
          </a:solidFill>
          <a:ln/>
        </p:spPr>
      </p:sp>
      <p:sp>
        <p:nvSpPr>
          <p:cNvPr id="6" name="Text 4"/>
          <p:cNvSpPr/>
          <p:nvPr/>
        </p:nvSpPr>
        <p:spPr>
          <a:xfrm>
            <a:off x="685800" y="176479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a:t>
            </a:r>
            <a:endParaRPr lang="en-US" sz="1400" dirty="0"/>
          </a:p>
        </p:txBody>
      </p:sp>
      <p:sp>
        <p:nvSpPr>
          <p:cNvPr id="7" name="Text 5"/>
          <p:cNvSpPr/>
          <p:nvPr/>
        </p:nvSpPr>
        <p:spPr>
          <a:xfrm>
            <a:off x="1234440" y="1691640"/>
            <a:ext cx="10058400" cy="384048"/>
          </a:xfrm>
          <a:prstGeom prst="rect">
            <a:avLst/>
          </a:prstGeom>
          <a:noFill/>
          <a:ln/>
        </p:spPr>
        <p:txBody>
          <a:bodyPr wrap="square" lIns="0" tIns="0" rIns="0" bIns="0" rtlCol="0" anchor="ctr"/>
          <a:lstStyle/>
          <a:p>
            <a:pPr indent="0" marL="0">
              <a:buNone/>
            </a:pPr>
            <a:r>
              <a:rPr lang="en-US" sz="1700" b="1" dirty="0">
                <a:solidFill>
                  <a:srgbClr val="FFFFFF"/>
                </a:solidFill>
                <a:latin typeface="Meiryo" pitchFamily="34" charset="0"/>
                <a:ea typeface="Meiryo" pitchFamily="34" charset="-122"/>
                <a:cs typeface="Meiryo" pitchFamily="34" charset="-120"/>
              </a:rPr>
              <a:t>年41時間の削減より大きいのは、品質と再現性</a:t>
            </a:r>
            <a:endParaRPr lang="en-US" sz="1700" dirty="0"/>
          </a:p>
        </p:txBody>
      </p:sp>
      <p:sp>
        <p:nvSpPr>
          <p:cNvPr id="8" name="Text 6"/>
          <p:cNvSpPr/>
          <p:nvPr/>
        </p:nvSpPr>
        <p:spPr>
          <a:xfrm>
            <a:off x="1234440" y="2112264"/>
            <a:ext cx="10058400" cy="365760"/>
          </a:xfrm>
          <a:prstGeom prst="rect">
            <a:avLst/>
          </a:prstGeom>
          <a:noFill/>
          <a:ln/>
        </p:spPr>
        <p:txBody>
          <a:bodyPr wrap="square" lIns="0" tIns="0" rIns="0" bIns="0" rtlCol="0" anchor="ctr"/>
          <a:lstStyle/>
          <a:p>
            <a:pPr indent="0" marL="0">
              <a:buNone/>
            </a:pPr>
            <a:r>
              <a:rPr lang="en-US" sz="1150" dirty="0">
                <a:solidFill>
                  <a:srgbClr val="9FD3D1"/>
                </a:solidFill>
                <a:latin typeface="Meiryo" pitchFamily="34" charset="0"/>
                <a:ea typeface="Meiryo" pitchFamily="34" charset="-122"/>
                <a:cs typeface="Meiryo" pitchFamily="34" charset="-120"/>
              </a:rPr>
              <a:t>誰がやっても同じ結果が出る。転記ミスが構造的に無くなる。</a:t>
            </a:r>
            <a:endParaRPr lang="en-US" sz="1150" dirty="0"/>
          </a:p>
        </p:txBody>
      </p:sp>
      <p:sp>
        <p:nvSpPr>
          <p:cNvPr id="9" name="Shape 7"/>
          <p:cNvSpPr/>
          <p:nvPr/>
        </p:nvSpPr>
        <p:spPr>
          <a:xfrm>
            <a:off x="685800" y="2816352"/>
            <a:ext cx="365760" cy="365760"/>
          </a:xfrm>
          <a:prstGeom prst="ellipse">
            <a:avLst/>
          </a:prstGeom>
          <a:solidFill>
            <a:srgbClr val="0E7C7B"/>
          </a:solidFill>
          <a:ln/>
        </p:spPr>
      </p:sp>
      <p:sp>
        <p:nvSpPr>
          <p:cNvPr id="10" name="Text 8"/>
          <p:cNvSpPr/>
          <p:nvPr/>
        </p:nvSpPr>
        <p:spPr>
          <a:xfrm>
            <a:off x="685800" y="281635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a:t>
            </a:r>
            <a:endParaRPr lang="en-US" sz="1400" dirty="0"/>
          </a:p>
        </p:txBody>
      </p:sp>
      <p:sp>
        <p:nvSpPr>
          <p:cNvPr id="11" name="Text 9"/>
          <p:cNvSpPr/>
          <p:nvPr/>
        </p:nvSpPr>
        <p:spPr>
          <a:xfrm>
            <a:off x="1234440" y="2743200"/>
            <a:ext cx="10058400" cy="384048"/>
          </a:xfrm>
          <a:prstGeom prst="rect">
            <a:avLst/>
          </a:prstGeom>
          <a:noFill/>
          <a:ln/>
        </p:spPr>
        <p:txBody>
          <a:bodyPr wrap="square" lIns="0" tIns="0" rIns="0" bIns="0" rtlCol="0" anchor="ctr"/>
          <a:lstStyle/>
          <a:p>
            <a:pPr indent="0" marL="0">
              <a:buNone/>
            </a:pPr>
            <a:r>
              <a:rPr lang="en-US" sz="1700" b="1" dirty="0">
                <a:solidFill>
                  <a:srgbClr val="FFFFFF"/>
                </a:solidFill>
                <a:latin typeface="Meiryo" pitchFamily="34" charset="0"/>
                <a:ea typeface="Meiryo" pitchFamily="34" charset="-122"/>
                <a:cs typeface="Meiryo" pitchFamily="34" charset="-120"/>
              </a:rPr>
              <a:t>プログラムが書けなくても、業務ツールは作れる</a:t>
            </a:r>
            <a:endParaRPr lang="en-US" sz="1700" dirty="0"/>
          </a:p>
        </p:txBody>
      </p:sp>
      <p:sp>
        <p:nvSpPr>
          <p:cNvPr id="12" name="Text 10"/>
          <p:cNvSpPr/>
          <p:nvPr/>
        </p:nvSpPr>
        <p:spPr>
          <a:xfrm>
            <a:off x="1234440" y="3163824"/>
            <a:ext cx="10058400" cy="365760"/>
          </a:xfrm>
          <a:prstGeom prst="rect">
            <a:avLst/>
          </a:prstGeom>
          <a:noFill/>
          <a:ln/>
        </p:spPr>
        <p:txBody>
          <a:bodyPr wrap="square" lIns="0" tIns="0" rIns="0" bIns="0" rtlCol="0" anchor="ctr"/>
          <a:lstStyle/>
          <a:p>
            <a:pPr indent="0" marL="0">
              <a:buNone/>
            </a:pPr>
            <a:r>
              <a:rPr lang="en-US" sz="1150" dirty="0">
                <a:solidFill>
                  <a:srgbClr val="9FD3D1"/>
                </a:solidFill>
                <a:latin typeface="Meiryo" pitchFamily="34" charset="0"/>
                <a:ea typeface="Meiryo" pitchFamily="34" charset="-122"/>
                <a:cs typeface="Meiryo" pitchFamily="34" charset="-120"/>
              </a:rPr>
              <a:t>必要なのはコードの知識ではなく、業務の知識と「何が正しいかを決める力」。</a:t>
            </a:r>
            <a:endParaRPr lang="en-US" sz="1150" dirty="0"/>
          </a:p>
        </p:txBody>
      </p:sp>
      <p:sp>
        <p:nvSpPr>
          <p:cNvPr id="13" name="Shape 11"/>
          <p:cNvSpPr/>
          <p:nvPr/>
        </p:nvSpPr>
        <p:spPr>
          <a:xfrm>
            <a:off x="685800" y="3867912"/>
            <a:ext cx="365760" cy="365760"/>
          </a:xfrm>
          <a:prstGeom prst="ellipse">
            <a:avLst/>
          </a:prstGeom>
          <a:solidFill>
            <a:srgbClr val="0E7C7B"/>
          </a:solidFill>
          <a:ln/>
        </p:spPr>
      </p:sp>
      <p:sp>
        <p:nvSpPr>
          <p:cNvPr id="14" name="Text 12"/>
          <p:cNvSpPr/>
          <p:nvPr/>
        </p:nvSpPr>
        <p:spPr>
          <a:xfrm>
            <a:off x="685800" y="386791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a:t>
            </a:r>
            <a:endParaRPr lang="en-US" sz="1400" dirty="0"/>
          </a:p>
        </p:txBody>
      </p:sp>
      <p:sp>
        <p:nvSpPr>
          <p:cNvPr id="15" name="Text 13"/>
          <p:cNvSpPr/>
          <p:nvPr/>
        </p:nvSpPr>
        <p:spPr>
          <a:xfrm>
            <a:off x="1234440" y="3794760"/>
            <a:ext cx="10058400" cy="384048"/>
          </a:xfrm>
          <a:prstGeom prst="rect">
            <a:avLst/>
          </a:prstGeom>
          <a:noFill/>
          <a:ln/>
        </p:spPr>
        <p:txBody>
          <a:bodyPr wrap="square" lIns="0" tIns="0" rIns="0" bIns="0" rtlCol="0" anchor="ctr"/>
          <a:lstStyle/>
          <a:p>
            <a:pPr indent="0" marL="0">
              <a:buNone/>
            </a:pPr>
            <a:r>
              <a:rPr lang="en-US" sz="1700" b="1" dirty="0">
                <a:solidFill>
                  <a:srgbClr val="FFFFFF"/>
                </a:solidFill>
                <a:latin typeface="Meiryo" pitchFamily="34" charset="0"/>
                <a:ea typeface="Meiryo" pitchFamily="34" charset="-122"/>
                <a:cs typeface="Meiryo" pitchFamily="34" charset="-120"/>
              </a:rPr>
              <a:t>小さい定型業務ほど、自動化の効果が出やすい</a:t>
            </a:r>
            <a:endParaRPr lang="en-US" sz="1700" dirty="0"/>
          </a:p>
        </p:txBody>
      </p:sp>
      <p:sp>
        <p:nvSpPr>
          <p:cNvPr id="16" name="Text 14"/>
          <p:cNvSpPr/>
          <p:nvPr/>
        </p:nvSpPr>
        <p:spPr>
          <a:xfrm>
            <a:off x="1234440" y="4215384"/>
            <a:ext cx="10058400" cy="365760"/>
          </a:xfrm>
          <a:prstGeom prst="rect">
            <a:avLst/>
          </a:prstGeom>
          <a:noFill/>
          <a:ln/>
        </p:spPr>
        <p:txBody>
          <a:bodyPr wrap="square" lIns="0" tIns="0" rIns="0" bIns="0" rtlCol="0" anchor="ctr"/>
          <a:lstStyle/>
          <a:p>
            <a:pPr indent="0" marL="0">
              <a:buNone/>
            </a:pPr>
            <a:r>
              <a:rPr lang="en-US" sz="1150" dirty="0">
                <a:solidFill>
                  <a:srgbClr val="9FD3D1"/>
                </a:solidFill>
                <a:latin typeface="Meiryo" pitchFamily="34" charset="0"/>
                <a:ea typeface="Meiryo" pitchFamily="34" charset="-122"/>
                <a:cs typeface="Meiryo" pitchFamily="34" charset="-120"/>
              </a:rPr>
              <a:t>毎月決まった手順でやっている作業は、たいてい同じ方法で自動化できる。</a:t>
            </a:r>
            <a:endParaRPr lang="en-US" sz="1150" dirty="0"/>
          </a:p>
        </p:txBody>
      </p:sp>
      <p:sp>
        <p:nvSpPr>
          <p:cNvPr id="17" name="Shape 15"/>
          <p:cNvSpPr/>
          <p:nvPr/>
        </p:nvSpPr>
        <p:spPr>
          <a:xfrm>
            <a:off x="640080" y="4937760"/>
            <a:ext cx="10881360" cy="1234440"/>
          </a:xfrm>
          <a:prstGeom prst="roundRect">
            <a:avLst>
              <a:gd name="adj" fmla="val 4444"/>
            </a:avLst>
          </a:prstGeom>
          <a:solidFill>
            <a:srgbClr val="1B4049"/>
          </a:solidFill>
          <a:ln/>
        </p:spPr>
      </p:sp>
      <p:sp>
        <p:nvSpPr>
          <p:cNvPr id="18" name="Text 16"/>
          <p:cNvSpPr/>
          <p:nvPr/>
        </p:nvSpPr>
        <p:spPr>
          <a:xfrm>
            <a:off x="960120" y="5102352"/>
            <a:ext cx="4572000" cy="274320"/>
          </a:xfrm>
          <a:prstGeom prst="rect">
            <a:avLst/>
          </a:prstGeom>
          <a:noFill/>
          <a:ln/>
        </p:spPr>
        <p:txBody>
          <a:bodyPr wrap="square" lIns="0" tIns="0" rIns="0" bIns="0" rtlCol="0" anchor="ctr"/>
          <a:lstStyle/>
          <a:p>
            <a:pPr indent="0" marL="0">
              <a:buNone/>
            </a:pPr>
            <a:r>
              <a:rPr lang="en-US" sz="1250" b="1" dirty="0">
                <a:solidFill>
                  <a:srgbClr val="9FD3D1"/>
                </a:solidFill>
                <a:latin typeface="Meiryo" pitchFamily="34" charset="0"/>
                <a:ea typeface="Meiryo" pitchFamily="34" charset="-122"/>
                <a:cs typeface="Meiryo" pitchFamily="34" charset="-120"/>
              </a:rPr>
              <a:t>横展開できそうな業務</a:t>
            </a:r>
            <a:endParaRPr lang="en-US" sz="1250" dirty="0"/>
          </a:p>
        </p:txBody>
      </p:sp>
      <p:sp>
        <p:nvSpPr>
          <p:cNvPr id="19" name="Text 17"/>
          <p:cNvSpPr/>
          <p:nvPr/>
        </p:nvSpPr>
        <p:spPr>
          <a:xfrm>
            <a:off x="960120" y="5440680"/>
            <a:ext cx="10241280" cy="548640"/>
          </a:xfrm>
          <a:prstGeom prst="rect">
            <a:avLst/>
          </a:prstGeom>
          <a:noFill/>
          <a:ln/>
        </p:spPr>
        <p:txBody>
          <a:bodyPr wrap="square" lIns="0" tIns="0" rIns="0" bIns="0" rtlCol="0" anchor="ctr"/>
          <a:lstStyle/>
          <a:p>
            <a:pPr indent="0" marL="0">
              <a:lnSpc>
                <a:spcPct val="120000"/>
              </a:lnSpc>
              <a:buNone/>
            </a:pPr>
            <a:r>
              <a:rPr lang="en-US" sz="1300" b="1" dirty="0">
                <a:solidFill>
                  <a:srgbClr val="FFFFFF"/>
                </a:solidFill>
                <a:latin typeface="Meiryo" pitchFamily="34" charset="0"/>
                <a:ea typeface="Meiryo" pitchFamily="34" charset="-122"/>
                <a:cs typeface="Meiryo" pitchFamily="34" charset="-120"/>
              </a:rPr>
              <a:t>2つ以上のExcelを突き合わせる作業　／　毎月同じ形で作っている集計資料　／　システム出力を手で加工してから使っている作業</a:t>
            </a:r>
            <a:endParaRPr lang="en-US" sz="1300" dirty="0"/>
          </a:p>
        </p:txBody>
      </p:sp>
      <p:sp>
        <p:nvSpPr>
          <p:cNvPr id="20" name="Text 18"/>
          <p:cNvSpPr/>
          <p:nvPr/>
        </p:nvSpPr>
        <p:spPr>
          <a:xfrm>
            <a:off x="640080" y="6327648"/>
            <a:ext cx="10881360" cy="320040"/>
          </a:xfrm>
          <a:prstGeom prst="rect">
            <a:avLst/>
          </a:prstGeom>
          <a:noFill/>
          <a:ln/>
        </p:spPr>
        <p:txBody>
          <a:bodyPr wrap="square" lIns="0" tIns="0" rIns="0" bIns="0" rtlCol="0" anchor="ctr"/>
          <a:lstStyle/>
          <a:p>
            <a:pPr indent="0" marL="0">
              <a:buNone/>
            </a:pPr>
            <a:r>
              <a:rPr lang="en-US" sz="1200" i="1" dirty="0">
                <a:solidFill>
                  <a:srgbClr val="9FD3D1"/>
                </a:solidFill>
                <a:latin typeface="Meiryo" pitchFamily="34" charset="0"/>
                <a:ea typeface="Meiryo" pitchFamily="34" charset="-122"/>
                <a:cs typeface="Meiryo" pitchFamily="34" charset="-120"/>
              </a:rPr>
              <a:t>心当たりのある業務があれば声をかけてください。一緒に作ります。</a:t>
            </a:r>
            <a:endParaRPr lang="en-US" sz="1200" dirty="0"/>
          </a:p>
        </p:txBody>
      </p:sp>
      <p:sp>
        <p:nvSpPr>
          <p:cNvPr id="21" name="Text 19"/>
          <p:cNvSpPr/>
          <p:nvPr/>
        </p:nvSpPr>
        <p:spPr>
          <a:xfrm>
            <a:off x="11430000" y="6355080"/>
            <a:ext cx="457200" cy="274320"/>
          </a:xfrm>
          <a:prstGeom prst="rect">
            <a:avLst/>
          </a:prstGeom>
          <a:noFill/>
          <a:ln/>
        </p:spPr>
        <p:txBody>
          <a:bodyPr wrap="square" lIns="0" tIns="0" rIns="0" bIns="0" rtlCol="0" anchor="ctr"/>
          <a:lstStyle/>
          <a:p>
            <a:pPr algn="r" indent="0" marL="0">
              <a:buNone/>
            </a:pPr>
            <a:r>
              <a:rPr lang="en-US" sz="1000" dirty="0">
                <a:solidFill>
                  <a:srgbClr val="60757C"/>
                </a:solidFill>
                <a:latin typeface="Arial" pitchFamily="34" charset="0"/>
                <a:ea typeface="Arial" pitchFamily="34" charset="-122"/>
                <a:cs typeface="Arial" pitchFamily="34" charset="-120"/>
              </a:rPr>
              <a:t>12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棚卸照合の自動化 事例共有</dc:title>
  <dc:subject>PptxGenJS Presentation</dc:subject>
  <dc:creator>業務改善</dc:creator>
  <cp:lastModifiedBy>業務改善</cp:lastModifiedBy>
  <cp:revision>1</cp:revision>
  <dcterms:created xsi:type="dcterms:W3CDTF">2026-08-16T06:30:41Z</dcterms:created>
  <dcterms:modified xsi:type="dcterms:W3CDTF">2026-08-16T06:30:41Z</dcterms:modified>
</cp:coreProperties>
</file>